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9" r:id="rId2"/>
  </p:sldMasterIdLst>
  <p:notesMasterIdLst>
    <p:notesMasterId r:id="rId22"/>
  </p:notesMasterIdLst>
  <p:sldIdLst>
    <p:sldId id="279" r:id="rId3"/>
    <p:sldId id="257" r:id="rId4"/>
    <p:sldId id="258" r:id="rId5"/>
    <p:sldId id="259" r:id="rId6"/>
    <p:sldId id="260" r:id="rId7"/>
    <p:sldId id="271" r:id="rId8"/>
    <p:sldId id="282" r:id="rId9"/>
    <p:sldId id="277" r:id="rId10"/>
    <p:sldId id="261" r:id="rId11"/>
    <p:sldId id="274" r:id="rId12"/>
    <p:sldId id="283" r:id="rId13"/>
    <p:sldId id="262" r:id="rId14"/>
    <p:sldId id="275" r:id="rId15"/>
    <p:sldId id="263" r:id="rId16"/>
    <p:sldId id="278" r:id="rId17"/>
    <p:sldId id="276" r:id="rId18"/>
    <p:sldId id="265" r:id="rId19"/>
    <p:sldId id="281" r:id="rId20"/>
    <p:sldId id="28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76" autoAdjust="0"/>
    <p:restoredTop sz="96616" autoAdjust="0"/>
  </p:normalViewPr>
  <p:slideViewPr>
    <p:cSldViewPr snapToGrid="0">
      <p:cViewPr varScale="1">
        <p:scale>
          <a:sx n="123" d="100"/>
          <a:sy n="123" d="100"/>
        </p:scale>
        <p:origin x="9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3279BA-4082-4148-90D8-7A17286E7109}" type="datetimeFigureOut">
              <a:rPr lang="en-US" smtClean="0"/>
              <a:t>6/4/2024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52FB34-16BE-4B43-8E92-A9A41685487F}" type="slidenum">
              <a:rPr lang="en-US" smtClean="0"/>
              <a:t>‹#›</a:t>
            </a:fld>
            <a:endParaRPr lang="en-US"/>
          </a:p>
        </p:txBody>
      </p:sp>
    </p:spTree>
    <p:extLst>
      <p:ext uri="{BB962C8B-B14F-4D97-AF65-F5344CB8AC3E}">
        <p14:creationId xmlns:p14="http://schemas.microsoft.com/office/powerpoint/2010/main" val="1019557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2</a:t>
            </a:fld>
            <a:endParaRPr lang="en-US"/>
          </a:p>
        </p:txBody>
      </p:sp>
    </p:spTree>
    <p:extLst>
      <p:ext uri="{BB962C8B-B14F-4D97-AF65-F5344CB8AC3E}">
        <p14:creationId xmlns:p14="http://schemas.microsoft.com/office/powerpoint/2010/main" val="88397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3</a:t>
            </a:fld>
            <a:endParaRPr lang="en-US"/>
          </a:p>
        </p:txBody>
      </p:sp>
    </p:spTree>
    <p:extLst>
      <p:ext uri="{BB962C8B-B14F-4D97-AF65-F5344CB8AC3E}">
        <p14:creationId xmlns:p14="http://schemas.microsoft.com/office/powerpoint/2010/main" val="1565761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4</a:t>
            </a:fld>
            <a:endParaRPr lang="en-US"/>
          </a:p>
        </p:txBody>
      </p:sp>
    </p:spTree>
    <p:extLst>
      <p:ext uri="{BB962C8B-B14F-4D97-AF65-F5344CB8AC3E}">
        <p14:creationId xmlns:p14="http://schemas.microsoft.com/office/powerpoint/2010/main" val="3575724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5</a:t>
            </a:fld>
            <a:endParaRPr lang="en-US"/>
          </a:p>
        </p:txBody>
      </p:sp>
    </p:spTree>
    <p:extLst>
      <p:ext uri="{BB962C8B-B14F-4D97-AF65-F5344CB8AC3E}">
        <p14:creationId xmlns:p14="http://schemas.microsoft.com/office/powerpoint/2010/main" val="2740640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6</a:t>
            </a:fld>
            <a:endParaRPr lang="en-US"/>
          </a:p>
        </p:txBody>
      </p:sp>
    </p:spTree>
    <p:extLst>
      <p:ext uri="{BB962C8B-B14F-4D97-AF65-F5344CB8AC3E}">
        <p14:creationId xmlns:p14="http://schemas.microsoft.com/office/powerpoint/2010/main" val="2102294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8</a:t>
            </a:fld>
            <a:endParaRPr lang="en-US"/>
          </a:p>
        </p:txBody>
      </p:sp>
    </p:spTree>
    <p:extLst>
      <p:ext uri="{BB962C8B-B14F-4D97-AF65-F5344CB8AC3E}">
        <p14:creationId xmlns:p14="http://schemas.microsoft.com/office/powerpoint/2010/main" val="74426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Composition: Thành </a:t>
            </a:r>
            <a:r>
              <a:rPr lang="en-US" dirty="0" err="1"/>
              <a:t>phần</a:t>
            </a:r>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9</a:t>
            </a:fld>
            <a:endParaRPr lang="en-US"/>
          </a:p>
        </p:txBody>
      </p:sp>
    </p:spTree>
    <p:extLst>
      <p:ext uri="{BB962C8B-B14F-4D97-AF65-F5344CB8AC3E}">
        <p14:creationId xmlns:p14="http://schemas.microsoft.com/office/powerpoint/2010/main" val="1707406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10</a:t>
            </a:fld>
            <a:endParaRPr lang="en-US"/>
          </a:p>
        </p:txBody>
      </p:sp>
    </p:spTree>
    <p:extLst>
      <p:ext uri="{BB962C8B-B14F-4D97-AF65-F5344CB8AC3E}">
        <p14:creationId xmlns:p14="http://schemas.microsoft.com/office/powerpoint/2010/main" val="573699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52FB34-16BE-4B43-8E92-A9A41685487F}" type="slidenum">
              <a:rPr lang="en-US" smtClean="0"/>
              <a:t>12</a:t>
            </a:fld>
            <a:endParaRPr lang="en-US"/>
          </a:p>
        </p:txBody>
      </p:sp>
    </p:spTree>
    <p:extLst>
      <p:ext uri="{BB962C8B-B14F-4D97-AF65-F5344CB8AC3E}">
        <p14:creationId xmlns:p14="http://schemas.microsoft.com/office/powerpoint/2010/main" val="2075010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13</a:t>
            </a:fld>
            <a:endParaRPr lang="en-US"/>
          </a:p>
        </p:txBody>
      </p:sp>
    </p:spTree>
    <p:extLst>
      <p:ext uri="{BB962C8B-B14F-4D97-AF65-F5344CB8AC3E}">
        <p14:creationId xmlns:p14="http://schemas.microsoft.com/office/powerpoint/2010/main" val="2430280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14</a:t>
            </a:fld>
            <a:endParaRPr lang="en-US"/>
          </a:p>
        </p:txBody>
      </p:sp>
    </p:spTree>
    <p:extLst>
      <p:ext uri="{BB962C8B-B14F-4D97-AF65-F5344CB8AC3E}">
        <p14:creationId xmlns:p14="http://schemas.microsoft.com/office/powerpoint/2010/main" val="264299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15</a:t>
            </a:fld>
            <a:endParaRPr lang="en-US"/>
          </a:p>
        </p:txBody>
      </p:sp>
    </p:spTree>
    <p:extLst>
      <p:ext uri="{BB962C8B-B14F-4D97-AF65-F5344CB8AC3E}">
        <p14:creationId xmlns:p14="http://schemas.microsoft.com/office/powerpoint/2010/main" val="2271737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16</a:t>
            </a:fld>
            <a:endParaRPr lang="en-US"/>
          </a:p>
        </p:txBody>
      </p:sp>
    </p:spTree>
    <p:extLst>
      <p:ext uri="{BB962C8B-B14F-4D97-AF65-F5344CB8AC3E}">
        <p14:creationId xmlns:p14="http://schemas.microsoft.com/office/powerpoint/2010/main" val="2166596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17</a:t>
            </a:fld>
            <a:endParaRPr lang="en-US"/>
          </a:p>
        </p:txBody>
      </p:sp>
    </p:spTree>
    <p:extLst>
      <p:ext uri="{BB962C8B-B14F-4D97-AF65-F5344CB8AC3E}">
        <p14:creationId xmlns:p14="http://schemas.microsoft.com/office/powerpoint/2010/main" val="593269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52FB34-16BE-4B43-8E92-A9A41685487F}" type="slidenum">
              <a:rPr lang="en-US" smtClean="0"/>
              <a:t>18</a:t>
            </a:fld>
            <a:endParaRPr lang="en-US"/>
          </a:p>
        </p:txBody>
      </p:sp>
    </p:spTree>
    <p:extLst>
      <p:ext uri="{BB962C8B-B14F-4D97-AF65-F5344CB8AC3E}">
        <p14:creationId xmlns:p14="http://schemas.microsoft.com/office/powerpoint/2010/main" val="6661894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619">
                <a:solidFill>
                  <a:schemeClr val="bg1"/>
                </a:solidFill>
              </a:defRPr>
            </a:lvl1pPr>
          </a:lstStyle>
          <a:p>
            <a:fld id="{E6BFE759-851A-4DDD-BA80-830DA166D2D3}" type="slidenum">
              <a:rPr lang="en-US" smtClean="0"/>
              <a:t>‹#›</a:t>
            </a:fld>
            <a:endParaRPr lang="en-US"/>
          </a:p>
        </p:txBody>
      </p:sp>
      <p:sp>
        <p:nvSpPr>
          <p:cNvPr id="3" name="Rectangle 2"/>
          <p:cNvSpPr/>
          <p:nvPr/>
        </p:nvSpPr>
        <p:spPr>
          <a:xfrm>
            <a:off x="435431"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350">
                <a:solidFill>
                  <a:srgbClr val="F47206"/>
                </a:solidFill>
                <a:latin typeface="Myriad Pro" pitchFamily="34" charset="0"/>
              </a:defRPr>
            </a:lvl1pPr>
          </a:lstStyle>
          <a:p>
            <a:r>
              <a:rPr lang="en-US" dirty="0"/>
              <a:t>CLICK TO EDIT MASTER TITLE STYLE</a:t>
            </a:r>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225843" y="1"/>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2400"/>
              <a:t>Click to edit Master title style</a:t>
            </a:r>
            <a:endParaRPr lang="en-US" sz="2400" dirty="0"/>
          </a:p>
        </p:txBody>
      </p:sp>
      <p:sp>
        <p:nvSpPr>
          <p:cNvPr id="13" name="Content Placeholder 2"/>
          <p:cNvSpPr>
            <a:spLocks noGrp="1"/>
          </p:cNvSpPr>
          <p:nvPr>
            <p:ph idx="1"/>
          </p:nvPr>
        </p:nvSpPr>
        <p:spPr>
          <a:xfrm>
            <a:off x="830181" y="1191126"/>
            <a:ext cx="7772399" cy="487279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7127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619">
                <a:solidFill>
                  <a:srgbClr val="F85B14"/>
                </a:solidFill>
              </a:defRPr>
            </a:lvl1pPr>
          </a:lstStyle>
          <a:p>
            <a:fld id="{E6BFE759-851A-4DDD-BA80-830DA166D2D3}"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5"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3" y="1"/>
            <a:ext cx="6811691" cy="914400"/>
          </a:xfrm>
          <a:prstGeom prst="rect">
            <a:avLst/>
          </a:prstGeom>
        </p:spPr>
        <p:txBody>
          <a:bodyPr/>
          <a:lstStyle>
            <a:lvl1pPr>
              <a:defRPr sz="2700"/>
            </a:lvl1pPr>
          </a:lstStyle>
          <a:p>
            <a:r>
              <a:rPr lang="en-US"/>
              <a:t>Click to edit Master title style</a:t>
            </a:r>
            <a:endParaRPr lang="en-US" dirty="0"/>
          </a:p>
        </p:txBody>
      </p:sp>
      <p:sp>
        <p:nvSpPr>
          <p:cNvPr id="10" name="Content Placeholder 2"/>
          <p:cNvSpPr>
            <a:spLocks noGrp="1"/>
          </p:cNvSpPr>
          <p:nvPr>
            <p:ph idx="1"/>
          </p:nvPr>
        </p:nvSpPr>
        <p:spPr>
          <a:xfrm>
            <a:off x="830181" y="1191126"/>
            <a:ext cx="7772399" cy="51495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74819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619">
                <a:solidFill>
                  <a:srgbClr val="F85B14"/>
                </a:solidFill>
              </a:defRPr>
            </a:lvl1pPr>
          </a:lstStyle>
          <a:p>
            <a:fld id="{E6BFE759-851A-4DDD-BA80-830DA166D2D3}"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5"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3" y="0"/>
            <a:ext cx="6811691" cy="914400"/>
          </a:xfrm>
          <a:prstGeom prst="rect">
            <a:avLst/>
          </a:prstGeom>
        </p:spPr>
        <p:txBody>
          <a:bodyPr/>
          <a:lstStyle>
            <a:lvl1pPr>
              <a:defRPr sz="2700"/>
            </a:lvl1pPr>
          </a:lstStyle>
          <a:p>
            <a:r>
              <a:rPr lang="en-US"/>
              <a:t>Click to edit Master title style</a:t>
            </a:r>
            <a:endParaRPr lang="en-US" dirty="0"/>
          </a:p>
        </p:txBody>
      </p:sp>
      <p:sp>
        <p:nvSpPr>
          <p:cNvPr id="12" name="Content Placeholder 2"/>
          <p:cNvSpPr>
            <a:spLocks noGrp="1"/>
          </p:cNvSpPr>
          <p:nvPr>
            <p:ph idx="1"/>
          </p:nvPr>
        </p:nvSpPr>
        <p:spPr>
          <a:xfrm>
            <a:off x="830181" y="1191125"/>
            <a:ext cx="7772399" cy="51254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42198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619">
                <a:solidFill>
                  <a:srgbClr val="F85B14"/>
                </a:solidFill>
              </a:defRPr>
            </a:lvl1pPr>
          </a:lstStyle>
          <a:p>
            <a:fld id="{E6BFE759-851A-4DDD-BA80-830DA166D2D3}"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5"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4" y="2"/>
            <a:ext cx="6811691" cy="914401"/>
          </a:xfrm>
          <a:prstGeom prst="rect">
            <a:avLst/>
          </a:prstGeom>
        </p:spPr>
        <p:txBody>
          <a:bodyPr/>
          <a:lstStyle>
            <a:lvl1pPr>
              <a:defRPr sz="2700"/>
            </a:lvl1pPr>
          </a:lstStyle>
          <a:p>
            <a:r>
              <a:rPr lang="en-US"/>
              <a:t>Click to edit Master title style</a:t>
            </a:r>
            <a:endParaRPr lang="en-US" dirty="0"/>
          </a:p>
        </p:txBody>
      </p:sp>
      <p:sp>
        <p:nvSpPr>
          <p:cNvPr id="12" name="Content Placeholder 2"/>
          <p:cNvSpPr>
            <a:spLocks noGrp="1"/>
          </p:cNvSpPr>
          <p:nvPr>
            <p:ph idx="1"/>
          </p:nvPr>
        </p:nvSpPr>
        <p:spPr>
          <a:xfrm>
            <a:off x="838202" y="1230714"/>
            <a:ext cx="7772399" cy="49570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30844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619">
                <a:solidFill>
                  <a:srgbClr val="F85B14"/>
                </a:solidFill>
              </a:defRPr>
            </a:lvl1pPr>
          </a:lstStyle>
          <a:p>
            <a:fld id="{E6BFE759-851A-4DDD-BA80-830DA166D2D3}"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5"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5" y="0"/>
            <a:ext cx="6927680" cy="914400"/>
          </a:xfrm>
          <a:prstGeom prst="rect">
            <a:avLst/>
          </a:prstGeom>
        </p:spPr>
        <p:txBody>
          <a:bodyPr/>
          <a:lstStyle>
            <a:lvl1pPr>
              <a:defRPr sz="2700"/>
            </a:lvl1pPr>
          </a:lstStyle>
          <a:p>
            <a:r>
              <a:rPr lang="en-US"/>
              <a:t>Click to edit Master title style</a:t>
            </a:r>
            <a:endParaRPr lang="en-US" dirty="0"/>
          </a:p>
        </p:txBody>
      </p:sp>
      <p:sp>
        <p:nvSpPr>
          <p:cNvPr id="12" name="Content Placeholder 2"/>
          <p:cNvSpPr>
            <a:spLocks noGrp="1"/>
          </p:cNvSpPr>
          <p:nvPr>
            <p:ph idx="1"/>
          </p:nvPr>
        </p:nvSpPr>
        <p:spPr>
          <a:xfrm>
            <a:off x="697833" y="1191125"/>
            <a:ext cx="7904747" cy="512545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7201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6BFE759-851A-4DDD-BA80-830DA166D2D3}" type="slidenum">
              <a:rPr lang="en-US" smtClean="0"/>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5"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3" y="0"/>
            <a:ext cx="6811691" cy="914400"/>
          </a:xfrm>
          <a:prstGeom prst="rect">
            <a:avLst/>
          </a:prstGeom>
        </p:spPr>
        <p:txBody>
          <a:bodyPr/>
          <a:lstStyle>
            <a:lvl1pPr>
              <a:defRPr sz="2700"/>
            </a:lvl1pPr>
          </a:lstStyle>
          <a:p>
            <a:r>
              <a:rPr lang="en-US"/>
              <a:t>Click to edit Master title style</a:t>
            </a:r>
            <a:endParaRPr lang="en-US" dirty="0"/>
          </a:p>
        </p:txBody>
      </p:sp>
      <p:sp>
        <p:nvSpPr>
          <p:cNvPr id="11" name="Content Placeholder 2"/>
          <p:cNvSpPr>
            <a:spLocks noGrp="1"/>
          </p:cNvSpPr>
          <p:nvPr>
            <p:ph idx="1"/>
          </p:nvPr>
        </p:nvSpPr>
        <p:spPr>
          <a:xfrm>
            <a:off x="830181" y="1191126"/>
            <a:ext cx="7772399" cy="470434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7275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1" y="2514601"/>
            <a:ext cx="6686549" cy="2262781"/>
          </a:xfrm>
          <a:prstGeom prst="rect">
            <a:avLst/>
          </a:prstGeom>
        </p:spPr>
        <p:txBody>
          <a:bodyPr anchor="b">
            <a:normAutofit/>
          </a:bodyPr>
          <a:lstStyle>
            <a:lvl1pPr>
              <a:defRPr sz="3038"/>
            </a:lvl1pPr>
          </a:lstStyle>
          <a:p>
            <a:r>
              <a:rPr lang="en-US"/>
              <a:t>Click to edit Master title style</a:t>
            </a:r>
            <a:endParaRPr lang="en-US" dirty="0"/>
          </a:p>
        </p:txBody>
      </p:sp>
      <p:sp>
        <p:nvSpPr>
          <p:cNvPr id="3" name="Subtitle 2"/>
          <p:cNvSpPr>
            <a:spLocks noGrp="1"/>
          </p:cNvSpPr>
          <p:nvPr>
            <p:ph type="subTitle" idx="1"/>
          </p:nvPr>
        </p:nvSpPr>
        <p:spPr>
          <a:xfrm>
            <a:off x="1941911" y="4777382"/>
            <a:ext cx="6686549" cy="1126283"/>
          </a:xfrm>
          <a:prstGeom prst="rect">
            <a:avLst/>
          </a:prstGeom>
        </p:spPr>
        <p:txBody>
          <a:bodyPr anchor="t"/>
          <a:lstStyle>
            <a:lvl1pPr marL="0" indent="0" algn="l">
              <a:buNone/>
              <a:defRPr>
                <a:solidFill>
                  <a:schemeClr val="tx1">
                    <a:lumMod val="65000"/>
                    <a:lumOff val="35000"/>
                  </a:schemeClr>
                </a:solidFill>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D2D4B178-CA52-407A-A87E-17142C7F9D8F}" type="datetimeFigureOut">
              <a:rPr lang="en-US" smtClean="0"/>
              <a:t>6/4/2024</a:t>
            </a:fld>
            <a:endParaRPr lang="en-US"/>
          </a:p>
        </p:txBody>
      </p:sp>
      <p:sp>
        <p:nvSpPr>
          <p:cNvPr id="5" name="Footer Placeholder 4"/>
          <p:cNvSpPr>
            <a:spLocks noGrp="1"/>
          </p:cNvSpPr>
          <p:nvPr>
            <p:ph type="ftr" sz="quarter" idx="11"/>
          </p:nvPr>
        </p:nvSpPr>
        <p:spPr>
          <a:xfrm>
            <a:off x="1941911" y="6135811"/>
            <a:ext cx="571499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398861" y="4529543"/>
            <a:ext cx="584825" cy="365125"/>
          </a:xfrm>
        </p:spPr>
        <p:txBody>
          <a:bodyPr/>
          <a:lstStyle/>
          <a:p>
            <a:fld id="{E6BFE759-851A-4DDD-BA80-830DA166D2D3}" type="slidenum">
              <a:rPr lang="en-US" smtClean="0"/>
              <a:t>‹#›</a:t>
            </a:fld>
            <a:endParaRPr lang="en-US"/>
          </a:p>
        </p:txBody>
      </p:sp>
    </p:spTree>
    <p:extLst>
      <p:ext uri="{BB962C8B-B14F-4D97-AF65-F5344CB8AC3E}">
        <p14:creationId xmlns:p14="http://schemas.microsoft.com/office/powerpoint/2010/main" val="3526105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1" y="10501"/>
            <a:ext cx="7970734" cy="952025"/>
          </a:xfrm>
          <a:prstGeom prst="rect">
            <a:avLst/>
          </a:prstGeom>
        </p:spPr>
        <p:txBody>
          <a:bodyPr anchor="ctr"/>
          <a:lstStyle>
            <a:lvl1pPr>
              <a:lnSpc>
                <a:spcPct val="80000"/>
              </a:lnSpc>
              <a:defRPr sz="3600" b="0">
                <a:latin typeface="Aptos Display"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04801" y="1090989"/>
            <a:ext cx="8643890" cy="5416343"/>
          </a:xfrm>
          <a:prstGeom prst="rect">
            <a:avLst/>
          </a:prstGeom>
        </p:spPr>
        <p:txBody>
          <a:bodyPr>
            <a:normAutofit/>
          </a:bodyPr>
          <a:lstStyle>
            <a:lvl1pPr marL="182880" indent="-182880">
              <a:lnSpc>
                <a:spcPct val="80000"/>
              </a:lnSpc>
              <a:spcBef>
                <a:spcPts val="300"/>
              </a:spcBef>
              <a:defRPr sz="2800"/>
            </a:lvl1pPr>
            <a:lvl2pPr marL="457200" indent="-182880">
              <a:lnSpc>
                <a:spcPct val="80000"/>
              </a:lnSpc>
              <a:spcBef>
                <a:spcPts val="300"/>
              </a:spcBef>
              <a:defRPr sz="2000"/>
            </a:lvl2pPr>
            <a:lvl3pPr marL="731520" indent="-182880">
              <a:lnSpc>
                <a:spcPct val="80000"/>
              </a:lnSpc>
              <a:spcBef>
                <a:spcPts val="300"/>
              </a:spcBef>
              <a:defRPr sz="1800"/>
            </a:lvl3pPr>
            <a:lvl4pPr marL="1005840" indent="-182880">
              <a:lnSpc>
                <a:spcPct val="80000"/>
              </a:lnSpc>
              <a:spcBef>
                <a:spcPts val="300"/>
              </a:spcBef>
              <a:defRPr sz="1600"/>
            </a:lvl4pPr>
            <a:lvl5pPr marL="1188720" indent="-182880">
              <a:lnSpc>
                <a:spcPct val="80000"/>
              </a:lnSpc>
              <a:spcBef>
                <a:spcPts val="300"/>
              </a:spcBef>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E6BFE759-851A-4DDD-BA80-830DA166D2D3}" type="slidenum">
              <a:rPr lang="en-US" smtClean="0"/>
              <a:t>‹#›</a:t>
            </a:fld>
            <a:endParaRPr lang="en-US"/>
          </a:p>
        </p:txBody>
      </p:sp>
    </p:spTree>
    <p:extLst>
      <p:ext uri="{BB962C8B-B14F-4D97-AF65-F5344CB8AC3E}">
        <p14:creationId xmlns:p14="http://schemas.microsoft.com/office/powerpoint/2010/main" val="3999337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9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4"/>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622839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a:prstGeom prst="rect">
            <a:avLst/>
          </a:prstGeom>
        </p:spPr>
        <p:txBody>
          <a:bodyPr anchor="t"/>
          <a:lstStyle>
            <a:lvl1pPr algn="l">
              <a:defRPr sz="225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125">
                <a:solidFill>
                  <a:schemeClr val="tx1">
                    <a:tint val="75000"/>
                  </a:schemeClr>
                </a:solidFill>
              </a:defRPr>
            </a:lvl1pPr>
            <a:lvl2pPr marL="257175" indent="0">
              <a:buNone/>
              <a:defRPr sz="1013">
                <a:solidFill>
                  <a:schemeClr val="tx1">
                    <a:tint val="75000"/>
                  </a:schemeClr>
                </a:solidFill>
              </a:defRPr>
            </a:lvl2pPr>
            <a:lvl3pPr marL="514350" indent="0">
              <a:buNone/>
              <a:defRPr sz="900">
                <a:solidFill>
                  <a:schemeClr val="tx1">
                    <a:tint val="75000"/>
                  </a:schemeClr>
                </a:solidFill>
              </a:defRPr>
            </a:lvl3pPr>
            <a:lvl4pPr marL="771525" indent="0">
              <a:buNone/>
              <a:defRPr sz="788">
                <a:solidFill>
                  <a:schemeClr val="tx1">
                    <a:tint val="75000"/>
                  </a:schemeClr>
                </a:solidFill>
              </a:defRPr>
            </a:lvl4pPr>
            <a:lvl5pPr marL="1028700" indent="0">
              <a:buNone/>
              <a:defRPr sz="788">
                <a:solidFill>
                  <a:schemeClr val="tx1">
                    <a:tint val="75000"/>
                  </a:schemeClr>
                </a:solidFill>
              </a:defRPr>
            </a:lvl5pPr>
            <a:lvl6pPr marL="1285875" indent="0">
              <a:buNone/>
              <a:defRPr sz="788">
                <a:solidFill>
                  <a:schemeClr val="tx1">
                    <a:tint val="75000"/>
                  </a:schemeClr>
                </a:solidFill>
              </a:defRPr>
            </a:lvl6pPr>
            <a:lvl7pPr marL="1543050" indent="0">
              <a:buNone/>
              <a:defRPr sz="788">
                <a:solidFill>
                  <a:schemeClr val="tx1">
                    <a:tint val="75000"/>
                  </a:schemeClr>
                </a:solidFill>
              </a:defRPr>
            </a:lvl7pPr>
            <a:lvl8pPr marL="1800225" indent="0">
              <a:buNone/>
              <a:defRPr sz="788">
                <a:solidFill>
                  <a:schemeClr val="tx1">
                    <a:tint val="75000"/>
                  </a:schemeClr>
                </a:solidFill>
              </a:defRPr>
            </a:lvl8pPr>
            <a:lvl9pPr marL="2057400" indent="0">
              <a:buNone/>
              <a:defRPr sz="78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558067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a:prstGeom prst="rect">
            <a:avLst/>
          </a:prstGeo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a:prstGeom prst="rect">
            <a:avLst/>
          </a:prstGeom>
        </p:spPr>
        <p:txBody>
          <a:bodyPr/>
          <a:lstStyle>
            <a:lvl1pPr>
              <a:defRPr sz="1575"/>
            </a:lvl1pPr>
            <a:lvl2pPr>
              <a:defRPr sz="1350"/>
            </a:lvl2pPr>
            <a:lvl3pPr>
              <a:defRPr sz="1125"/>
            </a:lvl3pPr>
            <a:lvl4pPr>
              <a:defRPr sz="1013"/>
            </a:lvl4pPr>
            <a:lvl5pPr>
              <a:defRPr sz="1013"/>
            </a:lvl5pPr>
            <a:lvl6pPr>
              <a:defRPr sz="1013"/>
            </a:lvl6pPr>
            <a:lvl7pPr>
              <a:defRPr sz="1013"/>
            </a:lvl7pPr>
            <a:lvl8pPr>
              <a:defRPr sz="1013"/>
            </a:lvl8pPr>
            <a:lvl9pPr>
              <a:defRPr sz="101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6" name="Footer Placeholder 5"/>
          <p:cNvSpPr>
            <a:spLocks noGrp="1"/>
          </p:cNvSpPr>
          <p:nvPr>
            <p:ph type="ftr" sz="quarter" idx="11"/>
          </p:nvPr>
        </p:nvSpPr>
        <p:spPr>
          <a:xfrm>
            <a:off x="3124200" y="6356354"/>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5960393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a:prstGeom prst="rect">
            <a:avLst/>
          </a:prstGeo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a:prstGeom prst="rect">
            <a:avLst/>
          </a:prstGeom>
        </p:spPr>
        <p:txBody>
          <a:bodyPr/>
          <a:lstStyle>
            <a:lvl1pPr>
              <a:defRPr sz="1350"/>
            </a:lvl1pPr>
            <a:lvl2pPr>
              <a:defRPr sz="1125"/>
            </a:lvl2pPr>
            <a:lvl3pPr>
              <a:defRPr sz="1013"/>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8" name="Footer Placeholder 7"/>
          <p:cNvSpPr>
            <a:spLocks noGrp="1"/>
          </p:cNvSpPr>
          <p:nvPr>
            <p:ph type="ftr" sz="quarter" idx="11"/>
          </p:nvPr>
        </p:nvSpPr>
        <p:spPr>
          <a:xfrm>
            <a:off x="3124200" y="6356354"/>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3172299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4" name="Footer Placeholder 3"/>
          <p:cNvSpPr>
            <a:spLocks noGrp="1"/>
          </p:cNvSpPr>
          <p:nvPr>
            <p:ph type="ftr" sz="quarter" idx="11"/>
          </p:nvPr>
        </p:nvSpPr>
        <p:spPr>
          <a:xfrm>
            <a:off x="3124200" y="6356354"/>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2692503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524847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a:prstGeom prst="rect">
            <a:avLst/>
          </a:prstGeom>
        </p:spPr>
        <p:txBody>
          <a:bodyPr anchor="b"/>
          <a:lstStyle>
            <a:lvl1pPr algn="l">
              <a:defRPr sz="1125" b="1"/>
            </a:lvl1pPr>
          </a:lstStyle>
          <a:p>
            <a:r>
              <a:rPr lang="en-US"/>
              <a:t>Click to edit Master title style</a:t>
            </a:r>
          </a:p>
        </p:txBody>
      </p:sp>
      <p:sp>
        <p:nvSpPr>
          <p:cNvPr id="3" name="Content Placeholder 2"/>
          <p:cNvSpPr>
            <a:spLocks noGrp="1"/>
          </p:cNvSpPr>
          <p:nvPr>
            <p:ph idx="1"/>
          </p:nvPr>
        </p:nvSpPr>
        <p:spPr>
          <a:xfrm>
            <a:off x="3575050" y="273054"/>
            <a:ext cx="5111750" cy="5853113"/>
          </a:xfrm>
          <a:prstGeom prst="rect">
            <a:avLst/>
          </a:prstGeo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a:prstGeom prst="rect">
            <a:avLst/>
          </a:prstGeo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6" name="Footer Placeholder 5"/>
          <p:cNvSpPr>
            <a:spLocks noGrp="1"/>
          </p:cNvSpPr>
          <p:nvPr>
            <p:ph type="ftr" sz="quarter" idx="11"/>
          </p:nvPr>
        </p:nvSpPr>
        <p:spPr>
          <a:xfrm>
            <a:off x="3124200" y="6356354"/>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942154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125"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788"/>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a:t>Click to edit Master text styles</a:t>
            </a:r>
          </a:p>
        </p:txBody>
      </p:sp>
      <p:sp>
        <p:nvSpPr>
          <p:cNvPr id="5" name="Date Placeholder 4"/>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6" name="Footer Placeholder 5"/>
          <p:cNvSpPr>
            <a:spLocks noGrp="1"/>
          </p:cNvSpPr>
          <p:nvPr>
            <p:ph type="ftr" sz="quarter" idx="11"/>
          </p:nvPr>
        </p:nvSpPr>
        <p:spPr>
          <a:xfrm>
            <a:off x="3124200" y="6356354"/>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581335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4"/>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2669884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4"/>
            <a:ext cx="2133600" cy="365125"/>
          </a:xfrm>
          <a:prstGeom prst="rect">
            <a:avLst/>
          </a:prstGeom>
        </p:spPr>
        <p:txBody>
          <a:bodyPr/>
          <a:lstStyle/>
          <a:p>
            <a:fld id="{31F5B154-6733-44EE-BCED-0CE01457041A}" type="datetimeFigureOut">
              <a:rPr lang="en-US" smtClean="0"/>
              <a:t>6/4/2024</a:t>
            </a:fld>
            <a:endParaRPr lang="en-US"/>
          </a:p>
        </p:txBody>
      </p:sp>
      <p:sp>
        <p:nvSpPr>
          <p:cNvPr id="5" name="Footer Placeholder 4"/>
          <p:cNvSpPr>
            <a:spLocks noGrp="1"/>
          </p:cNvSpPr>
          <p:nvPr>
            <p:ph type="ftr" sz="quarter" idx="11"/>
          </p:nvPr>
        </p:nvSpPr>
        <p:spPr>
          <a:xfrm>
            <a:off x="3124200" y="6356354"/>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4"/>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534188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619">
                <a:solidFill>
                  <a:schemeClr val="bg1"/>
                </a:solidFill>
              </a:defRPr>
            </a:lvl1pPr>
          </a:lstStyle>
          <a:p>
            <a:fld id="{E6BFE759-851A-4DDD-BA80-830DA166D2D3}" type="slidenum">
              <a:rPr lang="en-US" smtClean="0"/>
              <a:t>‹#›</a:t>
            </a:fld>
            <a:endParaRPr lang="en-US"/>
          </a:p>
        </p:txBody>
      </p:sp>
      <p:pic>
        <p:nvPicPr>
          <p:cNvPr id="5" name="Picture 2" descr="E:\Kienlh\2018\Thuong-Hieu\Đại hôi cổ đông\logo-en.png"/>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6104" t="14735" r="56162" b="18542"/>
          <a:stretch/>
        </p:blipFill>
        <p:spPr bwMode="auto">
          <a:xfrm>
            <a:off x="214544" y="166911"/>
            <a:ext cx="852256" cy="564341"/>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a:spLocks/>
          </p:cNvSpPr>
          <p:nvPr/>
        </p:nvSpPr>
        <p:spPr>
          <a:xfrm>
            <a:off x="2438400" y="301629"/>
            <a:ext cx="6705600" cy="688975"/>
          </a:xfrm>
          <a:prstGeom prst="rect">
            <a:avLst/>
          </a:prstGeom>
        </p:spPr>
        <p:txBody>
          <a:bodyPr vert="horz" lIns="51435" tIns="25718" rIns="51435" bIns="25718" rtlCol="0" anchor="ctr">
            <a:noAutofit/>
          </a:bodyPr>
          <a:lstStyle>
            <a:lvl1pPr algn="ctr" defTabSz="914400" rtl="0" eaLnBrk="1" latinLnBrk="0" hangingPunct="1">
              <a:spcBef>
                <a:spcPct val="0"/>
              </a:spcBef>
              <a:buNone/>
              <a:defRPr sz="2000" b="1" kern="1200">
                <a:solidFill>
                  <a:srgbClr val="0066B2"/>
                </a:solidFill>
                <a:latin typeface="Myriad Pro" pitchFamily="34" charset="0"/>
                <a:ea typeface="+mj-ea"/>
                <a:cs typeface="+mj-cs"/>
              </a:defRPr>
            </a:lvl1pPr>
          </a:lstStyle>
          <a:p>
            <a:endParaRPr lang="en-US" sz="2025" dirty="0"/>
          </a:p>
        </p:txBody>
      </p:sp>
      <p:cxnSp>
        <p:nvCxnSpPr>
          <p:cNvPr id="6" name="Straight Connector 5"/>
          <p:cNvCxnSpPr>
            <a:cxnSpLocks/>
          </p:cNvCxnSpPr>
          <p:nvPr/>
        </p:nvCxnSpPr>
        <p:spPr>
          <a:xfrm flipV="1">
            <a:off x="304800" y="990604"/>
            <a:ext cx="8652769" cy="6551"/>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p:nvSpPr>
        <p:spPr>
          <a:xfrm>
            <a:off x="2225843" y="166911"/>
            <a:ext cx="6811691" cy="1326753"/>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sz="2700" dirty="0"/>
          </a:p>
        </p:txBody>
      </p:sp>
    </p:spTree>
    <p:extLst>
      <p:ext uri="{BB962C8B-B14F-4D97-AF65-F5344CB8AC3E}">
        <p14:creationId xmlns:p14="http://schemas.microsoft.com/office/powerpoint/2010/main" val="2464923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ctr" defTabSz="514350" rtl="0" eaLnBrk="1" latinLnBrk="0" hangingPunct="1">
        <a:spcBef>
          <a:spcPct val="0"/>
        </a:spcBef>
        <a:buNone/>
        <a:defRPr sz="1125" b="1" kern="1200">
          <a:solidFill>
            <a:srgbClr val="0066B2"/>
          </a:solidFill>
          <a:latin typeface="Myriad Pro" pitchFamily="34" charset="0"/>
          <a:ea typeface="+mj-ea"/>
          <a:cs typeface="+mj-cs"/>
        </a:defRPr>
      </a:lvl1pPr>
    </p:titleStyle>
    <p:bodyStyle>
      <a:lvl1pPr marL="192881" indent="-192881" algn="l" defTabSz="51435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910" indent="-160735" algn="l" defTabSz="514350"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6"/>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89707"/>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ctr" defTabSz="514350" rtl="0" eaLnBrk="1" latinLnBrk="0" hangingPunct="1">
        <a:spcBef>
          <a:spcPct val="0"/>
        </a:spcBef>
        <a:buNone/>
        <a:defRPr sz="2475" kern="1200">
          <a:solidFill>
            <a:schemeClr val="tx1"/>
          </a:solidFill>
          <a:latin typeface="+mj-lt"/>
          <a:ea typeface="+mj-ea"/>
          <a:cs typeface="+mj-cs"/>
        </a:defRPr>
      </a:lvl1pPr>
    </p:titleStyle>
    <p:bodyStyle>
      <a:lvl1pPr marL="192881" indent="-192881" algn="l" defTabSz="51435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417910" indent="-160735" algn="l" defTabSz="514350" rtl="0" eaLnBrk="1" latinLnBrk="0" hangingPunct="1">
        <a:spcBef>
          <a:spcPct val="20000"/>
        </a:spcBef>
        <a:buFont typeface="Arial" panose="020B0604020202020204" pitchFamily="34" charset="0"/>
        <a:buChar char="–"/>
        <a:defRPr sz="1575" kern="1200">
          <a:solidFill>
            <a:schemeClr val="tx1"/>
          </a:solidFill>
          <a:latin typeface="+mn-lt"/>
          <a:ea typeface="+mn-ea"/>
          <a:cs typeface="+mn-cs"/>
        </a:defRPr>
      </a:lvl2pPr>
      <a:lvl3pPr marL="642938" indent="-128588" algn="l" defTabSz="514350" rtl="0" eaLnBrk="1" latinLnBrk="0" hangingPunct="1">
        <a:spcBef>
          <a:spcPct val="20000"/>
        </a:spcBef>
        <a:buFont typeface="Arial" panose="020B0604020202020204" pitchFamily="34" charset="0"/>
        <a:buChar char="•"/>
        <a:defRPr sz="1350" kern="1200">
          <a:solidFill>
            <a:schemeClr val="tx1"/>
          </a:solidFill>
          <a:latin typeface="+mn-lt"/>
          <a:ea typeface="+mn-ea"/>
          <a:cs typeface="+mn-cs"/>
        </a:defRPr>
      </a:lvl3pPr>
      <a:lvl4pPr marL="900113"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4pPr>
      <a:lvl5pPr marL="1157288"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5pPr>
      <a:lvl6pPr marL="1414463"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anose="020B0604020202020204"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CD4278A-682B-1F1E-48E0-4A1ACFB9CD59}"/>
              </a:ext>
            </a:extLst>
          </p:cNvPr>
          <p:cNvSpPr>
            <a:spLocks noGrp="1"/>
          </p:cNvSpPr>
          <p:nvPr>
            <p:ph type="title"/>
          </p:nvPr>
        </p:nvSpPr>
        <p:spPr/>
        <p:txBody>
          <a:bodyPr/>
          <a:lstStyle/>
          <a:p>
            <a:r>
              <a:rPr lang="vi-VN" dirty="0" err="1"/>
              <a:t>Review</a:t>
            </a:r>
            <a:r>
              <a:rPr lang="vi-VN" dirty="0"/>
              <a:t> the </a:t>
            </a:r>
            <a:r>
              <a:rPr lang="vi-VN" dirty="0" err="1"/>
              <a:t>last</a:t>
            </a:r>
            <a:r>
              <a:rPr lang="vi-VN" dirty="0"/>
              <a:t> </a:t>
            </a:r>
            <a:r>
              <a:rPr lang="vi-VN" dirty="0" err="1"/>
              <a:t>lesson</a:t>
            </a:r>
            <a:endParaRPr lang="vi-VN" dirty="0"/>
          </a:p>
        </p:txBody>
      </p:sp>
      <p:sp>
        <p:nvSpPr>
          <p:cNvPr id="7" name="Content Placeholder 6">
            <a:extLst>
              <a:ext uri="{FF2B5EF4-FFF2-40B4-BE49-F238E27FC236}">
                <a16:creationId xmlns:a16="http://schemas.microsoft.com/office/drawing/2014/main" id="{0D83FD79-E5B0-F0C3-9ADA-BD3BEC4434E5}"/>
              </a:ext>
            </a:extLst>
          </p:cNvPr>
          <p:cNvSpPr>
            <a:spLocks noGrp="1"/>
          </p:cNvSpPr>
          <p:nvPr>
            <p:ph idx="1"/>
          </p:nvPr>
        </p:nvSpPr>
        <p:spPr/>
        <p:txBody>
          <a:bodyPr/>
          <a:lstStyle/>
          <a:p>
            <a:r>
              <a:rPr lang="en-US" dirty="0"/>
              <a:t>What did we learn from the last lesson?</a:t>
            </a:r>
          </a:p>
        </p:txBody>
      </p:sp>
    </p:spTree>
    <p:extLst>
      <p:ext uri="{BB962C8B-B14F-4D97-AF65-F5344CB8AC3E}">
        <p14:creationId xmlns:p14="http://schemas.microsoft.com/office/powerpoint/2010/main" val="3307541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7387" y="1867903"/>
            <a:ext cx="4950338" cy="2237873"/>
          </a:xfrm>
        </p:spPr>
        <p:txBody>
          <a:bodyPr>
            <a:noAutofit/>
          </a:bodyPr>
          <a:lstStyle/>
          <a:p>
            <a:pPr algn="ctr"/>
            <a:r>
              <a:rPr lang="en-US" sz="3600" dirty="0"/>
              <a:t>CHAPTER 13</a:t>
            </a:r>
            <a:br>
              <a:rPr lang="en-US" sz="3600" dirty="0"/>
            </a:br>
            <a:r>
              <a:rPr lang="en-US" sz="3600" dirty="0"/>
              <a:t>Specifying data requirements</a:t>
            </a:r>
            <a:br>
              <a:rPr lang="en-US" sz="3600" dirty="0"/>
            </a:br>
            <a:endParaRPr lang="en-US" sz="3600" i="1"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86742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4" name="Content Placeholder 3">
            <a:extLst>
              <a:ext uri="{FF2B5EF4-FFF2-40B4-BE49-F238E27FC236}">
                <a16:creationId xmlns:a16="http://schemas.microsoft.com/office/drawing/2014/main" id="{F9FF086D-FBA2-35BC-67A0-1B18036A7096}"/>
              </a:ext>
            </a:extLst>
          </p:cNvPr>
          <p:cNvSpPr>
            <a:spLocks noGrp="1"/>
          </p:cNvSpPr>
          <p:nvPr>
            <p:ph idx="1"/>
          </p:nvPr>
        </p:nvSpPr>
        <p:spPr/>
        <p:txBody>
          <a:bodyPr/>
          <a:lstStyle/>
          <a:p>
            <a:r>
              <a:rPr lang="en-US" dirty="0"/>
              <a:t>Understand data modeling</a:t>
            </a:r>
          </a:p>
          <a:p>
            <a:r>
              <a:rPr lang="en-US" dirty="0"/>
              <a:t>Understand the ways to explore and represent the data </a:t>
            </a:r>
          </a:p>
          <a:p>
            <a:r>
              <a:rPr lang="en-US" dirty="0"/>
              <a:t>Understand the ways to specify any reports or dashboards of application needs to generate.</a:t>
            </a:r>
          </a:p>
          <a:p>
            <a:endParaRPr lang="vi-VN" dirty="0"/>
          </a:p>
        </p:txBody>
      </p:sp>
    </p:spTree>
    <p:extLst>
      <p:ext uri="{BB962C8B-B14F-4D97-AF65-F5344CB8AC3E}">
        <p14:creationId xmlns:p14="http://schemas.microsoft.com/office/powerpoint/2010/main" val="200968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Contents</a:t>
            </a:r>
          </a:p>
        </p:txBody>
      </p:sp>
      <p:sp>
        <p:nvSpPr>
          <p:cNvPr id="4" name="Content Placeholder 3">
            <a:extLst>
              <a:ext uri="{FF2B5EF4-FFF2-40B4-BE49-F238E27FC236}">
                <a16:creationId xmlns:a16="http://schemas.microsoft.com/office/drawing/2014/main" id="{C2B63B07-3A65-781D-5373-7395F66E2703}"/>
              </a:ext>
            </a:extLst>
          </p:cNvPr>
          <p:cNvSpPr>
            <a:spLocks noGrp="1"/>
          </p:cNvSpPr>
          <p:nvPr>
            <p:ph idx="1"/>
          </p:nvPr>
        </p:nvSpPr>
        <p:spPr/>
        <p:txBody>
          <a:bodyPr/>
          <a:lstStyle/>
          <a:p>
            <a:r>
              <a:rPr lang="en-US" dirty="0"/>
              <a:t>Data modeling, Entity Relationship Diagram &amp; Data Dictionary</a:t>
            </a:r>
          </a:p>
          <a:p>
            <a:r>
              <a:rPr lang="en-US" dirty="0"/>
              <a:t>Data analysis</a:t>
            </a:r>
          </a:p>
          <a:p>
            <a:r>
              <a:rPr lang="en-US" dirty="0"/>
              <a:t>Specifying reports</a:t>
            </a:r>
          </a:p>
          <a:p>
            <a:r>
              <a:rPr lang="en-US" dirty="0"/>
              <a:t>Dashboard reporting</a:t>
            </a:r>
          </a:p>
          <a:p>
            <a:endParaRPr lang="vi-VN" dirty="0"/>
          </a:p>
        </p:txBody>
      </p:sp>
    </p:spTree>
    <p:extLst>
      <p:ext uri="{BB962C8B-B14F-4D97-AF65-F5344CB8AC3E}">
        <p14:creationId xmlns:p14="http://schemas.microsoft.com/office/powerpoint/2010/main" val="1481163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modeling</a:t>
            </a:r>
          </a:p>
        </p:txBody>
      </p:sp>
      <p:sp>
        <p:nvSpPr>
          <p:cNvPr id="4" name="Content Placeholder 3">
            <a:extLst>
              <a:ext uri="{FF2B5EF4-FFF2-40B4-BE49-F238E27FC236}">
                <a16:creationId xmlns:a16="http://schemas.microsoft.com/office/drawing/2014/main" id="{47D4C8FD-8E81-5FBF-DD05-95F818276240}"/>
              </a:ext>
            </a:extLst>
          </p:cNvPr>
          <p:cNvSpPr>
            <a:spLocks noGrp="1"/>
          </p:cNvSpPr>
          <p:nvPr>
            <p:ph idx="1"/>
          </p:nvPr>
        </p:nvSpPr>
        <p:spPr/>
        <p:txBody>
          <a:bodyPr/>
          <a:lstStyle/>
          <a:p>
            <a:r>
              <a:rPr lang="en-US" dirty="0"/>
              <a:t>A data model provides the high-level view of the system’s data.</a:t>
            </a:r>
          </a:p>
          <a:p>
            <a:r>
              <a:rPr lang="en-US" dirty="0"/>
              <a:t>The data dictionary provides the detailed view.</a:t>
            </a:r>
          </a:p>
          <a:p>
            <a:endParaRPr lang="vi-VN" dirty="0"/>
          </a:p>
        </p:txBody>
      </p:sp>
    </p:spTree>
    <p:extLst>
      <p:ext uri="{BB962C8B-B14F-4D97-AF65-F5344CB8AC3E}">
        <p14:creationId xmlns:p14="http://schemas.microsoft.com/office/powerpoint/2010/main" val="2258569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Entity Relationship Diagram (ERD)</a:t>
            </a:r>
          </a:p>
        </p:txBody>
      </p:sp>
      <p:sp>
        <p:nvSpPr>
          <p:cNvPr id="3" name="Content Placeholder 2">
            <a:extLst>
              <a:ext uri="{FF2B5EF4-FFF2-40B4-BE49-F238E27FC236}">
                <a16:creationId xmlns:a16="http://schemas.microsoft.com/office/drawing/2014/main" id="{62E9C99E-E673-5B72-3BD5-66664C82AD4D}"/>
              </a:ext>
            </a:extLst>
          </p:cNvPr>
          <p:cNvSpPr>
            <a:spLocks noGrp="1"/>
          </p:cNvSpPr>
          <p:nvPr>
            <p:ph idx="1"/>
          </p:nvPr>
        </p:nvSpPr>
        <p:spPr>
          <a:xfrm>
            <a:off x="304801" y="1090989"/>
            <a:ext cx="8643890" cy="5519038"/>
          </a:xfrm>
        </p:spPr>
        <p:txBody>
          <a:bodyPr>
            <a:normAutofit lnSpcReduction="10000"/>
          </a:bodyPr>
          <a:lstStyle/>
          <a:p>
            <a:pPr>
              <a:lnSpc>
                <a:spcPct val="90000"/>
              </a:lnSpc>
            </a:pPr>
            <a:r>
              <a:rPr lang="en-US" sz="2400" dirty="0"/>
              <a:t>A commonly used data model is the </a:t>
            </a:r>
            <a:r>
              <a:rPr lang="en-US" sz="2400" b="1" dirty="0"/>
              <a:t>entity-relationship diagram</a:t>
            </a:r>
            <a:r>
              <a:rPr lang="en-US" sz="2400" dirty="0"/>
              <a:t> or ERD.</a:t>
            </a:r>
          </a:p>
          <a:p>
            <a:pPr>
              <a:lnSpc>
                <a:spcPct val="90000"/>
              </a:lnSpc>
            </a:pPr>
            <a:r>
              <a:rPr lang="en-US" sz="2400" b="1" dirty="0"/>
              <a:t>Entities</a:t>
            </a:r>
            <a:r>
              <a:rPr lang="en-US" sz="2400" dirty="0"/>
              <a:t> could represent physical items (including people) or aggregations of data that are important to the business you’re analyzing or to the system you intend to build. Entities are named as singular nouns and are shown in rectangles in an ERD.</a:t>
            </a:r>
          </a:p>
          <a:p>
            <a:pPr>
              <a:lnSpc>
                <a:spcPct val="90000"/>
              </a:lnSpc>
            </a:pPr>
            <a:r>
              <a:rPr lang="en-US" sz="2400" dirty="0"/>
              <a:t>Each entity is described by one or more </a:t>
            </a:r>
            <a:r>
              <a:rPr lang="en-US" sz="2400" b="1" dirty="0"/>
              <a:t>attributes</a:t>
            </a:r>
            <a:r>
              <a:rPr lang="en-US" sz="2400" dirty="0"/>
              <a:t>; individual instances of an entity will have different attribute values. The data dictionary contains the precise definitions of those attributes.</a:t>
            </a:r>
          </a:p>
          <a:p>
            <a:pPr>
              <a:lnSpc>
                <a:spcPct val="90000"/>
              </a:lnSpc>
            </a:pPr>
            <a:r>
              <a:rPr lang="en-US" sz="2400" dirty="0"/>
              <a:t>The diamonds in the ERD represent </a:t>
            </a:r>
            <a:r>
              <a:rPr lang="en-US" sz="2400" b="1" dirty="0"/>
              <a:t>relationships</a:t>
            </a:r>
            <a:r>
              <a:rPr lang="en-US" sz="2400" dirty="0"/>
              <a:t>, which identify the logical linkages between pairs of entities. Relationships are named in a way that describes the nature of the connection.</a:t>
            </a:r>
          </a:p>
          <a:p>
            <a:pPr>
              <a:lnSpc>
                <a:spcPct val="90000"/>
              </a:lnSpc>
            </a:pPr>
            <a:r>
              <a:rPr lang="en-US" sz="2400" dirty="0"/>
              <a:t>The </a:t>
            </a:r>
            <a:r>
              <a:rPr lang="en-US" sz="2400" b="1" dirty="0"/>
              <a:t>cardinality</a:t>
            </a:r>
            <a:r>
              <a:rPr lang="en-US" sz="2400" dirty="0"/>
              <a:t>, or multiplicity, of each relationship is shown with a number or letter on the lines that connect entities and relationships.</a:t>
            </a:r>
          </a:p>
          <a:p>
            <a:pPr>
              <a:lnSpc>
                <a:spcPct val="90000"/>
              </a:lnSpc>
            </a:pPr>
            <a:endParaRPr lang="en-US" sz="2400" dirty="0"/>
          </a:p>
          <a:p>
            <a:pPr>
              <a:lnSpc>
                <a:spcPct val="90000"/>
              </a:lnSpc>
            </a:pPr>
            <a:endParaRPr lang="en-US" sz="2400" dirty="0"/>
          </a:p>
          <a:p>
            <a:pPr>
              <a:lnSpc>
                <a:spcPct val="90000"/>
              </a:lnSpc>
            </a:pPr>
            <a:endParaRPr lang="vi-VN" sz="2400" dirty="0"/>
          </a:p>
        </p:txBody>
      </p:sp>
    </p:spTree>
    <p:extLst>
      <p:ext uri="{BB962C8B-B14F-4D97-AF65-F5344CB8AC3E}">
        <p14:creationId xmlns:p14="http://schemas.microsoft.com/office/powerpoint/2010/main" val="1857373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8C81-607C-D0F9-1223-D73341A8A6FE}"/>
              </a:ext>
            </a:extLst>
          </p:cNvPr>
          <p:cNvSpPr>
            <a:spLocks noGrp="1"/>
          </p:cNvSpPr>
          <p:nvPr>
            <p:ph type="title"/>
          </p:nvPr>
        </p:nvSpPr>
        <p:spPr/>
        <p:txBody>
          <a:bodyPr/>
          <a:lstStyle/>
          <a:p>
            <a:r>
              <a:rPr lang="en-US" dirty="0"/>
              <a:t>ERD Example</a:t>
            </a:r>
            <a:endParaRPr lang="vi-VN" dirty="0"/>
          </a:p>
        </p:txBody>
      </p:sp>
      <p:sp>
        <p:nvSpPr>
          <p:cNvPr id="7" name="TextBox 6">
            <a:extLst>
              <a:ext uri="{FF2B5EF4-FFF2-40B4-BE49-F238E27FC236}">
                <a16:creationId xmlns:a16="http://schemas.microsoft.com/office/drawing/2014/main" id="{44300A9B-9C7C-AF65-EBA6-3A705BCBF310}"/>
              </a:ext>
            </a:extLst>
          </p:cNvPr>
          <p:cNvSpPr txBox="1"/>
          <p:nvPr/>
        </p:nvSpPr>
        <p:spPr>
          <a:xfrm>
            <a:off x="242473" y="6344888"/>
            <a:ext cx="8483071" cy="307777"/>
          </a:xfrm>
          <a:prstGeom prst="rect">
            <a:avLst/>
          </a:prstGeom>
          <a:noFill/>
        </p:spPr>
        <p:txBody>
          <a:bodyPr wrap="square">
            <a:spAutoFit/>
          </a:bodyPr>
          <a:lstStyle/>
          <a:p>
            <a:r>
              <a:rPr lang="en-US" sz="1400" b="1" dirty="0"/>
              <a:t>FIGURE 13-1</a:t>
            </a:r>
            <a:r>
              <a:rPr lang="en-US" sz="1400" dirty="0"/>
              <a:t> Partial entity-relationship diagram for the Chemical Tracking System.</a:t>
            </a:r>
            <a:endParaRPr lang="vi-VN" sz="1400" dirty="0"/>
          </a:p>
        </p:txBody>
      </p:sp>
      <p:pic>
        <p:nvPicPr>
          <p:cNvPr id="9" name="Picture 8">
            <a:extLst>
              <a:ext uri="{FF2B5EF4-FFF2-40B4-BE49-F238E27FC236}">
                <a16:creationId xmlns:a16="http://schemas.microsoft.com/office/drawing/2014/main" id="{8C62AAE7-D3F7-76CD-BD25-58A6AFFC9075}"/>
              </a:ext>
            </a:extLst>
          </p:cNvPr>
          <p:cNvPicPr>
            <a:picLocks noChangeAspect="1"/>
          </p:cNvPicPr>
          <p:nvPr/>
        </p:nvPicPr>
        <p:blipFill>
          <a:blip r:embed="rId2"/>
          <a:stretch>
            <a:fillRect/>
          </a:stretch>
        </p:blipFill>
        <p:spPr>
          <a:xfrm>
            <a:off x="309966" y="1052879"/>
            <a:ext cx="7129220" cy="5201656"/>
          </a:xfrm>
          <a:prstGeom prst="rect">
            <a:avLst/>
          </a:prstGeom>
        </p:spPr>
      </p:pic>
      <p:pic>
        <p:nvPicPr>
          <p:cNvPr id="11" name="Picture 10">
            <a:extLst>
              <a:ext uri="{FF2B5EF4-FFF2-40B4-BE49-F238E27FC236}">
                <a16:creationId xmlns:a16="http://schemas.microsoft.com/office/drawing/2014/main" id="{DE6975DD-F45F-B669-EBA3-B798B2109018}"/>
              </a:ext>
            </a:extLst>
          </p:cNvPr>
          <p:cNvPicPr>
            <a:picLocks noChangeAspect="1"/>
          </p:cNvPicPr>
          <p:nvPr/>
        </p:nvPicPr>
        <p:blipFill>
          <a:blip r:embed="rId3"/>
          <a:stretch>
            <a:fillRect/>
          </a:stretch>
        </p:blipFill>
        <p:spPr>
          <a:xfrm>
            <a:off x="6693245" y="2388242"/>
            <a:ext cx="2450755" cy="1624447"/>
          </a:xfrm>
          <a:prstGeom prst="rect">
            <a:avLst/>
          </a:prstGeom>
        </p:spPr>
      </p:pic>
    </p:spTree>
    <p:extLst>
      <p:ext uri="{BB962C8B-B14F-4D97-AF65-F5344CB8AC3E}">
        <p14:creationId xmlns:p14="http://schemas.microsoft.com/office/powerpoint/2010/main" val="609312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ERD: Other notations</a:t>
            </a:r>
          </a:p>
        </p:txBody>
      </p:sp>
      <p:pic>
        <p:nvPicPr>
          <p:cNvPr id="7" name="Picture 6">
            <a:extLst>
              <a:ext uri="{FF2B5EF4-FFF2-40B4-BE49-F238E27FC236}">
                <a16:creationId xmlns:a16="http://schemas.microsoft.com/office/drawing/2014/main" id="{7B23A0BB-6CEE-F061-78AE-C58D42C271EB}"/>
              </a:ext>
            </a:extLst>
          </p:cNvPr>
          <p:cNvPicPr>
            <a:picLocks noChangeAspect="1"/>
          </p:cNvPicPr>
          <p:nvPr/>
        </p:nvPicPr>
        <p:blipFill>
          <a:blip r:embed="rId3"/>
          <a:stretch>
            <a:fillRect/>
          </a:stretch>
        </p:blipFill>
        <p:spPr>
          <a:xfrm>
            <a:off x="470643" y="1386129"/>
            <a:ext cx="4581525" cy="800100"/>
          </a:xfrm>
          <a:prstGeom prst="rect">
            <a:avLst/>
          </a:prstGeom>
        </p:spPr>
      </p:pic>
      <p:pic>
        <p:nvPicPr>
          <p:cNvPr id="9" name="Picture 8">
            <a:extLst>
              <a:ext uri="{FF2B5EF4-FFF2-40B4-BE49-F238E27FC236}">
                <a16:creationId xmlns:a16="http://schemas.microsoft.com/office/drawing/2014/main" id="{1565B8AC-5192-8FEE-7A02-3D2571D3B706}"/>
              </a:ext>
            </a:extLst>
          </p:cNvPr>
          <p:cNvPicPr>
            <a:picLocks noChangeAspect="1"/>
          </p:cNvPicPr>
          <p:nvPr/>
        </p:nvPicPr>
        <p:blipFill>
          <a:blip r:embed="rId4"/>
          <a:stretch>
            <a:fillRect/>
          </a:stretch>
        </p:blipFill>
        <p:spPr>
          <a:xfrm>
            <a:off x="378981" y="3838495"/>
            <a:ext cx="6200775" cy="1914525"/>
          </a:xfrm>
          <a:prstGeom prst="rect">
            <a:avLst/>
          </a:prstGeom>
        </p:spPr>
      </p:pic>
      <p:sp>
        <p:nvSpPr>
          <p:cNvPr id="11" name="TextBox 10">
            <a:extLst>
              <a:ext uri="{FF2B5EF4-FFF2-40B4-BE49-F238E27FC236}">
                <a16:creationId xmlns:a16="http://schemas.microsoft.com/office/drawing/2014/main" id="{2E44F7EC-08F3-095F-C6D3-E46F8802E2DA}"/>
              </a:ext>
            </a:extLst>
          </p:cNvPr>
          <p:cNvSpPr txBox="1"/>
          <p:nvPr/>
        </p:nvSpPr>
        <p:spPr>
          <a:xfrm>
            <a:off x="317712" y="5753020"/>
            <a:ext cx="6262044" cy="307777"/>
          </a:xfrm>
          <a:prstGeom prst="rect">
            <a:avLst/>
          </a:prstGeom>
          <a:noFill/>
        </p:spPr>
        <p:txBody>
          <a:bodyPr wrap="square">
            <a:spAutoFit/>
          </a:bodyPr>
          <a:lstStyle/>
          <a:p>
            <a:r>
              <a:rPr lang="en-US" sz="1400" b="1" dirty="0"/>
              <a:t>FIGURE 13-3 </a:t>
            </a:r>
            <a:r>
              <a:rPr lang="en-US" sz="1400" dirty="0"/>
              <a:t>Portion of a UML class diagram for the Chemical Tracking System.</a:t>
            </a:r>
            <a:endParaRPr lang="vi-VN" sz="1400" dirty="0"/>
          </a:p>
        </p:txBody>
      </p:sp>
      <p:sp>
        <p:nvSpPr>
          <p:cNvPr id="13" name="TextBox 12">
            <a:extLst>
              <a:ext uri="{FF2B5EF4-FFF2-40B4-BE49-F238E27FC236}">
                <a16:creationId xmlns:a16="http://schemas.microsoft.com/office/drawing/2014/main" id="{A7562ED2-EF08-6E97-1128-556F52A8F171}"/>
              </a:ext>
            </a:extLst>
          </p:cNvPr>
          <p:cNvSpPr txBox="1"/>
          <p:nvPr/>
        </p:nvSpPr>
        <p:spPr>
          <a:xfrm>
            <a:off x="378980" y="2230720"/>
            <a:ext cx="6200775" cy="307777"/>
          </a:xfrm>
          <a:prstGeom prst="rect">
            <a:avLst/>
          </a:prstGeom>
          <a:noFill/>
        </p:spPr>
        <p:txBody>
          <a:bodyPr wrap="square">
            <a:spAutoFit/>
          </a:bodyPr>
          <a:lstStyle/>
          <a:p>
            <a:r>
              <a:rPr lang="en-US" sz="1400" b="1" dirty="0"/>
              <a:t>FIGURE 13-2 </a:t>
            </a:r>
            <a:r>
              <a:rPr lang="en-US" sz="1400" dirty="0"/>
              <a:t>One alternative notation for an entity-relationship diagram.</a:t>
            </a:r>
            <a:endParaRPr lang="vi-VN" sz="1400" dirty="0"/>
          </a:p>
        </p:txBody>
      </p:sp>
    </p:spTree>
    <p:extLst>
      <p:ext uri="{BB962C8B-B14F-4D97-AF65-F5344CB8AC3E}">
        <p14:creationId xmlns:p14="http://schemas.microsoft.com/office/powerpoint/2010/main" val="250595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data dictionary</a:t>
            </a:r>
          </a:p>
        </p:txBody>
      </p:sp>
      <p:sp>
        <p:nvSpPr>
          <p:cNvPr id="3" name="Content Placeholder 2"/>
          <p:cNvSpPr>
            <a:spLocks noGrp="1"/>
          </p:cNvSpPr>
          <p:nvPr>
            <p:ph idx="1"/>
          </p:nvPr>
        </p:nvSpPr>
        <p:spPr/>
        <p:txBody>
          <a:bodyPr>
            <a:noAutofit/>
          </a:bodyPr>
          <a:lstStyle/>
          <a:p>
            <a:pPr algn="just"/>
            <a:r>
              <a:rPr lang="en-US" sz="2400" i="0" u="none" strike="noStrike" baseline="0" dirty="0">
                <a:solidFill>
                  <a:srgbClr val="000000"/>
                </a:solidFill>
              </a:rPr>
              <a:t>A </a:t>
            </a:r>
            <a:r>
              <a:rPr lang="en-US" sz="2400" b="1" i="1" u="none" strike="noStrike" baseline="0" dirty="0">
                <a:solidFill>
                  <a:srgbClr val="000000"/>
                </a:solidFill>
              </a:rPr>
              <a:t>data dictionary </a:t>
            </a:r>
            <a:r>
              <a:rPr lang="en-US" sz="2400" b="0" i="0" u="none" strike="noStrike" baseline="0" dirty="0">
                <a:solidFill>
                  <a:srgbClr val="000000"/>
                </a:solidFill>
              </a:rPr>
              <a:t>is a collection of </a:t>
            </a:r>
            <a:r>
              <a:rPr lang="en-US" sz="2400" b="1" i="0" u="none" strike="noStrike" baseline="0" dirty="0">
                <a:solidFill>
                  <a:srgbClr val="000000"/>
                </a:solidFill>
              </a:rPr>
              <a:t>detailed</a:t>
            </a:r>
            <a:r>
              <a:rPr lang="en-US" sz="2400" b="0" i="0" u="none" strike="noStrike" baseline="0" dirty="0">
                <a:solidFill>
                  <a:srgbClr val="000000"/>
                </a:solidFill>
              </a:rPr>
              <a:t> information about the data </a:t>
            </a:r>
            <a:r>
              <a:rPr lang="en-US" sz="2400" b="1" i="0" u="none" strike="noStrike" baseline="0" dirty="0">
                <a:solidFill>
                  <a:srgbClr val="000000"/>
                </a:solidFill>
              </a:rPr>
              <a:t>entities</a:t>
            </a:r>
            <a:r>
              <a:rPr lang="en-US" sz="2400" b="0" i="0" u="none" strike="noStrike" baseline="0" dirty="0">
                <a:solidFill>
                  <a:srgbClr val="000000"/>
                </a:solidFill>
              </a:rPr>
              <a:t> used in an application. </a:t>
            </a:r>
            <a:endParaRPr lang="en-US" sz="2400" dirty="0"/>
          </a:p>
          <a:p>
            <a:pPr algn="just"/>
            <a:r>
              <a:rPr lang="en-US" sz="2400" i="1" u="none" strike="noStrike" baseline="0" dirty="0">
                <a:solidFill>
                  <a:srgbClr val="000000"/>
                </a:solidFill>
              </a:rPr>
              <a:t>The data dictionary </a:t>
            </a:r>
            <a:r>
              <a:rPr lang="en-US" sz="2400" b="0" i="0" u="none" strike="noStrike" baseline="0" dirty="0">
                <a:solidFill>
                  <a:srgbClr val="000000"/>
                </a:solidFill>
              </a:rPr>
              <a:t>collects the information about </a:t>
            </a:r>
            <a:r>
              <a:rPr lang="en-US" sz="2400" b="1" i="0" u="none" strike="noStrike" baseline="0" dirty="0">
                <a:solidFill>
                  <a:srgbClr val="000000"/>
                </a:solidFill>
              </a:rPr>
              <a:t>composition</a:t>
            </a:r>
            <a:r>
              <a:rPr lang="en-US" sz="2400" b="0" i="0" u="none" strike="noStrike" baseline="0" dirty="0">
                <a:solidFill>
                  <a:srgbClr val="000000"/>
                </a:solidFill>
              </a:rPr>
              <a:t>, </a:t>
            </a:r>
            <a:r>
              <a:rPr lang="en-US" sz="2400" b="1" i="0" u="none" strike="noStrike" baseline="0" dirty="0">
                <a:solidFill>
                  <a:srgbClr val="000000"/>
                </a:solidFill>
              </a:rPr>
              <a:t>data types</a:t>
            </a:r>
            <a:r>
              <a:rPr lang="en-US" sz="2400" b="0" i="0" u="none" strike="noStrike" baseline="0" dirty="0">
                <a:solidFill>
                  <a:srgbClr val="000000"/>
                </a:solidFill>
              </a:rPr>
              <a:t>, </a:t>
            </a:r>
            <a:r>
              <a:rPr lang="en-US" sz="2400" b="1" i="0" u="none" strike="noStrike" baseline="0" dirty="0">
                <a:solidFill>
                  <a:srgbClr val="000000"/>
                </a:solidFill>
              </a:rPr>
              <a:t>allowed values</a:t>
            </a:r>
            <a:r>
              <a:rPr lang="en-US" sz="2400" b="0" i="0" u="none" strike="noStrike" baseline="0" dirty="0">
                <a:solidFill>
                  <a:srgbClr val="000000"/>
                </a:solidFill>
              </a:rPr>
              <a:t>, and the like into a shared resource identifies the data validation criteria. </a:t>
            </a:r>
          </a:p>
          <a:p>
            <a:pPr algn="just"/>
            <a:r>
              <a:rPr lang="en-US" sz="2400" dirty="0">
                <a:solidFill>
                  <a:srgbClr val="000000"/>
                </a:solidFill>
              </a:rPr>
              <a:t>It </a:t>
            </a:r>
            <a:r>
              <a:rPr lang="en-US" sz="2400" b="0" i="0" u="none" strike="noStrike" baseline="0" dirty="0">
                <a:solidFill>
                  <a:srgbClr val="000000"/>
                </a:solidFill>
              </a:rPr>
              <a:t>helps developers </a:t>
            </a:r>
            <a:r>
              <a:rPr lang="en-US" sz="2400" b="1" i="0" u="none" strike="noStrike" baseline="0" dirty="0">
                <a:solidFill>
                  <a:srgbClr val="000000"/>
                </a:solidFill>
              </a:rPr>
              <a:t>write programs correctly</a:t>
            </a:r>
            <a:r>
              <a:rPr lang="en-US" sz="2400" b="0" i="0" u="none" strike="noStrike" baseline="0" dirty="0">
                <a:solidFill>
                  <a:srgbClr val="000000"/>
                </a:solidFill>
              </a:rPr>
              <a:t>, and </a:t>
            </a:r>
            <a:r>
              <a:rPr lang="en-US" sz="2400" b="1" i="0" u="none" strike="noStrike" baseline="0" dirty="0">
                <a:solidFill>
                  <a:srgbClr val="000000"/>
                </a:solidFill>
              </a:rPr>
              <a:t>minimizes integration problems</a:t>
            </a:r>
            <a:r>
              <a:rPr lang="en-US" sz="2400" b="0" i="0" u="none" strike="noStrike" baseline="0" dirty="0">
                <a:solidFill>
                  <a:srgbClr val="000000"/>
                </a:solidFill>
              </a:rPr>
              <a:t>.</a:t>
            </a:r>
            <a:endParaRPr lang="en-US" sz="2400" dirty="0"/>
          </a:p>
        </p:txBody>
      </p:sp>
    </p:spTree>
    <p:extLst>
      <p:ext uri="{BB962C8B-B14F-4D97-AF65-F5344CB8AC3E}">
        <p14:creationId xmlns:p14="http://schemas.microsoft.com/office/powerpoint/2010/main" val="795149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data dictionary - Example</a:t>
            </a:r>
          </a:p>
        </p:txBody>
      </p:sp>
      <p:sp>
        <p:nvSpPr>
          <p:cNvPr id="3" name="Content Placeholder 2">
            <a:extLst>
              <a:ext uri="{FF2B5EF4-FFF2-40B4-BE49-F238E27FC236}">
                <a16:creationId xmlns:a16="http://schemas.microsoft.com/office/drawing/2014/main" id="{CEA1FFD9-A90A-9CC2-CEA8-18336930C0F3}"/>
              </a:ext>
            </a:extLst>
          </p:cNvPr>
          <p:cNvSpPr>
            <a:spLocks noGrp="1"/>
          </p:cNvSpPr>
          <p:nvPr>
            <p:ph idx="1"/>
          </p:nvPr>
        </p:nvSpPr>
        <p:spPr/>
        <p:txBody>
          <a:bodyPr/>
          <a:lstStyle/>
          <a:p>
            <a:endParaRPr lang="vi-VN"/>
          </a:p>
        </p:txBody>
      </p:sp>
      <p:pic>
        <p:nvPicPr>
          <p:cNvPr id="5" name="Picture 4">
            <a:extLst>
              <a:ext uri="{FF2B5EF4-FFF2-40B4-BE49-F238E27FC236}">
                <a16:creationId xmlns:a16="http://schemas.microsoft.com/office/drawing/2014/main" id="{018F015E-896E-4F75-68EF-3059F759AA18}"/>
              </a:ext>
            </a:extLst>
          </p:cNvPr>
          <p:cNvPicPr>
            <a:picLocks noChangeAspect="1"/>
          </p:cNvPicPr>
          <p:nvPr/>
        </p:nvPicPr>
        <p:blipFill>
          <a:blip r:embed="rId3"/>
          <a:stretch>
            <a:fillRect/>
          </a:stretch>
        </p:blipFill>
        <p:spPr>
          <a:xfrm>
            <a:off x="100012" y="1031848"/>
            <a:ext cx="8943975" cy="5057775"/>
          </a:xfrm>
          <a:prstGeom prst="rect">
            <a:avLst/>
          </a:prstGeom>
        </p:spPr>
      </p:pic>
      <p:sp>
        <p:nvSpPr>
          <p:cNvPr id="7" name="TextBox 6">
            <a:extLst>
              <a:ext uri="{FF2B5EF4-FFF2-40B4-BE49-F238E27FC236}">
                <a16:creationId xmlns:a16="http://schemas.microsoft.com/office/drawing/2014/main" id="{E8EDE1DE-6DA1-8EAC-6482-3BCF1841856F}"/>
              </a:ext>
            </a:extLst>
          </p:cNvPr>
          <p:cNvSpPr txBox="1"/>
          <p:nvPr/>
        </p:nvSpPr>
        <p:spPr>
          <a:xfrm>
            <a:off x="472698" y="6217700"/>
            <a:ext cx="8671302" cy="307777"/>
          </a:xfrm>
          <a:prstGeom prst="rect">
            <a:avLst/>
          </a:prstGeom>
          <a:noFill/>
        </p:spPr>
        <p:txBody>
          <a:bodyPr wrap="square">
            <a:spAutoFit/>
          </a:bodyPr>
          <a:lstStyle/>
          <a:p>
            <a:r>
              <a:rPr lang="en-US" sz="1400" b="1" dirty="0"/>
              <a:t>FIGURE 13-4 </a:t>
            </a:r>
            <a:r>
              <a:rPr lang="en-US" sz="1400" dirty="0"/>
              <a:t>Partial data dictionary for the Chemical Tracking System.</a:t>
            </a:r>
            <a:endParaRPr lang="vi-VN" sz="1400" dirty="0"/>
          </a:p>
        </p:txBody>
      </p:sp>
    </p:spTree>
    <p:extLst>
      <p:ext uri="{BB962C8B-B14F-4D97-AF65-F5344CB8AC3E}">
        <p14:creationId xmlns:p14="http://schemas.microsoft.com/office/powerpoint/2010/main" val="3797788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A1A41-AC51-9B4B-EDD4-D278D49DED07}"/>
              </a:ext>
            </a:extLst>
          </p:cNvPr>
          <p:cNvSpPr>
            <a:spLocks noGrp="1"/>
          </p:cNvSpPr>
          <p:nvPr>
            <p:ph type="title"/>
          </p:nvPr>
        </p:nvSpPr>
        <p:spPr/>
        <p:txBody>
          <a:bodyPr/>
          <a:lstStyle/>
          <a:p>
            <a:endParaRPr lang="vi-VN"/>
          </a:p>
        </p:txBody>
      </p:sp>
      <p:pic>
        <p:nvPicPr>
          <p:cNvPr id="5" name="Picture 4">
            <a:extLst>
              <a:ext uri="{FF2B5EF4-FFF2-40B4-BE49-F238E27FC236}">
                <a16:creationId xmlns:a16="http://schemas.microsoft.com/office/drawing/2014/main" id="{E3661086-EE55-C95B-33B9-863DF553D9AB}"/>
              </a:ext>
            </a:extLst>
          </p:cNvPr>
          <p:cNvPicPr>
            <a:picLocks noChangeAspect="1"/>
          </p:cNvPicPr>
          <p:nvPr/>
        </p:nvPicPr>
        <p:blipFill>
          <a:blip r:embed="rId2"/>
          <a:stretch>
            <a:fillRect/>
          </a:stretch>
        </p:blipFill>
        <p:spPr>
          <a:xfrm>
            <a:off x="76200" y="1476375"/>
            <a:ext cx="8991600" cy="3905250"/>
          </a:xfrm>
          <a:prstGeom prst="rect">
            <a:avLst/>
          </a:prstGeom>
        </p:spPr>
      </p:pic>
    </p:spTree>
    <p:extLst>
      <p:ext uri="{BB962C8B-B14F-4D97-AF65-F5344CB8AC3E}">
        <p14:creationId xmlns:p14="http://schemas.microsoft.com/office/powerpoint/2010/main" val="3330748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analysis</a:t>
            </a:r>
          </a:p>
        </p:txBody>
      </p:sp>
      <p:sp>
        <p:nvSpPr>
          <p:cNvPr id="3" name="Content Placeholder 2"/>
          <p:cNvSpPr>
            <a:spLocks noGrp="1"/>
          </p:cNvSpPr>
          <p:nvPr>
            <p:ph idx="1"/>
          </p:nvPr>
        </p:nvSpPr>
        <p:spPr/>
        <p:txBody>
          <a:bodyPr/>
          <a:lstStyle/>
          <a:p>
            <a:pPr algn="just"/>
            <a:r>
              <a:rPr lang="en-US" sz="2400" dirty="0"/>
              <a:t>When performing data analysis, you can </a:t>
            </a:r>
            <a:r>
              <a:rPr lang="en-US" sz="2400" b="1" dirty="0"/>
              <a:t>map</a:t>
            </a:r>
            <a:r>
              <a:rPr lang="en-US" sz="2400" dirty="0"/>
              <a:t> various information </a:t>
            </a:r>
            <a:r>
              <a:rPr lang="en-US" sz="2400" b="1" dirty="0"/>
              <a:t>representations</a:t>
            </a:r>
            <a:r>
              <a:rPr lang="en-US" sz="2400" dirty="0"/>
              <a:t> </a:t>
            </a:r>
            <a:r>
              <a:rPr lang="en-US" sz="2400" b="1" dirty="0"/>
              <a:t>against</a:t>
            </a:r>
            <a:r>
              <a:rPr lang="en-US" sz="2400" dirty="0"/>
              <a:t> one </a:t>
            </a:r>
            <a:r>
              <a:rPr lang="en-US" sz="2400" b="1" dirty="0"/>
              <a:t>another</a:t>
            </a:r>
            <a:r>
              <a:rPr lang="en-US" sz="2400" dirty="0"/>
              <a:t> to </a:t>
            </a:r>
            <a:r>
              <a:rPr lang="en-US" sz="2400" b="1" dirty="0"/>
              <a:t>find gaps</a:t>
            </a:r>
            <a:r>
              <a:rPr lang="en-US" sz="2400" dirty="0"/>
              <a:t>, </a:t>
            </a:r>
            <a:r>
              <a:rPr lang="en-US" sz="2400" b="1" dirty="0"/>
              <a:t>errors</a:t>
            </a:r>
            <a:r>
              <a:rPr lang="en-US" sz="2400" dirty="0"/>
              <a:t>, and </a:t>
            </a:r>
            <a:r>
              <a:rPr lang="en-US" sz="2400" b="1" dirty="0"/>
              <a:t>inconsistencies</a:t>
            </a:r>
            <a:r>
              <a:rPr lang="en-US" sz="2400" dirty="0"/>
              <a:t>.</a:t>
            </a:r>
          </a:p>
          <a:p>
            <a:pPr algn="just"/>
            <a:r>
              <a:rPr lang="en-US" sz="2400" dirty="0"/>
              <a:t>The </a:t>
            </a:r>
            <a:r>
              <a:rPr lang="en-US" sz="2400" b="1" dirty="0"/>
              <a:t>entities</a:t>
            </a:r>
            <a:r>
              <a:rPr lang="en-US" sz="2400" dirty="0"/>
              <a:t> in your entity-relationship diagram are likely </a:t>
            </a:r>
            <a:r>
              <a:rPr lang="en-US" sz="2400" b="1" dirty="0"/>
              <a:t>defined in </a:t>
            </a:r>
            <a:r>
              <a:rPr lang="en-US" sz="2400" dirty="0"/>
              <a:t>the </a:t>
            </a:r>
            <a:r>
              <a:rPr lang="en-US" sz="2400" b="1" dirty="0"/>
              <a:t>data dictionary</a:t>
            </a:r>
          </a:p>
          <a:p>
            <a:pPr algn="just"/>
            <a:r>
              <a:rPr lang="en-US" sz="2400" dirty="0"/>
              <a:t>The data </a:t>
            </a:r>
            <a:r>
              <a:rPr lang="en-US" sz="2400" b="1" dirty="0"/>
              <a:t>flows</a:t>
            </a:r>
            <a:r>
              <a:rPr lang="en-US" sz="2400" dirty="0"/>
              <a:t> and </a:t>
            </a:r>
            <a:r>
              <a:rPr lang="en-US" sz="2400" b="1" dirty="0"/>
              <a:t>stores</a:t>
            </a:r>
            <a:r>
              <a:rPr lang="en-US" sz="2400" dirty="0"/>
              <a:t> </a:t>
            </a:r>
            <a:r>
              <a:rPr lang="en-US" sz="2400" b="1" dirty="0"/>
              <a:t>in</a:t>
            </a:r>
            <a:r>
              <a:rPr lang="en-US" sz="2400" dirty="0"/>
              <a:t> your </a:t>
            </a:r>
            <a:r>
              <a:rPr lang="en-US" sz="2400" b="1" dirty="0"/>
              <a:t>DFD</a:t>
            </a:r>
            <a:r>
              <a:rPr lang="en-US" sz="2400" dirty="0"/>
              <a:t> are probably found somewhere </a:t>
            </a:r>
            <a:r>
              <a:rPr lang="en-US" sz="2400" b="1" dirty="0"/>
              <a:t>in</a:t>
            </a:r>
            <a:r>
              <a:rPr lang="en-US" sz="2400" dirty="0"/>
              <a:t> your </a:t>
            </a:r>
            <a:r>
              <a:rPr lang="en-US" sz="2400" b="1" dirty="0"/>
              <a:t>ERD</a:t>
            </a:r>
            <a:r>
              <a:rPr lang="en-US" sz="2400" dirty="0"/>
              <a:t>, as well as in the </a:t>
            </a:r>
            <a:r>
              <a:rPr lang="en-US" sz="2400" b="1" dirty="0"/>
              <a:t>data dictionary</a:t>
            </a:r>
            <a:r>
              <a:rPr lang="en-US" sz="2400" dirty="0"/>
              <a:t>.</a:t>
            </a:r>
          </a:p>
          <a:p>
            <a:pPr algn="just"/>
            <a:r>
              <a:rPr lang="en-US" sz="2400" dirty="0"/>
              <a:t>The display </a:t>
            </a:r>
            <a:r>
              <a:rPr lang="en-US" sz="2400" b="1" dirty="0"/>
              <a:t>fields</a:t>
            </a:r>
            <a:r>
              <a:rPr lang="en-US" sz="2400" dirty="0"/>
              <a:t> found </a:t>
            </a:r>
            <a:r>
              <a:rPr lang="en-US" sz="2400" b="1" dirty="0"/>
              <a:t>in</a:t>
            </a:r>
            <a:r>
              <a:rPr lang="en-US" sz="2400" dirty="0"/>
              <a:t> a </a:t>
            </a:r>
            <a:r>
              <a:rPr lang="en-US" sz="2400" b="1" dirty="0"/>
              <a:t>report</a:t>
            </a:r>
            <a:r>
              <a:rPr lang="en-US" sz="2400" dirty="0"/>
              <a:t> specification also should appear </a:t>
            </a:r>
            <a:r>
              <a:rPr lang="en-US" sz="2400" b="1" dirty="0"/>
              <a:t>in</a:t>
            </a:r>
            <a:r>
              <a:rPr lang="en-US" sz="2400" dirty="0"/>
              <a:t> the </a:t>
            </a:r>
            <a:r>
              <a:rPr lang="en-US" sz="2400" b="1" dirty="0"/>
              <a:t>data dictionary</a:t>
            </a:r>
          </a:p>
        </p:txBody>
      </p:sp>
    </p:spTree>
    <p:extLst>
      <p:ext uri="{BB962C8B-B14F-4D97-AF65-F5344CB8AC3E}">
        <p14:creationId xmlns:p14="http://schemas.microsoft.com/office/powerpoint/2010/main" val="39530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analysis</a:t>
            </a:r>
          </a:p>
        </p:txBody>
      </p:sp>
      <p:sp>
        <p:nvSpPr>
          <p:cNvPr id="3" name="Content Placeholder 2"/>
          <p:cNvSpPr>
            <a:spLocks noGrp="1"/>
          </p:cNvSpPr>
          <p:nvPr>
            <p:ph idx="1"/>
          </p:nvPr>
        </p:nvSpPr>
        <p:spPr>
          <a:xfrm>
            <a:off x="358895" y="1030763"/>
            <a:ext cx="8678639" cy="1425358"/>
          </a:xfrm>
        </p:spPr>
        <p:txBody>
          <a:bodyPr/>
          <a:lstStyle/>
          <a:p>
            <a:r>
              <a:rPr lang="en-US" sz="2400" dirty="0"/>
              <a:t>A </a:t>
            </a:r>
            <a:r>
              <a:rPr lang="en-US" sz="2400" b="1" dirty="0"/>
              <a:t>CRUD matrix </a:t>
            </a:r>
            <a:r>
              <a:rPr lang="en-US" sz="2400" dirty="0"/>
              <a:t>is a rigorous data analysis technique for </a:t>
            </a:r>
            <a:r>
              <a:rPr lang="en-US" sz="2400" b="1" dirty="0"/>
              <a:t>detecting</a:t>
            </a:r>
            <a:r>
              <a:rPr lang="en-US" sz="2400" dirty="0"/>
              <a:t> </a:t>
            </a:r>
            <a:r>
              <a:rPr lang="en-US" sz="2400" b="1" dirty="0"/>
              <a:t>missing requirements (</a:t>
            </a:r>
            <a:r>
              <a:rPr lang="en-US" sz="2400" b="1" i="1" dirty="0">
                <a:solidFill>
                  <a:srgbClr val="FF0000"/>
                </a:solidFill>
              </a:rPr>
              <a:t>which issue can be found in fig 13.5?</a:t>
            </a:r>
            <a:r>
              <a:rPr lang="en-US" sz="2400" b="1" dirty="0"/>
              <a:t>)</a:t>
            </a:r>
          </a:p>
          <a:p>
            <a:r>
              <a:rPr lang="en-US" sz="2400" dirty="0"/>
              <a:t>CRUD stands for Create, Read, Update, and Delete</a:t>
            </a:r>
          </a:p>
        </p:txBody>
      </p:sp>
      <p:pic>
        <p:nvPicPr>
          <p:cNvPr id="6" name="Picture 5">
            <a:extLst>
              <a:ext uri="{FF2B5EF4-FFF2-40B4-BE49-F238E27FC236}">
                <a16:creationId xmlns:a16="http://schemas.microsoft.com/office/drawing/2014/main" id="{F3569D61-3DBF-DECB-9C60-571E191CF6F5}"/>
              </a:ext>
            </a:extLst>
          </p:cNvPr>
          <p:cNvPicPr>
            <a:picLocks noChangeAspect="1"/>
          </p:cNvPicPr>
          <p:nvPr/>
        </p:nvPicPr>
        <p:blipFill>
          <a:blip r:embed="rId3"/>
          <a:stretch>
            <a:fillRect/>
          </a:stretch>
        </p:blipFill>
        <p:spPr>
          <a:xfrm>
            <a:off x="538161" y="2456121"/>
            <a:ext cx="8067675" cy="2771775"/>
          </a:xfrm>
          <a:prstGeom prst="rect">
            <a:avLst/>
          </a:prstGeom>
        </p:spPr>
      </p:pic>
      <p:sp>
        <p:nvSpPr>
          <p:cNvPr id="8" name="TextBox 7">
            <a:extLst>
              <a:ext uri="{FF2B5EF4-FFF2-40B4-BE49-F238E27FC236}">
                <a16:creationId xmlns:a16="http://schemas.microsoft.com/office/drawing/2014/main" id="{F57238D9-2173-D315-1340-32165E66F658}"/>
              </a:ext>
            </a:extLst>
          </p:cNvPr>
          <p:cNvSpPr txBox="1"/>
          <p:nvPr/>
        </p:nvSpPr>
        <p:spPr>
          <a:xfrm>
            <a:off x="480167" y="5329842"/>
            <a:ext cx="8125669" cy="307777"/>
          </a:xfrm>
          <a:prstGeom prst="rect">
            <a:avLst/>
          </a:prstGeom>
          <a:noFill/>
        </p:spPr>
        <p:txBody>
          <a:bodyPr wrap="square">
            <a:spAutoFit/>
          </a:bodyPr>
          <a:lstStyle/>
          <a:p>
            <a:r>
              <a:rPr lang="en-US" sz="1400" b="1" dirty="0"/>
              <a:t>FIGURE 13-5 </a:t>
            </a:r>
            <a:r>
              <a:rPr lang="en-US" sz="1400" dirty="0"/>
              <a:t>Sample CRUD matrix for the Chemical Tracking System.</a:t>
            </a:r>
            <a:endParaRPr lang="vi-VN" sz="1400" dirty="0"/>
          </a:p>
        </p:txBody>
      </p:sp>
    </p:spTree>
    <p:extLst>
      <p:ext uri="{BB962C8B-B14F-4D97-AF65-F5344CB8AC3E}">
        <p14:creationId xmlns:p14="http://schemas.microsoft.com/office/powerpoint/2010/main" val="3148055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Specifying reports</a:t>
            </a:r>
          </a:p>
        </p:txBody>
      </p:sp>
      <p:sp>
        <p:nvSpPr>
          <p:cNvPr id="3" name="Content Placeholder 2"/>
          <p:cNvSpPr>
            <a:spLocks noGrp="1"/>
          </p:cNvSpPr>
          <p:nvPr>
            <p:ph idx="1"/>
          </p:nvPr>
        </p:nvSpPr>
        <p:spPr/>
        <p:txBody>
          <a:bodyPr/>
          <a:lstStyle/>
          <a:p>
            <a:pPr algn="just"/>
            <a:r>
              <a:rPr lang="en-US" sz="2400" dirty="0"/>
              <a:t>Many applications generate </a:t>
            </a:r>
            <a:r>
              <a:rPr lang="en-US" sz="2400" b="1" dirty="0"/>
              <a:t>reports </a:t>
            </a:r>
            <a:r>
              <a:rPr lang="en-US" sz="2400" dirty="0"/>
              <a:t>from one or more </a:t>
            </a:r>
            <a:r>
              <a:rPr lang="en-US" sz="2400" b="1" dirty="0"/>
              <a:t>databases</a:t>
            </a:r>
            <a:r>
              <a:rPr lang="en-US" sz="2400" dirty="0"/>
              <a:t>, </a:t>
            </a:r>
            <a:r>
              <a:rPr lang="en-US" sz="2400" b="1" dirty="0"/>
              <a:t>files</a:t>
            </a:r>
            <a:r>
              <a:rPr lang="en-US" sz="2400" dirty="0"/>
              <a:t>, or </a:t>
            </a:r>
            <a:r>
              <a:rPr lang="en-US" sz="2400" b="1" dirty="0"/>
              <a:t>other</a:t>
            </a:r>
            <a:r>
              <a:rPr lang="en-US" sz="2400" dirty="0"/>
              <a:t> information </a:t>
            </a:r>
            <a:r>
              <a:rPr lang="en-US" sz="2400" b="1" dirty="0"/>
              <a:t>sources</a:t>
            </a:r>
            <a:r>
              <a:rPr lang="en-US" sz="2400" dirty="0"/>
              <a:t>. </a:t>
            </a:r>
          </a:p>
          <a:p>
            <a:pPr algn="just"/>
            <a:r>
              <a:rPr lang="en-US" sz="2400" dirty="0"/>
              <a:t>Reports can consist of traditional tabular presentations of </a:t>
            </a:r>
            <a:r>
              <a:rPr lang="en-US" sz="2400" b="1" dirty="0"/>
              <a:t>rows and columns</a:t>
            </a:r>
            <a:r>
              <a:rPr lang="en-US" sz="2400" dirty="0"/>
              <a:t> of data, </a:t>
            </a:r>
            <a:r>
              <a:rPr lang="en-US" sz="2400" b="1" dirty="0"/>
              <a:t>charts</a:t>
            </a:r>
            <a:r>
              <a:rPr lang="en-US" sz="2400" dirty="0"/>
              <a:t> and </a:t>
            </a:r>
            <a:r>
              <a:rPr lang="en-US" sz="2400" b="1" dirty="0"/>
              <a:t>graphs </a:t>
            </a:r>
            <a:r>
              <a:rPr lang="en-US" sz="2400" dirty="0"/>
              <a:t>of all types, or any </a:t>
            </a:r>
            <a:r>
              <a:rPr lang="en-US" sz="2400" b="1" dirty="0"/>
              <a:t>combination</a:t>
            </a:r>
            <a:r>
              <a:rPr lang="en-US" sz="2400" dirty="0"/>
              <a:t> </a:t>
            </a:r>
          </a:p>
          <a:p>
            <a:pPr algn="just"/>
            <a:r>
              <a:rPr lang="en-US" sz="2400" dirty="0"/>
              <a:t>Exploring the </a:t>
            </a:r>
            <a:r>
              <a:rPr lang="en-US" sz="2400" b="1" dirty="0"/>
              <a:t>content</a:t>
            </a:r>
            <a:r>
              <a:rPr lang="en-US" sz="2400" dirty="0"/>
              <a:t> and </a:t>
            </a:r>
            <a:r>
              <a:rPr lang="en-US" sz="2400" b="1" dirty="0"/>
              <a:t>format</a:t>
            </a:r>
            <a:r>
              <a:rPr lang="en-US" sz="2400" dirty="0"/>
              <a:t> of the reports needed is an important aspect of </a:t>
            </a:r>
            <a:r>
              <a:rPr lang="en-US" sz="2400" b="1" dirty="0"/>
              <a:t>requirements development</a:t>
            </a:r>
            <a:r>
              <a:rPr lang="en-US" sz="2400" dirty="0"/>
              <a:t>.</a:t>
            </a:r>
          </a:p>
          <a:p>
            <a:pPr algn="just"/>
            <a:r>
              <a:rPr lang="en-US" sz="2400" dirty="0"/>
              <a:t>Eliciting reporting requirements:</a:t>
            </a:r>
          </a:p>
          <a:p>
            <a:pPr lvl="1" algn="just"/>
            <a:r>
              <a:rPr lang="en-US" sz="2400" dirty="0"/>
              <a:t> Questions about the </a:t>
            </a:r>
            <a:r>
              <a:rPr lang="en-US" sz="2400" b="1" dirty="0"/>
              <a:t>context</a:t>
            </a:r>
            <a:r>
              <a:rPr lang="en-US" sz="2400" dirty="0"/>
              <a:t> for the reports and its </a:t>
            </a:r>
            <a:r>
              <a:rPr lang="en-US" sz="2400" b="1" dirty="0"/>
              <a:t>usage</a:t>
            </a:r>
            <a:r>
              <a:rPr lang="en-US" sz="2400" dirty="0"/>
              <a:t>: name, purpose, how to generate, the frequency, sizes, formats, how to dispose, how about security and privacy…</a:t>
            </a:r>
          </a:p>
          <a:p>
            <a:pPr lvl="1" algn="just"/>
            <a:r>
              <a:rPr lang="en-US" sz="2400" dirty="0"/>
              <a:t> Questions elicit the reports </a:t>
            </a:r>
            <a:r>
              <a:rPr lang="en-US" sz="2400" b="1" dirty="0"/>
              <a:t>information</a:t>
            </a:r>
            <a:r>
              <a:rPr lang="en-US" sz="2400" dirty="0"/>
              <a:t>: sources of data, parameters, calculations, how to sort…</a:t>
            </a:r>
          </a:p>
        </p:txBody>
      </p:sp>
    </p:spTree>
    <p:extLst>
      <p:ext uri="{BB962C8B-B14F-4D97-AF65-F5344CB8AC3E}">
        <p14:creationId xmlns:p14="http://schemas.microsoft.com/office/powerpoint/2010/main" val="598948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Specifying reports</a:t>
            </a:r>
          </a:p>
        </p:txBody>
      </p:sp>
      <p:sp>
        <p:nvSpPr>
          <p:cNvPr id="3" name="Content Placeholder 2"/>
          <p:cNvSpPr>
            <a:spLocks noGrp="1"/>
          </p:cNvSpPr>
          <p:nvPr>
            <p:ph idx="1"/>
          </p:nvPr>
        </p:nvSpPr>
        <p:spPr/>
        <p:txBody>
          <a:bodyPr>
            <a:normAutofit/>
          </a:bodyPr>
          <a:lstStyle/>
          <a:p>
            <a:pPr algn="just"/>
            <a:r>
              <a:rPr lang="en-US" sz="2400" dirty="0"/>
              <a:t>Report specification considerations </a:t>
            </a:r>
          </a:p>
          <a:p>
            <a:pPr lvl="1" algn="just"/>
            <a:r>
              <a:rPr lang="en-US" sz="2400" dirty="0"/>
              <a:t>Consider other variations </a:t>
            </a:r>
          </a:p>
          <a:p>
            <a:pPr lvl="1" algn="just"/>
            <a:r>
              <a:rPr lang="en-US" sz="2400" dirty="0"/>
              <a:t>Find the data </a:t>
            </a:r>
          </a:p>
          <a:p>
            <a:pPr lvl="1" algn="just"/>
            <a:r>
              <a:rPr lang="en-US" sz="2400" dirty="0"/>
              <a:t>Anticipate growth </a:t>
            </a:r>
          </a:p>
          <a:p>
            <a:pPr lvl="1" algn="just"/>
            <a:r>
              <a:rPr lang="en-US" sz="2400" dirty="0"/>
              <a:t>Look for similarities</a:t>
            </a:r>
          </a:p>
          <a:p>
            <a:pPr lvl="1" algn="just"/>
            <a:r>
              <a:rPr lang="en-US" sz="2400" dirty="0"/>
              <a:t>Distinguish static and dynamic reports </a:t>
            </a:r>
          </a:p>
          <a:p>
            <a:pPr lvl="1" algn="just"/>
            <a:r>
              <a:rPr lang="en-US" sz="2400" dirty="0"/>
              <a:t>Prototype reports </a:t>
            </a:r>
          </a:p>
          <a:p>
            <a:pPr algn="just"/>
            <a:r>
              <a:rPr lang="en-US" sz="2400" dirty="0"/>
              <a:t>A report specification template – next slide: page 255</a:t>
            </a:r>
          </a:p>
        </p:txBody>
      </p:sp>
    </p:spTree>
    <p:extLst>
      <p:ext uri="{BB962C8B-B14F-4D97-AF65-F5344CB8AC3E}">
        <p14:creationId xmlns:p14="http://schemas.microsoft.com/office/powerpoint/2010/main" val="3378531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report specification template</a:t>
            </a:r>
            <a:endParaRPr lang="en-US" sz="4400" dirty="0"/>
          </a:p>
        </p:txBody>
      </p:sp>
      <p:grpSp>
        <p:nvGrpSpPr>
          <p:cNvPr id="25" name="Group 24">
            <a:extLst>
              <a:ext uri="{FF2B5EF4-FFF2-40B4-BE49-F238E27FC236}">
                <a16:creationId xmlns:a16="http://schemas.microsoft.com/office/drawing/2014/main" id="{B8B36DF8-1D2B-63F4-9594-74999B7CAE88}"/>
              </a:ext>
            </a:extLst>
          </p:cNvPr>
          <p:cNvGrpSpPr/>
          <p:nvPr/>
        </p:nvGrpSpPr>
        <p:grpSpPr>
          <a:xfrm>
            <a:off x="1" y="1015173"/>
            <a:ext cx="9143999" cy="5506707"/>
            <a:chOff x="1" y="1015173"/>
            <a:chExt cx="9143999" cy="5506707"/>
          </a:xfrm>
        </p:grpSpPr>
        <p:pic>
          <p:nvPicPr>
            <p:cNvPr id="11" name="Picture 10">
              <a:extLst>
                <a:ext uri="{FF2B5EF4-FFF2-40B4-BE49-F238E27FC236}">
                  <a16:creationId xmlns:a16="http://schemas.microsoft.com/office/drawing/2014/main" id="{29AF2709-4339-46B3-6C64-68540C801B4B}"/>
                </a:ext>
              </a:extLst>
            </p:cNvPr>
            <p:cNvPicPr>
              <a:picLocks noChangeAspect="1"/>
            </p:cNvPicPr>
            <p:nvPr/>
          </p:nvPicPr>
          <p:blipFill>
            <a:blip r:embed="rId3"/>
            <a:stretch>
              <a:fillRect/>
            </a:stretch>
          </p:blipFill>
          <p:spPr>
            <a:xfrm>
              <a:off x="1" y="1015173"/>
              <a:ext cx="4558332" cy="2734036"/>
            </a:xfrm>
            <a:prstGeom prst="rect">
              <a:avLst/>
            </a:prstGeom>
          </p:spPr>
        </p:pic>
        <p:pic>
          <p:nvPicPr>
            <p:cNvPr id="16" name="Picture 15">
              <a:extLst>
                <a:ext uri="{FF2B5EF4-FFF2-40B4-BE49-F238E27FC236}">
                  <a16:creationId xmlns:a16="http://schemas.microsoft.com/office/drawing/2014/main" id="{D1033985-5499-8591-B1CD-FE857C1C5403}"/>
                </a:ext>
              </a:extLst>
            </p:cNvPr>
            <p:cNvPicPr>
              <a:picLocks noChangeAspect="1"/>
            </p:cNvPicPr>
            <p:nvPr/>
          </p:nvPicPr>
          <p:blipFill>
            <a:blip r:embed="rId4"/>
            <a:stretch>
              <a:fillRect/>
            </a:stretch>
          </p:blipFill>
          <p:spPr>
            <a:xfrm>
              <a:off x="1" y="3847236"/>
              <a:ext cx="4572000" cy="2674644"/>
            </a:xfrm>
            <a:prstGeom prst="rect">
              <a:avLst/>
            </a:prstGeom>
          </p:spPr>
        </p:pic>
        <p:pic>
          <p:nvPicPr>
            <p:cNvPr id="18" name="Picture 17">
              <a:extLst>
                <a:ext uri="{FF2B5EF4-FFF2-40B4-BE49-F238E27FC236}">
                  <a16:creationId xmlns:a16="http://schemas.microsoft.com/office/drawing/2014/main" id="{47E8EA5F-31F5-9251-89AA-CB2FABDA5069}"/>
                </a:ext>
              </a:extLst>
            </p:cNvPr>
            <p:cNvPicPr>
              <a:picLocks noChangeAspect="1"/>
            </p:cNvPicPr>
            <p:nvPr/>
          </p:nvPicPr>
          <p:blipFill>
            <a:blip r:embed="rId5"/>
            <a:stretch>
              <a:fillRect/>
            </a:stretch>
          </p:blipFill>
          <p:spPr>
            <a:xfrm>
              <a:off x="4558333" y="1208492"/>
              <a:ext cx="4582950" cy="2107770"/>
            </a:xfrm>
            <a:prstGeom prst="rect">
              <a:avLst/>
            </a:prstGeom>
          </p:spPr>
        </p:pic>
        <p:pic>
          <p:nvPicPr>
            <p:cNvPr id="20" name="Picture 19">
              <a:extLst>
                <a:ext uri="{FF2B5EF4-FFF2-40B4-BE49-F238E27FC236}">
                  <a16:creationId xmlns:a16="http://schemas.microsoft.com/office/drawing/2014/main" id="{8D827D03-8FBD-77BB-FBF0-109FFD291C3D}"/>
                </a:ext>
              </a:extLst>
            </p:cNvPr>
            <p:cNvPicPr>
              <a:picLocks noChangeAspect="1"/>
            </p:cNvPicPr>
            <p:nvPr/>
          </p:nvPicPr>
          <p:blipFill>
            <a:blip r:embed="rId6"/>
            <a:stretch>
              <a:fillRect/>
            </a:stretch>
          </p:blipFill>
          <p:spPr>
            <a:xfrm>
              <a:off x="4585669" y="3316262"/>
              <a:ext cx="4558331" cy="803273"/>
            </a:xfrm>
            <a:prstGeom prst="rect">
              <a:avLst/>
            </a:prstGeom>
          </p:spPr>
        </p:pic>
        <p:pic>
          <p:nvPicPr>
            <p:cNvPr id="22" name="Picture 21">
              <a:extLst>
                <a:ext uri="{FF2B5EF4-FFF2-40B4-BE49-F238E27FC236}">
                  <a16:creationId xmlns:a16="http://schemas.microsoft.com/office/drawing/2014/main" id="{447329F0-152E-82AB-87CB-15C1B39625BF}"/>
                </a:ext>
              </a:extLst>
            </p:cNvPr>
            <p:cNvPicPr>
              <a:picLocks noChangeAspect="1"/>
            </p:cNvPicPr>
            <p:nvPr/>
          </p:nvPicPr>
          <p:blipFill>
            <a:blip r:embed="rId7"/>
            <a:stretch>
              <a:fillRect/>
            </a:stretch>
          </p:blipFill>
          <p:spPr>
            <a:xfrm>
              <a:off x="4563808" y="1015173"/>
              <a:ext cx="4572000" cy="193319"/>
            </a:xfrm>
            <a:prstGeom prst="rect">
              <a:avLst/>
            </a:prstGeom>
          </p:spPr>
        </p:pic>
        <p:sp>
          <p:nvSpPr>
            <p:cNvPr id="24" name="TextBox 23">
              <a:extLst>
                <a:ext uri="{FF2B5EF4-FFF2-40B4-BE49-F238E27FC236}">
                  <a16:creationId xmlns:a16="http://schemas.microsoft.com/office/drawing/2014/main" id="{52E4E1D1-7629-B97C-C3EE-8A62D1743321}"/>
                </a:ext>
              </a:extLst>
            </p:cNvPr>
            <p:cNvSpPr txBox="1"/>
            <p:nvPr/>
          </p:nvSpPr>
          <p:spPr>
            <a:xfrm>
              <a:off x="4558333" y="4217562"/>
              <a:ext cx="4572000" cy="307777"/>
            </a:xfrm>
            <a:prstGeom prst="rect">
              <a:avLst/>
            </a:prstGeom>
            <a:noFill/>
          </p:spPr>
          <p:txBody>
            <a:bodyPr wrap="square">
              <a:spAutoFit/>
            </a:bodyPr>
            <a:lstStyle/>
            <a:p>
              <a:r>
                <a:rPr lang="vi-VN" sz="1400" b="1" dirty="0">
                  <a:latin typeface="Aptos" panose="020B0004020202020204" pitchFamily="34" charset="0"/>
                </a:rPr>
                <a:t>FIGURE 13-6 </a:t>
              </a:r>
              <a:r>
                <a:rPr lang="vi-VN" sz="1400" dirty="0">
                  <a:latin typeface="Aptos" panose="020B0004020202020204" pitchFamily="34" charset="0"/>
                </a:rPr>
                <a:t>A </a:t>
              </a:r>
              <a:r>
                <a:rPr lang="vi-VN" sz="1400" dirty="0" err="1">
                  <a:latin typeface="Aptos" panose="020B0004020202020204" pitchFamily="34" charset="0"/>
                </a:rPr>
                <a:t>report</a:t>
              </a:r>
              <a:r>
                <a:rPr lang="vi-VN" sz="1400" dirty="0">
                  <a:latin typeface="Aptos" panose="020B0004020202020204" pitchFamily="34" charset="0"/>
                </a:rPr>
                <a:t> </a:t>
              </a:r>
              <a:r>
                <a:rPr lang="vi-VN" sz="1400" dirty="0" err="1">
                  <a:latin typeface="Aptos" panose="020B0004020202020204" pitchFamily="34" charset="0"/>
                </a:rPr>
                <a:t>specification</a:t>
              </a:r>
              <a:r>
                <a:rPr lang="vi-VN" sz="1400" dirty="0">
                  <a:latin typeface="Aptos" panose="020B0004020202020204" pitchFamily="34" charset="0"/>
                </a:rPr>
                <a:t> </a:t>
              </a:r>
              <a:r>
                <a:rPr lang="vi-VN" sz="1400" dirty="0" err="1">
                  <a:latin typeface="Aptos" panose="020B0004020202020204" pitchFamily="34" charset="0"/>
                </a:rPr>
                <a:t>template</a:t>
              </a:r>
              <a:r>
                <a:rPr lang="vi-VN" sz="1400" dirty="0">
                  <a:latin typeface="Aptos" panose="020B0004020202020204" pitchFamily="34" charset="0"/>
                </a:rPr>
                <a:t>.</a:t>
              </a:r>
            </a:p>
          </p:txBody>
        </p:sp>
      </p:grpSp>
    </p:spTree>
    <p:extLst>
      <p:ext uri="{BB962C8B-B14F-4D97-AF65-F5344CB8AC3E}">
        <p14:creationId xmlns:p14="http://schemas.microsoft.com/office/powerpoint/2010/main" val="1467698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Dashboard reporting</a:t>
            </a:r>
          </a:p>
        </p:txBody>
      </p:sp>
      <p:sp>
        <p:nvSpPr>
          <p:cNvPr id="3" name="Content Placeholder 2"/>
          <p:cNvSpPr>
            <a:spLocks noGrp="1"/>
          </p:cNvSpPr>
          <p:nvPr>
            <p:ph idx="1"/>
          </p:nvPr>
        </p:nvSpPr>
        <p:spPr/>
        <p:txBody>
          <a:bodyPr>
            <a:noAutofit/>
          </a:bodyPr>
          <a:lstStyle/>
          <a:p>
            <a:pPr algn="just"/>
            <a:r>
              <a:rPr lang="en-US" sz="2400" dirty="0"/>
              <a:t>Definition: A dashboard is a screen display or printed report that uses </a:t>
            </a:r>
            <a:r>
              <a:rPr lang="en-US" sz="2400" b="1" dirty="0"/>
              <a:t>multiple textual </a:t>
            </a:r>
            <a:r>
              <a:rPr lang="en-US" sz="2400" dirty="0"/>
              <a:t>and/or </a:t>
            </a:r>
            <a:r>
              <a:rPr lang="en-US" sz="2400" b="1" dirty="0"/>
              <a:t>graphical</a:t>
            </a:r>
            <a:r>
              <a:rPr lang="en-US" sz="2400" dirty="0"/>
              <a:t>  representations of data to provide a consolidated, multidimensional view of what is going on in an organization or a process. Companies often use dashboards to pull together information about sales, expenses, key performance indicators (KPIs) etc.</a:t>
            </a:r>
          </a:p>
          <a:p>
            <a:pPr algn="just"/>
            <a:r>
              <a:rPr lang="en-US" sz="2400" dirty="0"/>
              <a:t>How to build:</a:t>
            </a:r>
          </a:p>
          <a:p>
            <a:pPr lvl="1" algn="just"/>
            <a:r>
              <a:rPr lang="en-US" sz="2175" dirty="0"/>
              <a:t>Determine </a:t>
            </a:r>
            <a:r>
              <a:rPr lang="en-US" sz="2175" b="1" dirty="0"/>
              <a:t>what</a:t>
            </a:r>
            <a:r>
              <a:rPr lang="en-US" sz="2175" dirty="0"/>
              <a:t> information </a:t>
            </a:r>
            <a:r>
              <a:rPr lang="en-US" sz="2175" b="1" dirty="0"/>
              <a:t>need</a:t>
            </a:r>
            <a:r>
              <a:rPr lang="en-US" sz="2175" dirty="0"/>
              <a:t> for dashboard users</a:t>
            </a:r>
          </a:p>
          <a:p>
            <a:pPr lvl="1" algn="just"/>
            <a:r>
              <a:rPr lang="en-US" sz="2175" dirty="0"/>
              <a:t>Consider </a:t>
            </a:r>
            <a:r>
              <a:rPr lang="en-US" sz="2175" b="1" dirty="0"/>
              <a:t>each</a:t>
            </a:r>
            <a:r>
              <a:rPr lang="en-US" sz="2175" dirty="0"/>
              <a:t> information is a “</a:t>
            </a:r>
            <a:r>
              <a:rPr lang="en-US" sz="2175" b="1" dirty="0"/>
              <a:t>mini-report</a:t>
            </a:r>
            <a:r>
              <a:rPr lang="en-US" sz="2175" dirty="0"/>
              <a:t>”</a:t>
            </a:r>
          </a:p>
          <a:p>
            <a:pPr lvl="1" algn="just"/>
            <a:r>
              <a:rPr lang="en-US" sz="2175" dirty="0"/>
              <a:t>Consider the most appropriate </a:t>
            </a:r>
            <a:r>
              <a:rPr lang="en-US" sz="2175" b="1" dirty="0"/>
              <a:t>display techniques for each “mini-report”</a:t>
            </a:r>
            <a:r>
              <a:rPr lang="en-US" sz="2175" dirty="0"/>
              <a:t> included the display patterns (colors…)</a:t>
            </a:r>
          </a:p>
          <a:p>
            <a:pPr lvl="1" algn="just"/>
            <a:r>
              <a:rPr lang="en-US" sz="2175" b="1" dirty="0"/>
              <a:t>Prototyping</a:t>
            </a:r>
            <a:r>
              <a:rPr lang="en-US" sz="2175" dirty="0"/>
              <a:t> is an excellent approach</a:t>
            </a:r>
          </a:p>
        </p:txBody>
      </p:sp>
    </p:spTree>
    <p:extLst>
      <p:ext uri="{BB962C8B-B14F-4D97-AF65-F5344CB8AC3E}">
        <p14:creationId xmlns:p14="http://schemas.microsoft.com/office/powerpoint/2010/main" val="492837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Dashboard reporting</a:t>
            </a:r>
          </a:p>
        </p:txBody>
      </p:sp>
      <p:pic>
        <p:nvPicPr>
          <p:cNvPr id="4" name="Picture 3">
            <a:extLst>
              <a:ext uri="{FF2B5EF4-FFF2-40B4-BE49-F238E27FC236}">
                <a16:creationId xmlns:a16="http://schemas.microsoft.com/office/drawing/2014/main" id="{985F38F5-99BD-3C66-98A7-E3BC439D9C12}"/>
              </a:ext>
            </a:extLst>
          </p:cNvPr>
          <p:cNvPicPr>
            <a:picLocks noChangeAspect="1"/>
          </p:cNvPicPr>
          <p:nvPr/>
        </p:nvPicPr>
        <p:blipFill>
          <a:blip r:embed="rId3"/>
          <a:stretch>
            <a:fillRect/>
          </a:stretch>
        </p:blipFill>
        <p:spPr>
          <a:xfrm>
            <a:off x="693791" y="1001175"/>
            <a:ext cx="7756417" cy="5345143"/>
          </a:xfrm>
          <a:prstGeom prst="rect">
            <a:avLst/>
          </a:prstGeom>
        </p:spPr>
      </p:pic>
      <p:sp>
        <p:nvSpPr>
          <p:cNvPr id="7" name="TextBox 6">
            <a:extLst>
              <a:ext uri="{FF2B5EF4-FFF2-40B4-BE49-F238E27FC236}">
                <a16:creationId xmlns:a16="http://schemas.microsoft.com/office/drawing/2014/main" id="{CC0074E3-F568-C034-AEFE-7C8C1818C5D6}"/>
              </a:ext>
            </a:extLst>
          </p:cNvPr>
          <p:cNvSpPr txBox="1"/>
          <p:nvPr/>
        </p:nvSpPr>
        <p:spPr>
          <a:xfrm>
            <a:off x="624049" y="6346318"/>
            <a:ext cx="7756417" cy="307777"/>
          </a:xfrm>
          <a:prstGeom prst="rect">
            <a:avLst/>
          </a:prstGeom>
          <a:noFill/>
        </p:spPr>
        <p:txBody>
          <a:bodyPr wrap="square">
            <a:spAutoFit/>
          </a:bodyPr>
          <a:lstStyle/>
          <a:p>
            <a:r>
              <a:rPr lang="en-US" sz="1400" b="1" dirty="0"/>
              <a:t>FIGURE 13-7 </a:t>
            </a:r>
            <a:r>
              <a:rPr lang="en-US" sz="1400" dirty="0"/>
              <a:t>Hypothetical reporting dashboard for a charitable foundation.</a:t>
            </a:r>
            <a:endParaRPr lang="vi-VN" sz="1400" dirty="0"/>
          </a:p>
        </p:txBody>
      </p:sp>
    </p:spTree>
    <p:extLst>
      <p:ext uri="{BB962C8B-B14F-4D97-AF65-F5344CB8AC3E}">
        <p14:creationId xmlns:p14="http://schemas.microsoft.com/office/powerpoint/2010/main" val="2710398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4835E2C-4F2A-B35C-EB44-F8B6B4D37604}"/>
              </a:ext>
            </a:extLst>
          </p:cNvPr>
          <p:cNvSpPr>
            <a:spLocks noGrp="1"/>
          </p:cNvSpPr>
          <p:nvPr>
            <p:ph idx="1"/>
          </p:nvPr>
        </p:nvSpPr>
        <p:spPr/>
        <p:txBody>
          <a:bodyPr/>
          <a:lstStyle/>
          <a:p>
            <a:r>
              <a:rPr lang="en-US" dirty="0"/>
              <a:t>What do we learn from today lesson?</a:t>
            </a:r>
          </a:p>
        </p:txBody>
      </p:sp>
    </p:spTree>
    <p:extLst>
      <p:ext uri="{BB962C8B-B14F-4D97-AF65-F5344CB8AC3E}">
        <p14:creationId xmlns:p14="http://schemas.microsoft.com/office/powerpoint/2010/main" val="1947547209"/>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ptos Display"/>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EB6DEE63-BE41-41AB-9512-0AD4948D9815}" vid="{C06A2116-4534-44AC-A79C-40D866AE0D3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7711</TotalTime>
  <Words>790</Words>
  <Application>Microsoft Office PowerPoint</Application>
  <PresentationFormat>On-screen Show (4:3)</PresentationFormat>
  <Paragraphs>87</Paragraphs>
  <Slides>19</Slides>
  <Notes>15</Notes>
  <HiddenSlides>1</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Aptos Display</vt:lpstr>
      <vt:lpstr>Arial</vt:lpstr>
      <vt:lpstr>Calibri</vt:lpstr>
      <vt:lpstr>Myriad Pro</vt:lpstr>
      <vt:lpstr>Theme2</vt:lpstr>
      <vt:lpstr>Custom Design</vt:lpstr>
      <vt:lpstr>Review the last lesson</vt:lpstr>
      <vt:lpstr>CHAPTER 13 Specifying data requirements </vt:lpstr>
      <vt:lpstr>Objectives</vt:lpstr>
      <vt:lpstr>Contents</vt:lpstr>
      <vt:lpstr>Data modeling</vt:lpstr>
      <vt:lpstr>Entity Relationship Diagram (ERD)</vt:lpstr>
      <vt:lpstr>ERD Example</vt:lpstr>
      <vt:lpstr>ERD: Other notations</vt:lpstr>
      <vt:lpstr>The data dictionary</vt:lpstr>
      <vt:lpstr>The data dictionary - Example</vt:lpstr>
      <vt:lpstr>PowerPoint Presentation</vt:lpstr>
      <vt:lpstr>Data analysis</vt:lpstr>
      <vt:lpstr>Data analysis</vt:lpstr>
      <vt:lpstr>Specifying reports</vt:lpstr>
      <vt:lpstr>Specifying reports</vt:lpstr>
      <vt:lpstr>A report specification template</vt:lpstr>
      <vt:lpstr>Dashboard reporting</vt:lpstr>
      <vt:lpstr>Dashboard reporting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Hung Nguyen Manh</cp:lastModifiedBy>
  <cp:revision>57</cp:revision>
  <cp:lastPrinted>2020-10-13T16:17:10Z</cp:lastPrinted>
  <dcterms:created xsi:type="dcterms:W3CDTF">2018-04-24T06:50:23Z</dcterms:created>
  <dcterms:modified xsi:type="dcterms:W3CDTF">2024-06-04T04:50:27Z</dcterms:modified>
</cp:coreProperties>
</file>