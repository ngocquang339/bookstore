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1" r:id="rId2"/>
  </p:sldMasterIdLst>
  <p:notesMasterIdLst>
    <p:notesMasterId r:id="rId39"/>
  </p:notesMasterIdLst>
  <p:sldIdLst>
    <p:sldId id="290" r:id="rId3"/>
    <p:sldId id="257" r:id="rId4"/>
    <p:sldId id="258" r:id="rId5"/>
    <p:sldId id="259" r:id="rId6"/>
    <p:sldId id="288" r:id="rId7"/>
    <p:sldId id="260" r:id="rId8"/>
    <p:sldId id="293" r:id="rId9"/>
    <p:sldId id="269" r:id="rId10"/>
    <p:sldId id="270" r:id="rId11"/>
    <p:sldId id="271" r:id="rId12"/>
    <p:sldId id="291" r:id="rId13"/>
    <p:sldId id="272" r:id="rId14"/>
    <p:sldId id="274" r:id="rId15"/>
    <p:sldId id="275" r:id="rId16"/>
    <p:sldId id="276" r:id="rId17"/>
    <p:sldId id="277" r:id="rId18"/>
    <p:sldId id="278" r:id="rId19"/>
    <p:sldId id="279" r:id="rId20"/>
    <p:sldId id="281" r:id="rId21"/>
    <p:sldId id="282" r:id="rId22"/>
    <p:sldId id="284" r:id="rId23"/>
    <p:sldId id="285" r:id="rId24"/>
    <p:sldId id="286" r:id="rId25"/>
    <p:sldId id="287" r:id="rId26"/>
    <p:sldId id="261" r:id="rId27"/>
    <p:sldId id="294" r:id="rId28"/>
    <p:sldId id="265" r:id="rId29"/>
    <p:sldId id="295" r:id="rId30"/>
    <p:sldId id="296" r:id="rId31"/>
    <p:sldId id="292" r:id="rId32"/>
    <p:sldId id="266" r:id="rId33"/>
    <p:sldId id="267" r:id="rId34"/>
    <p:sldId id="263" r:id="rId35"/>
    <p:sldId id="264" r:id="rId36"/>
    <p:sldId id="268" r:id="rId37"/>
    <p:sldId id="289"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764" autoAdjust="0"/>
    <p:restoredTop sz="96616" autoAdjust="0"/>
  </p:normalViewPr>
  <p:slideViewPr>
    <p:cSldViewPr snapToGrid="0">
      <p:cViewPr varScale="1">
        <p:scale>
          <a:sx n="123" d="100"/>
          <a:sy n="123" d="100"/>
        </p:scale>
        <p:origin x="11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A98CED-E59D-4B7C-941B-E7A4655E89A7}" type="doc">
      <dgm:prSet loTypeId="urn:microsoft.com/office/officeart/2016/7/layout/BasicLinearProcessNumbered" loCatId="process" qsTypeId="urn:microsoft.com/office/officeart/2005/8/quickstyle/simple2" qsCatId="simple" csTypeId="urn:microsoft.com/office/officeart/2005/8/colors/accent1_2" csCatId="accent1"/>
      <dgm:spPr/>
      <dgm:t>
        <a:bodyPr/>
        <a:lstStyle/>
        <a:p>
          <a:endParaRPr lang="en-US"/>
        </a:p>
      </dgm:t>
    </dgm:pt>
    <dgm:pt modelId="{BC34007E-26FB-4C0F-97C9-6FB48F1EA66A}">
      <dgm:prSet/>
      <dgm:spPr/>
      <dgm:t>
        <a:bodyPr/>
        <a:lstStyle/>
        <a:p>
          <a:r>
            <a:rPr lang="en-US" dirty="0"/>
            <a:t>Understand the role of </a:t>
          </a:r>
          <a:r>
            <a:rPr lang="en-US" b="1" dirty="0"/>
            <a:t>quality requirements </a:t>
          </a:r>
          <a:r>
            <a:rPr lang="en-US" dirty="0"/>
            <a:t>in software development.</a:t>
          </a:r>
        </a:p>
      </dgm:t>
    </dgm:pt>
    <dgm:pt modelId="{03615139-6FBF-490F-BF0E-F7CBD5605E82}" type="parTrans" cxnId="{F777579E-7520-4324-A0D0-18FEAFA4EB78}">
      <dgm:prSet/>
      <dgm:spPr/>
      <dgm:t>
        <a:bodyPr/>
        <a:lstStyle/>
        <a:p>
          <a:endParaRPr lang="en-US"/>
        </a:p>
      </dgm:t>
    </dgm:pt>
    <dgm:pt modelId="{0AFA553A-8A3E-4FFF-8D83-289253B84B88}" type="sibTrans" cxnId="{F777579E-7520-4324-A0D0-18FEAFA4EB78}">
      <dgm:prSet phldrT="1" phldr="0"/>
      <dgm:spPr/>
      <dgm:t>
        <a:bodyPr/>
        <a:lstStyle/>
        <a:p>
          <a:r>
            <a:rPr lang="en-US"/>
            <a:t>1</a:t>
          </a:r>
        </a:p>
      </dgm:t>
    </dgm:pt>
    <dgm:pt modelId="{35DFA74B-5A09-4733-AA06-FC5260BF83DB}">
      <dgm:prSet/>
      <dgm:spPr/>
      <dgm:t>
        <a:bodyPr/>
        <a:lstStyle/>
        <a:p>
          <a:r>
            <a:rPr lang="en-US" dirty="0"/>
            <a:t>Be able to </a:t>
          </a:r>
          <a:r>
            <a:rPr lang="en-US" b="1" dirty="0"/>
            <a:t>define</a:t>
          </a:r>
          <a:r>
            <a:rPr lang="en-US" dirty="0"/>
            <a:t> and </a:t>
          </a:r>
          <a:r>
            <a:rPr lang="en-US" b="1" dirty="0"/>
            <a:t>specify</a:t>
          </a:r>
          <a:r>
            <a:rPr lang="en-US" dirty="0"/>
            <a:t> nonfunctional requirements.</a:t>
          </a:r>
        </a:p>
      </dgm:t>
    </dgm:pt>
    <dgm:pt modelId="{5B748B50-EB57-42A7-80FF-989F1BC930A6}" type="parTrans" cxnId="{607BA2CA-1FF3-4855-BD92-28C0CA8BEB0A}">
      <dgm:prSet/>
      <dgm:spPr/>
      <dgm:t>
        <a:bodyPr/>
        <a:lstStyle/>
        <a:p>
          <a:endParaRPr lang="en-US"/>
        </a:p>
      </dgm:t>
    </dgm:pt>
    <dgm:pt modelId="{17DE84DF-7286-450B-87BC-E7318C341F15}" type="sibTrans" cxnId="{607BA2CA-1FF3-4855-BD92-28C0CA8BEB0A}">
      <dgm:prSet phldrT="2" phldr="0"/>
      <dgm:spPr/>
      <dgm:t>
        <a:bodyPr/>
        <a:lstStyle/>
        <a:p>
          <a:r>
            <a:rPr lang="en-US"/>
            <a:t>2</a:t>
          </a:r>
        </a:p>
      </dgm:t>
    </dgm:pt>
    <dgm:pt modelId="{32B1B904-2EAC-45E4-8FD6-F4A81B485ADB}">
      <dgm:prSet/>
      <dgm:spPr/>
      <dgm:t>
        <a:bodyPr/>
        <a:lstStyle/>
        <a:p>
          <a:r>
            <a:rPr lang="en-US"/>
            <a:t>Understand the quality attributes on agile projects.</a:t>
          </a:r>
        </a:p>
      </dgm:t>
    </dgm:pt>
    <dgm:pt modelId="{D79265DC-AB7E-47C4-A005-4AC6A569AA29}" type="parTrans" cxnId="{F9440A26-5787-46FE-8BFA-B821F455CB4F}">
      <dgm:prSet/>
      <dgm:spPr/>
      <dgm:t>
        <a:bodyPr/>
        <a:lstStyle/>
        <a:p>
          <a:endParaRPr lang="en-US"/>
        </a:p>
      </dgm:t>
    </dgm:pt>
    <dgm:pt modelId="{617B899A-6BE5-4B14-8F69-EBA633673EA6}" type="sibTrans" cxnId="{F9440A26-5787-46FE-8BFA-B821F455CB4F}">
      <dgm:prSet phldrT="3" phldr="0"/>
      <dgm:spPr/>
      <dgm:t>
        <a:bodyPr/>
        <a:lstStyle/>
        <a:p>
          <a:r>
            <a:rPr lang="en-US"/>
            <a:t>3</a:t>
          </a:r>
        </a:p>
      </dgm:t>
    </dgm:pt>
    <dgm:pt modelId="{D387CE02-DE01-48AA-9E52-F83DECFD1AC2}" type="pres">
      <dgm:prSet presAssocID="{D0A98CED-E59D-4B7C-941B-E7A4655E89A7}" presName="Name0" presStyleCnt="0">
        <dgm:presLayoutVars>
          <dgm:animLvl val="lvl"/>
          <dgm:resizeHandles val="exact"/>
        </dgm:presLayoutVars>
      </dgm:prSet>
      <dgm:spPr/>
    </dgm:pt>
    <dgm:pt modelId="{6392866F-4A06-4F3F-947A-AD087EEE01F9}" type="pres">
      <dgm:prSet presAssocID="{BC34007E-26FB-4C0F-97C9-6FB48F1EA66A}" presName="compositeNode" presStyleCnt="0">
        <dgm:presLayoutVars>
          <dgm:bulletEnabled val="1"/>
        </dgm:presLayoutVars>
      </dgm:prSet>
      <dgm:spPr/>
    </dgm:pt>
    <dgm:pt modelId="{9583FC95-F389-4552-AAD1-F2132DDFC224}" type="pres">
      <dgm:prSet presAssocID="{BC34007E-26FB-4C0F-97C9-6FB48F1EA66A}" presName="bgRect" presStyleLbl="bgAccFollowNode1" presStyleIdx="0" presStyleCnt="3"/>
      <dgm:spPr/>
    </dgm:pt>
    <dgm:pt modelId="{F2DBEFF2-4FAB-4A9C-8382-3733A1AEECA3}" type="pres">
      <dgm:prSet presAssocID="{0AFA553A-8A3E-4FFF-8D83-289253B84B88}" presName="sibTransNodeCircle" presStyleLbl="alignNode1" presStyleIdx="0" presStyleCnt="6">
        <dgm:presLayoutVars>
          <dgm:chMax val="0"/>
          <dgm:bulletEnabled/>
        </dgm:presLayoutVars>
      </dgm:prSet>
      <dgm:spPr/>
    </dgm:pt>
    <dgm:pt modelId="{1067A410-88CF-4DB0-9990-90A7324E4AB2}" type="pres">
      <dgm:prSet presAssocID="{BC34007E-26FB-4C0F-97C9-6FB48F1EA66A}" presName="bottomLine" presStyleLbl="alignNode1" presStyleIdx="1" presStyleCnt="6">
        <dgm:presLayoutVars/>
      </dgm:prSet>
      <dgm:spPr/>
    </dgm:pt>
    <dgm:pt modelId="{5639676C-3544-40C1-8A6E-CE2320CA6D76}" type="pres">
      <dgm:prSet presAssocID="{BC34007E-26FB-4C0F-97C9-6FB48F1EA66A}" presName="nodeText" presStyleLbl="bgAccFollowNode1" presStyleIdx="0" presStyleCnt="3">
        <dgm:presLayoutVars>
          <dgm:bulletEnabled val="1"/>
        </dgm:presLayoutVars>
      </dgm:prSet>
      <dgm:spPr/>
    </dgm:pt>
    <dgm:pt modelId="{F621828F-ABA1-4648-B553-F08708AB174F}" type="pres">
      <dgm:prSet presAssocID="{0AFA553A-8A3E-4FFF-8D83-289253B84B88}" presName="sibTrans" presStyleCnt="0"/>
      <dgm:spPr/>
    </dgm:pt>
    <dgm:pt modelId="{011B33B2-DB8B-451F-B08B-9E6F9C24B544}" type="pres">
      <dgm:prSet presAssocID="{35DFA74B-5A09-4733-AA06-FC5260BF83DB}" presName="compositeNode" presStyleCnt="0">
        <dgm:presLayoutVars>
          <dgm:bulletEnabled val="1"/>
        </dgm:presLayoutVars>
      </dgm:prSet>
      <dgm:spPr/>
    </dgm:pt>
    <dgm:pt modelId="{4575B76E-72A8-44EA-BB1B-8E6AE35FA8B6}" type="pres">
      <dgm:prSet presAssocID="{35DFA74B-5A09-4733-AA06-FC5260BF83DB}" presName="bgRect" presStyleLbl="bgAccFollowNode1" presStyleIdx="1" presStyleCnt="3"/>
      <dgm:spPr/>
    </dgm:pt>
    <dgm:pt modelId="{B21E4900-12B5-4131-B7EA-A90372B4660F}" type="pres">
      <dgm:prSet presAssocID="{17DE84DF-7286-450B-87BC-E7318C341F15}" presName="sibTransNodeCircle" presStyleLbl="alignNode1" presStyleIdx="2" presStyleCnt="6">
        <dgm:presLayoutVars>
          <dgm:chMax val="0"/>
          <dgm:bulletEnabled/>
        </dgm:presLayoutVars>
      </dgm:prSet>
      <dgm:spPr/>
    </dgm:pt>
    <dgm:pt modelId="{FFB5693A-B4A7-4F19-B815-70702BCFE88D}" type="pres">
      <dgm:prSet presAssocID="{35DFA74B-5A09-4733-AA06-FC5260BF83DB}" presName="bottomLine" presStyleLbl="alignNode1" presStyleIdx="3" presStyleCnt="6">
        <dgm:presLayoutVars/>
      </dgm:prSet>
      <dgm:spPr/>
    </dgm:pt>
    <dgm:pt modelId="{B4357184-8B3D-4A67-B65A-735A27958375}" type="pres">
      <dgm:prSet presAssocID="{35DFA74B-5A09-4733-AA06-FC5260BF83DB}" presName="nodeText" presStyleLbl="bgAccFollowNode1" presStyleIdx="1" presStyleCnt="3">
        <dgm:presLayoutVars>
          <dgm:bulletEnabled val="1"/>
        </dgm:presLayoutVars>
      </dgm:prSet>
      <dgm:spPr/>
    </dgm:pt>
    <dgm:pt modelId="{43D016E7-F66B-469F-9149-B9C37972FF0C}" type="pres">
      <dgm:prSet presAssocID="{17DE84DF-7286-450B-87BC-E7318C341F15}" presName="sibTrans" presStyleCnt="0"/>
      <dgm:spPr/>
    </dgm:pt>
    <dgm:pt modelId="{49CCB712-770B-44B8-8B48-4678AFD3750F}" type="pres">
      <dgm:prSet presAssocID="{32B1B904-2EAC-45E4-8FD6-F4A81B485ADB}" presName="compositeNode" presStyleCnt="0">
        <dgm:presLayoutVars>
          <dgm:bulletEnabled val="1"/>
        </dgm:presLayoutVars>
      </dgm:prSet>
      <dgm:spPr/>
    </dgm:pt>
    <dgm:pt modelId="{890D717A-F491-4008-9927-39D8A0E784FB}" type="pres">
      <dgm:prSet presAssocID="{32B1B904-2EAC-45E4-8FD6-F4A81B485ADB}" presName="bgRect" presStyleLbl="bgAccFollowNode1" presStyleIdx="2" presStyleCnt="3"/>
      <dgm:spPr/>
    </dgm:pt>
    <dgm:pt modelId="{4F1A9441-1361-4905-8163-D9BFA70EB796}" type="pres">
      <dgm:prSet presAssocID="{617B899A-6BE5-4B14-8F69-EBA633673EA6}" presName="sibTransNodeCircle" presStyleLbl="alignNode1" presStyleIdx="4" presStyleCnt="6">
        <dgm:presLayoutVars>
          <dgm:chMax val="0"/>
          <dgm:bulletEnabled/>
        </dgm:presLayoutVars>
      </dgm:prSet>
      <dgm:spPr/>
    </dgm:pt>
    <dgm:pt modelId="{4E9BB40D-AFFF-498F-A8F9-E8286CFEDFF7}" type="pres">
      <dgm:prSet presAssocID="{32B1B904-2EAC-45E4-8FD6-F4A81B485ADB}" presName="bottomLine" presStyleLbl="alignNode1" presStyleIdx="5" presStyleCnt="6">
        <dgm:presLayoutVars/>
      </dgm:prSet>
      <dgm:spPr/>
    </dgm:pt>
    <dgm:pt modelId="{F614262D-5CC7-46E0-B1BF-540B37A3B87F}" type="pres">
      <dgm:prSet presAssocID="{32B1B904-2EAC-45E4-8FD6-F4A81B485ADB}" presName="nodeText" presStyleLbl="bgAccFollowNode1" presStyleIdx="2" presStyleCnt="3">
        <dgm:presLayoutVars>
          <dgm:bulletEnabled val="1"/>
        </dgm:presLayoutVars>
      </dgm:prSet>
      <dgm:spPr/>
    </dgm:pt>
  </dgm:ptLst>
  <dgm:cxnLst>
    <dgm:cxn modelId="{93A8220C-5BB0-4877-BBB2-A8172F46F794}" type="presOf" srcId="{32B1B904-2EAC-45E4-8FD6-F4A81B485ADB}" destId="{F614262D-5CC7-46E0-B1BF-540B37A3B87F}" srcOrd="1" destOrd="0" presId="urn:microsoft.com/office/officeart/2016/7/layout/BasicLinearProcessNumbered"/>
    <dgm:cxn modelId="{12856412-50A1-4670-80FB-A4CA588AAEAB}" type="presOf" srcId="{BC34007E-26FB-4C0F-97C9-6FB48F1EA66A}" destId="{9583FC95-F389-4552-AAD1-F2132DDFC224}" srcOrd="0" destOrd="0" presId="urn:microsoft.com/office/officeart/2016/7/layout/BasicLinearProcessNumbered"/>
    <dgm:cxn modelId="{F9440A26-5787-46FE-8BFA-B821F455CB4F}" srcId="{D0A98CED-E59D-4B7C-941B-E7A4655E89A7}" destId="{32B1B904-2EAC-45E4-8FD6-F4A81B485ADB}" srcOrd="2" destOrd="0" parTransId="{D79265DC-AB7E-47C4-A005-4AC6A569AA29}" sibTransId="{617B899A-6BE5-4B14-8F69-EBA633673EA6}"/>
    <dgm:cxn modelId="{96295771-E71C-4B56-89C8-4D7C6ABFFEEF}" type="presOf" srcId="{0AFA553A-8A3E-4FFF-8D83-289253B84B88}" destId="{F2DBEFF2-4FAB-4A9C-8382-3733A1AEECA3}" srcOrd="0" destOrd="0" presId="urn:microsoft.com/office/officeart/2016/7/layout/BasicLinearProcessNumbered"/>
    <dgm:cxn modelId="{58279751-B2E5-47D4-9DD0-45C49FBD01DC}" type="presOf" srcId="{BC34007E-26FB-4C0F-97C9-6FB48F1EA66A}" destId="{5639676C-3544-40C1-8A6E-CE2320CA6D76}" srcOrd="1" destOrd="0" presId="urn:microsoft.com/office/officeart/2016/7/layout/BasicLinearProcessNumbered"/>
    <dgm:cxn modelId="{3C75608B-66A1-4491-81BF-F9A06C10848D}" type="presOf" srcId="{D0A98CED-E59D-4B7C-941B-E7A4655E89A7}" destId="{D387CE02-DE01-48AA-9E52-F83DECFD1AC2}" srcOrd="0" destOrd="0" presId="urn:microsoft.com/office/officeart/2016/7/layout/BasicLinearProcessNumbered"/>
    <dgm:cxn modelId="{55CFD99C-BB9D-4255-86CE-EAEAFECA87BA}" type="presOf" srcId="{35DFA74B-5A09-4733-AA06-FC5260BF83DB}" destId="{4575B76E-72A8-44EA-BB1B-8E6AE35FA8B6}" srcOrd="0" destOrd="0" presId="urn:microsoft.com/office/officeart/2016/7/layout/BasicLinearProcessNumbered"/>
    <dgm:cxn modelId="{F777579E-7520-4324-A0D0-18FEAFA4EB78}" srcId="{D0A98CED-E59D-4B7C-941B-E7A4655E89A7}" destId="{BC34007E-26FB-4C0F-97C9-6FB48F1EA66A}" srcOrd="0" destOrd="0" parTransId="{03615139-6FBF-490F-BF0E-F7CBD5605E82}" sibTransId="{0AFA553A-8A3E-4FFF-8D83-289253B84B88}"/>
    <dgm:cxn modelId="{CE4ADAAB-ABB0-4778-9556-8963AF232AB4}" type="presOf" srcId="{32B1B904-2EAC-45E4-8FD6-F4A81B485ADB}" destId="{890D717A-F491-4008-9927-39D8A0E784FB}" srcOrd="0" destOrd="0" presId="urn:microsoft.com/office/officeart/2016/7/layout/BasicLinearProcessNumbered"/>
    <dgm:cxn modelId="{1EBFD0B6-4BC2-4D31-A5B2-E312B9F398C0}" type="presOf" srcId="{617B899A-6BE5-4B14-8F69-EBA633673EA6}" destId="{4F1A9441-1361-4905-8163-D9BFA70EB796}" srcOrd="0" destOrd="0" presId="urn:microsoft.com/office/officeart/2016/7/layout/BasicLinearProcessNumbered"/>
    <dgm:cxn modelId="{607BA2CA-1FF3-4855-BD92-28C0CA8BEB0A}" srcId="{D0A98CED-E59D-4B7C-941B-E7A4655E89A7}" destId="{35DFA74B-5A09-4733-AA06-FC5260BF83DB}" srcOrd="1" destOrd="0" parTransId="{5B748B50-EB57-42A7-80FF-989F1BC930A6}" sibTransId="{17DE84DF-7286-450B-87BC-E7318C341F15}"/>
    <dgm:cxn modelId="{E2753CCB-631E-45DE-B269-EF072F0D52C0}" type="presOf" srcId="{35DFA74B-5A09-4733-AA06-FC5260BF83DB}" destId="{B4357184-8B3D-4A67-B65A-735A27958375}" srcOrd="1" destOrd="0" presId="urn:microsoft.com/office/officeart/2016/7/layout/BasicLinearProcessNumbered"/>
    <dgm:cxn modelId="{87B008F0-69CF-4495-9773-3AA40CE68FAA}" type="presOf" srcId="{17DE84DF-7286-450B-87BC-E7318C341F15}" destId="{B21E4900-12B5-4131-B7EA-A90372B4660F}" srcOrd="0" destOrd="0" presId="urn:microsoft.com/office/officeart/2016/7/layout/BasicLinearProcessNumbered"/>
    <dgm:cxn modelId="{73ADD81B-7EFF-440C-A666-A8BABBC74506}" type="presParOf" srcId="{D387CE02-DE01-48AA-9E52-F83DECFD1AC2}" destId="{6392866F-4A06-4F3F-947A-AD087EEE01F9}" srcOrd="0" destOrd="0" presId="urn:microsoft.com/office/officeart/2016/7/layout/BasicLinearProcessNumbered"/>
    <dgm:cxn modelId="{8ED5593D-1E42-43BE-85D4-3BED0901F0EC}" type="presParOf" srcId="{6392866F-4A06-4F3F-947A-AD087EEE01F9}" destId="{9583FC95-F389-4552-AAD1-F2132DDFC224}" srcOrd="0" destOrd="0" presId="urn:microsoft.com/office/officeart/2016/7/layout/BasicLinearProcessNumbered"/>
    <dgm:cxn modelId="{9B3C5D50-BA4D-40A1-A05A-1918C345A084}" type="presParOf" srcId="{6392866F-4A06-4F3F-947A-AD087EEE01F9}" destId="{F2DBEFF2-4FAB-4A9C-8382-3733A1AEECA3}" srcOrd="1" destOrd="0" presId="urn:microsoft.com/office/officeart/2016/7/layout/BasicLinearProcessNumbered"/>
    <dgm:cxn modelId="{56D23C4D-1330-4355-8B6E-6C5E866E9120}" type="presParOf" srcId="{6392866F-4A06-4F3F-947A-AD087EEE01F9}" destId="{1067A410-88CF-4DB0-9990-90A7324E4AB2}" srcOrd="2" destOrd="0" presId="urn:microsoft.com/office/officeart/2016/7/layout/BasicLinearProcessNumbered"/>
    <dgm:cxn modelId="{0E086395-8434-419A-8D46-29E37174F83B}" type="presParOf" srcId="{6392866F-4A06-4F3F-947A-AD087EEE01F9}" destId="{5639676C-3544-40C1-8A6E-CE2320CA6D76}" srcOrd="3" destOrd="0" presId="urn:microsoft.com/office/officeart/2016/7/layout/BasicLinearProcessNumbered"/>
    <dgm:cxn modelId="{DCF6ABA7-8910-42AB-AC79-2509824C7969}" type="presParOf" srcId="{D387CE02-DE01-48AA-9E52-F83DECFD1AC2}" destId="{F621828F-ABA1-4648-B553-F08708AB174F}" srcOrd="1" destOrd="0" presId="urn:microsoft.com/office/officeart/2016/7/layout/BasicLinearProcessNumbered"/>
    <dgm:cxn modelId="{AEC402EF-00AC-4B7D-9C47-98E41459AEE6}" type="presParOf" srcId="{D387CE02-DE01-48AA-9E52-F83DECFD1AC2}" destId="{011B33B2-DB8B-451F-B08B-9E6F9C24B544}" srcOrd="2" destOrd="0" presId="urn:microsoft.com/office/officeart/2016/7/layout/BasicLinearProcessNumbered"/>
    <dgm:cxn modelId="{7DA9BBC3-9B19-4391-B238-DC82B591E6E0}" type="presParOf" srcId="{011B33B2-DB8B-451F-B08B-9E6F9C24B544}" destId="{4575B76E-72A8-44EA-BB1B-8E6AE35FA8B6}" srcOrd="0" destOrd="0" presId="urn:microsoft.com/office/officeart/2016/7/layout/BasicLinearProcessNumbered"/>
    <dgm:cxn modelId="{B46F5654-D348-49C1-A0A5-399CDFBD405E}" type="presParOf" srcId="{011B33B2-DB8B-451F-B08B-9E6F9C24B544}" destId="{B21E4900-12B5-4131-B7EA-A90372B4660F}" srcOrd="1" destOrd="0" presId="urn:microsoft.com/office/officeart/2016/7/layout/BasicLinearProcessNumbered"/>
    <dgm:cxn modelId="{335E54E6-C942-4B42-A4F7-BAF6B1BCCE94}" type="presParOf" srcId="{011B33B2-DB8B-451F-B08B-9E6F9C24B544}" destId="{FFB5693A-B4A7-4F19-B815-70702BCFE88D}" srcOrd="2" destOrd="0" presId="urn:microsoft.com/office/officeart/2016/7/layout/BasicLinearProcessNumbered"/>
    <dgm:cxn modelId="{48BC01C4-14F5-4538-8787-57EBA24B1D51}" type="presParOf" srcId="{011B33B2-DB8B-451F-B08B-9E6F9C24B544}" destId="{B4357184-8B3D-4A67-B65A-735A27958375}" srcOrd="3" destOrd="0" presId="urn:microsoft.com/office/officeart/2016/7/layout/BasicLinearProcessNumbered"/>
    <dgm:cxn modelId="{5B97DD5D-BF2B-40B3-913C-4A0D5B8367AD}" type="presParOf" srcId="{D387CE02-DE01-48AA-9E52-F83DECFD1AC2}" destId="{43D016E7-F66B-469F-9149-B9C37972FF0C}" srcOrd="3" destOrd="0" presId="urn:microsoft.com/office/officeart/2016/7/layout/BasicLinearProcessNumbered"/>
    <dgm:cxn modelId="{923C4A3C-A89B-4649-BD01-9C269514E6C9}" type="presParOf" srcId="{D387CE02-DE01-48AA-9E52-F83DECFD1AC2}" destId="{49CCB712-770B-44B8-8B48-4678AFD3750F}" srcOrd="4" destOrd="0" presId="urn:microsoft.com/office/officeart/2016/7/layout/BasicLinearProcessNumbered"/>
    <dgm:cxn modelId="{0F35E7D9-C37A-45C9-A450-9A7E1BC9357F}" type="presParOf" srcId="{49CCB712-770B-44B8-8B48-4678AFD3750F}" destId="{890D717A-F491-4008-9927-39D8A0E784FB}" srcOrd="0" destOrd="0" presId="urn:microsoft.com/office/officeart/2016/7/layout/BasicLinearProcessNumbered"/>
    <dgm:cxn modelId="{7D770A3B-F793-4FC5-AD63-E407D921BBBF}" type="presParOf" srcId="{49CCB712-770B-44B8-8B48-4678AFD3750F}" destId="{4F1A9441-1361-4905-8163-D9BFA70EB796}" srcOrd="1" destOrd="0" presId="urn:microsoft.com/office/officeart/2016/7/layout/BasicLinearProcessNumbered"/>
    <dgm:cxn modelId="{DDFF8428-3D78-4807-8A57-CA4BD0634B6C}" type="presParOf" srcId="{49CCB712-770B-44B8-8B48-4678AFD3750F}" destId="{4E9BB40D-AFFF-498F-A8F9-E8286CFEDFF7}" srcOrd="2" destOrd="0" presId="urn:microsoft.com/office/officeart/2016/7/layout/BasicLinearProcessNumbered"/>
    <dgm:cxn modelId="{2F8E9585-A506-4BEE-8F2A-7F40205BC963}" type="presParOf" srcId="{49CCB712-770B-44B8-8B48-4678AFD3750F}" destId="{F614262D-5CC7-46E0-B1BF-540B37A3B87F}"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0C64CB-F5AA-4FC7-997B-B8781DF37B83}" type="doc">
      <dgm:prSet loTypeId="urn:microsoft.com/office/officeart/2005/8/layout/vList2" loCatId="list" qsTypeId="urn:microsoft.com/office/officeart/2005/8/quickstyle/simple4" qsCatId="simple" csTypeId="urn:microsoft.com/office/officeart/2005/8/colors/accent3_2" csCatId="accent3"/>
      <dgm:spPr/>
      <dgm:t>
        <a:bodyPr/>
        <a:lstStyle/>
        <a:p>
          <a:endParaRPr lang="en-US"/>
        </a:p>
      </dgm:t>
    </dgm:pt>
    <dgm:pt modelId="{1CA064E8-8105-4DDE-AC55-4CBBE12B3535}">
      <dgm:prSet/>
      <dgm:spPr/>
      <dgm:t>
        <a:bodyPr/>
        <a:lstStyle/>
        <a:p>
          <a:r>
            <a:rPr lang="en-US"/>
            <a:t>What happen if your application is:</a:t>
          </a:r>
        </a:p>
      </dgm:t>
    </dgm:pt>
    <dgm:pt modelId="{021A8D5B-372F-43C2-AD31-B8520725B9DC}" type="parTrans" cxnId="{2F694652-52AF-4DDA-90A2-56C77E2DDCC1}">
      <dgm:prSet/>
      <dgm:spPr/>
      <dgm:t>
        <a:bodyPr/>
        <a:lstStyle/>
        <a:p>
          <a:endParaRPr lang="en-US"/>
        </a:p>
      </dgm:t>
    </dgm:pt>
    <dgm:pt modelId="{6E60CB34-02A8-4B03-BB72-2967CEDA37A7}" type="sibTrans" cxnId="{2F694652-52AF-4DDA-90A2-56C77E2DDCC1}">
      <dgm:prSet/>
      <dgm:spPr/>
      <dgm:t>
        <a:bodyPr/>
        <a:lstStyle/>
        <a:p>
          <a:endParaRPr lang="en-US"/>
        </a:p>
      </dgm:t>
    </dgm:pt>
    <dgm:pt modelId="{B7F2886E-AA53-4105-BF97-71676D87BA8A}">
      <dgm:prSet/>
      <dgm:spPr/>
      <dgm:t>
        <a:bodyPr/>
        <a:lstStyle/>
        <a:p>
          <a:r>
            <a:rPr lang="en-US"/>
            <a:t>Very difficult to use</a:t>
          </a:r>
        </a:p>
      </dgm:t>
    </dgm:pt>
    <dgm:pt modelId="{F65E3908-7086-46D7-9E41-94B9F500550E}" type="parTrans" cxnId="{5E0761EC-873A-4F0A-B1C8-325DB49891E4}">
      <dgm:prSet/>
      <dgm:spPr/>
      <dgm:t>
        <a:bodyPr/>
        <a:lstStyle/>
        <a:p>
          <a:endParaRPr lang="en-US"/>
        </a:p>
      </dgm:t>
    </dgm:pt>
    <dgm:pt modelId="{FFD5CC74-4C0F-411A-8108-2F880F3C721D}" type="sibTrans" cxnId="{5E0761EC-873A-4F0A-B1C8-325DB49891E4}">
      <dgm:prSet/>
      <dgm:spPr/>
      <dgm:t>
        <a:bodyPr/>
        <a:lstStyle/>
        <a:p>
          <a:endParaRPr lang="en-US"/>
        </a:p>
      </dgm:t>
    </dgm:pt>
    <dgm:pt modelId="{94237E37-EC32-410E-AF76-C0B4605B9865}">
      <dgm:prSet/>
      <dgm:spPr/>
      <dgm:t>
        <a:bodyPr/>
        <a:lstStyle/>
        <a:p>
          <a:r>
            <a:rPr lang="en-US"/>
            <a:t>Very slow running</a:t>
          </a:r>
        </a:p>
      </dgm:t>
    </dgm:pt>
    <dgm:pt modelId="{21E7DF27-281E-4F6B-9EEC-D5CA83773CC8}" type="parTrans" cxnId="{F7B420AF-E6D1-4A02-B1BE-CDDC8996D593}">
      <dgm:prSet/>
      <dgm:spPr/>
      <dgm:t>
        <a:bodyPr/>
        <a:lstStyle/>
        <a:p>
          <a:endParaRPr lang="en-US"/>
        </a:p>
      </dgm:t>
    </dgm:pt>
    <dgm:pt modelId="{472E1334-D61E-48C0-BBC3-BC8EFE771D25}" type="sibTrans" cxnId="{F7B420AF-E6D1-4A02-B1BE-CDDC8996D593}">
      <dgm:prSet/>
      <dgm:spPr/>
      <dgm:t>
        <a:bodyPr/>
        <a:lstStyle/>
        <a:p>
          <a:endParaRPr lang="en-US"/>
        </a:p>
      </dgm:t>
    </dgm:pt>
    <dgm:pt modelId="{69ACEB6D-B167-40B8-BF73-AE7E18D6C908}">
      <dgm:prSet/>
      <dgm:spPr/>
      <dgm:t>
        <a:bodyPr/>
        <a:lstStyle/>
        <a:p>
          <a:r>
            <a:rPr lang="en-US"/>
            <a:t>Easy to lose data</a:t>
          </a:r>
        </a:p>
      </dgm:t>
    </dgm:pt>
    <dgm:pt modelId="{37B10DB5-48D7-4716-9AFF-EC2288C96A26}" type="parTrans" cxnId="{ACB65FB1-6B3E-4824-B3A3-34CC5FC33C0D}">
      <dgm:prSet/>
      <dgm:spPr/>
      <dgm:t>
        <a:bodyPr/>
        <a:lstStyle/>
        <a:p>
          <a:endParaRPr lang="en-US"/>
        </a:p>
      </dgm:t>
    </dgm:pt>
    <dgm:pt modelId="{3E441C9A-980F-4108-AB38-BB1696A014C5}" type="sibTrans" cxnId="{ACB65FB1-6B3E-4824-B3A3-34CC5FC33C0D}">
      <dgm:prSet/>
      <dgm:spPr/>
      <dgm:t>
        <a:bodyPr/>
        <a:lstStyle/>
        <a:p>
          <a:endParaRPr lang="en-US"/>
        </a:p>
      </dgm:t>
    </dgm:pt>
    <dgm:pt modelId="{DFE1347E-EB96-4917-8FEC-EC49A1A36A68}">
      <dgm:prSet/>
      <dgm:spPr/>
      <dgm:t>
        <a:bodyPr/>
        <a:lstStyle/>
        <a:p>
          <a:r>
            <a:rPr lang="en-US"/>
            <a:t>Not able to extend to serve more users</a:t>
          </a:r>
        </a:p>
      </dgm:t>
    </dgm:pt>
    <dgm:pt modelId="{2A24BF5B-09C1-4025-80A3-A9F91B77E350}" type="parTrans" cxnId="{75D6E698-B133-45F2-B862-C253C2473935}">
      <dgm:prSet/>
      <dgm:spPr/>
      <dgm:t>
        <a:bodyPr/>
        <a:lstStyle/>
        <a:p>
          <a:endParaRPr lang="en-US"/>
        </a:p>
      </dgm:t>
    </dgm:pt>
    <dgm:pt modelId="{4F5519FF-0832-479E-9C44-473AD581EB19}" type="sibTrans" cxnId="{75D6E698-B133-45F2-B862-C253C2473935}">
      <dgm:prSet/>
      <dgm:spPr/>
      <dgm:t>
        <a:bodyPr/>
        <a:lstStyle/>
        <a:p>
          <a:endParaRPr lang="en-US"/>
        </a:p>
      </dgm:t>
    </dgm:pt>
    <dgm:pt modelId="{A6F8DED4-2ACC-45BD-8189-ECD37E25ECE6}">
      <dgm:prSet/>
      <dgm:spPr/>
      <dgm:t>
        <a:bodyPr/>
        <a:lstStyle/>
        <a:p>
          <a:r>
            <a:rPr lang="en-US"/>
            <a:t>…</a:t>
          </a:r>
        </a:p>
      </dgm:t>
    </dgm:pt>
    <dgm:pt modelId="{99E68A67-4D68-4BC9-B6F8-8247568D429C}" type="parTrans" cxnId="{ACCA65FF-EB3D-4732-99DD-AD2A54DABBE2}">
      <dgm:prSet/>
      <dgm:spPr/>
      <dgm:t>
        <a:bodyPr/>
        <a:lstStyle/>
        <a:p>
          <a:endParaRPr lang="en-US"/>
        </a:p>
      </dgm:t>
    </dgm:pt>
    <dgm:pt modelId="{843328D1-773B-4560-A951-89BBA2CB6788}" type="sibTrans" cxnId="{ACCA65FF-EB3D-4732-99DD-AD2A54DABBE2}">
      <dgm:prSet/>
      <dgm:spPr/>
      <dgm:t>
        <a:bodyPr/>
        <a:lstStyle/>
        <a:p>
          <a:endParaRPr lang="en-US"/>
        </a:p>
      </dgm:t>
    </dgm:pt>
    <dgm:pt modelId="{999B0E88-2F9C-4BBB-97B1-612B4584854E}">
      <dgm:prSet/>
      <dgm:spPr/>
      <dgm:t>
        <a:bodyPr/>
        <a:lstStyle/>
        <a:p>
          <a:r>
            <a:rPr lang="en-US"/>
            <a:t>Nonfunctional requirements contain of:</a:t>
          </a:r>
        </a:p>
      </dgm:t>
    </dgm:pt>
    <dgm:pt modelId="{A2CB02F9-03B3-4106-BEA2-8C2BD259F5FA}" type="parTrans" cxnId="{2C978960-BA76-49D4-9524-A90ED1D4CC0D}">
      <dgm:prSet/>
      <dgm:spPr/>
      <dgm:t>
        <a:bodyPr/>
        <a:lstStyle/>
        <a:p>
          <a:endParaRPr lang="en-US"/>
        </a:p>
      </dgm:t>
    </dgm:pt>
    <dgm:pt modelId="{EA3DFA7C-100D-423C-9916-C83113774B2F}" type="sibTrans" cxnId="{2C978960-BA76-49D4-9524-A90ED1D4CC0D}">
      <dgm:prSet/>
      <dgm:spPr/>
      <dgm:t>
        <a:bodyPr/>
        <a:lstStyle/>
        <a:p>
          <a:endParaRPr lang="en-US"/>
        </a:p>
      </dgm:t>
    </dgm:pt>
    <dgm:pt modelId="{86002EAD-D8F0-4A99-A567-35CACA94269B}">
      <dgm:prSet/>
      <dgm:spPr/>
      <dgm:t>
        <a:bodyPr/>
        <a:lstStyle/>
        <a:p>
          <a:r>
            <a:rPr lang="en-US"/>
            <a:t>External interface requirements</a:t>
          </a:r>
        </a:p>
      </dgm:t>
    </dgm:pt>
    <dgm:pt modelId="{4C6D3388-02A0-4888-A589-26FDE73E2075}" type="parTrans" cxnId="{6F4D931F-9251-4658-A464-DAB64B893402}">
      <dgm:prSet/>
      <dgm:spPr/>
      <dgm:t>
        <a:bodyPr/>
        <a:lstStyle/>
        <a:p>
          <a:endParaRPr lang="en-US"/>
        </a:p>
      </dgm:t>
    </dgm:pt>
    <dgm:pt modelId="{B7DD073E-363A-473A-AE37-6150C873D495}" type="sibTrans" cxnId="{6F4D931F-9251-4658-A464-DAB64B893402}">
      <dgm:prSet/>
      <dgm:spPr/>
      <dgm:t>
        <a:bodyPr/>
        <a:lstStyle/>
        <a:p>
          <a:endParaRPr lang="en-US"/>
        </a:p>
      </dgm:t>
    </dgm:pt>
    <dgm:pt modelId="{D64453EE-D7C6-45ED-A3CA-69E076D6F137}">
      <dgm:prSet/>
      <dgm:spPr/>
      <dgm:t>
        <a:bodyPr/>
        <a:lstStyle/>
        <a:p>
          <a:r>
            <a:rPr lang="en-US"/>
            <a:t>Quality attributes</a:t>
          </a:r>
        </a:p>
      </dgm:t>
    </dgm:pt>
    <dgm:pt modelId="{0E8681CC-71EF-42AC-935D-55D08CA59C04}" type="parTrans" cxnId="{17319937-EC90-403E-AA53-C5B0738077D8}">
      <dgm:prSet/>
      <dgm:spPr/>
      <dgm:t>
        <a:bodyPr/>
        <a:lstStyle/>
        <a:p>
          <a:endParaRPr lang="en-US"/>
        </a:p>
      </dgm:t>
    </dgm:pt>
    <dgm:pt modelId="{D74FB4A6-337A-4D61-87D1-331541C25C0E}" type="sibTrans" cxnId="{17319937-EC90-403E-AA53-C5B0738077D8}">
      <dgm:prSet/>
      <dgm:spPr/>
      <dgm:t>
        <a:bodyPr/>
        <a:lstStyle/>
        <a:p>
          <a:endParaRPr lang="en-US"/>
        </a:p>
      </dgm:t>
    </dgm:pt>
    <dgm:pt modelId="{E17A4765-075F-4E33-BF12-8BC3B7D36E55}">
      <dgm:prSet/>
      <dgm:spPr/>
      <dgm:t>
        <a:bodyPr/>
        <a:lstStyle/>
        <a:p>
          <a:r>
            <a:rPr lang="en-US"/>
            <a:t>Constraints</a:t>
          </a:r>
        </a:p>
      </dgm:t>
    </dgm:pt>
    <dgm:pt modelId="{7BF41AC9-9BFC-4407-8345-D093407E222C}" type="parTrans" cxnId="{3C922F88-119D-4933-8532-E678B2223311}">
      <dgm:prSet/>
      <dgm:spPr/>
      <dgm:t>
        <a:bodyPr/>
        <a:lstStyle/>
        <a:p>
          <a:endParaRPr lang="en-US"/>
        </a:p>
      </dgm:t>
    </dgm:pt>
    <dgm:pt modelId="{4FBCA606-0373-4FE2-B26C-C971FDDC642A}" type="sibTrans" cxnId="{3C922F88-119D-4933-8532-E678B2223311}">
      <dgm:prSet/>
      <dgm:spPr/>
      <dgm:t>
        <a:bodyPr/>
        <a:lstStyle/>
        <a:p>
          <a:endParaRPr lang="en-US"/>
        </a:p>
      </dgm:t>
    </dgm:pt>
    <dgm:pt modelId="{0321F8DE-07D6-4252-8C7A-506B7D3CE75A}" type="pres">
      <dgm:prSet presAssocID="{9D0C64CB-F5AA-4FC7-997B-B8781DF37B83}" presName="linear" presStyleCnt="0">
        <dgm:presLayoutVars>
          <dgm:animLvl val="lvl"/>
          <dgm:resizeHandles val="exact"/>
        </dgm:presLayoutVars>
      </dgm:prSet>
      <dgm:spPr/>
    </dgm:pt>
    <dgm:pt modelId="{B8621C1A-FE9C-4FD8-956A-21D26AF93E4D}" type="pres">
      <dgm:prSet presAssocID="{1CA064E8-8105-4DDE-AC55-4CBBE12B3535}" presName="parentText" presStyleLbl="node1" presStyleIdx="0" presStyleCnt="2">
        <dgm:presLayoutVars>
          <dgm:chMax val="0"/>
          <dgm:bulletEnabled val="1"/>
        </dgm:presLayoutVars>
      </dgm:prSet>
      <dgm:spPr/>
    </dgm:pt>
    <dgm:pt modelId="{91B7CD72-5E1B-4234-BDF4-E3CC77A8A204}" type="pres">
      <dgm:prSet presAssocID="{1CA064E8-8105-4DDE-AC55-4CBBE12B3535}" presName="childText" presStyleLbl="revTx" presStyleIdx="0" presStyleCnt="2">
        <dgm:presLayoutVars>
          <dgm:bulletEnabled val="1"/>
        </dgm:presLayoutVars>
      </dgm:prSet>
      <dgm:spPr/>
    </dgm:pt>
    <dgm:pt modelId="{462E280E-DE62-4408-8EB6-4299E6810C71}" type="pres">
      <dgm:prSet presAssocID="{999B0E88-2F9C-4BBB-97B1-612B4584854E}" presName="parentText" presStyleLbl="node1" presStyleIdx="1" presStyleCnt="2">
        <dgm:presLayoutVars>
          <dgm:chMax val="0"/>
          <dgm:bulletEnabled val="1"/>
        </dgm:presLayoutVars>
      </dgm:prSet>
      <dgm:spPr/>
    </dgm:pt>
    <dgm:pt modelId="{9266902E-E238-4520-BE55-4572ECC99FFD}" type="pres">
      <dgm:prSet presAssocID="{999B0E88-2F9C-4BBB-97B1-612B4584854E}" presName="childText" presStyleLbl="revTx" presStyleIdx="1" presStyleCnt="2">
        <dgm:presLayoutVars>
          <dgm:bulletEnabled val="1"/>
        </dgm:presLayoutVars>
      </dgm:prSet>
      <dgm:spPr/>
    </dgm:pt>
  </dgm:ptLst>
  <dgm:cxnLst>
    <dgm:cxn modelId="{5FF95819-E50A-46B3-AC33-6F2537CE2375}" type="presOf" srcId="{A6F8DED4-2ACC-45BD-8189-ECD37E25ECE6}" destId="{91B7CD72-5E1B-4234-BDF4-E3CC77A8A204}" srcOrd="0" destOrd="4" presId="urn:microsoft.com/office/officeart/2005/8/layout/vList2"/>
    <dgm:cxn modelId="{6F4D931F-9251-4658-A464-DAB64B893402}" srcId="{999B0E88-2F9C-4BBB-97B1-612B4584854E}" destId="{86002EAD-D8F0-4A99-A567-35CACA94269B}" srcOrd="0" destOrd="0" parTransId="{4C6D3388-02A0-4888-A589-26FDE73E2075}" sibTransId="{B7DD073E-363A-473A-AE37-6150C873D495}"/>
    <dgm:cxn modelId="{17319937-EC90-403E-AA53-C5B0738077D8}" srcId="{999B0E88-2F9C-4BBB-97B1-612B4584854E}" destId="{D64453EE-D7C6-45ED-A3CA-69E076D6F137}" srcOrd="1" destOrd="0" parTransId="{0E8681CC-71EF-42AC-935D-55D08CA59C04}" sibTransId="{D74FB4A6-337A-4D61-87D1-331541C25C0E}"/>
    <dgm:cxn modelId="{7DECD338-6A34-49A2-9A4E-38561E6B2F8E}" type="presOf" srcId="{86002EAD-D8F0-4A99-A567-35CACA94269B}" destId="{9266902E-E238-4520-BE55-4572ECC99FFD}" srcOrd="0" destOrd="0" presId="urn:microsoft.com/office/officeart/2005/8/layout/vList2"/>
    <dgm:cxn modelId="{2C978960-BA76-49D4-9524-A90ED1D4CC0D}" srcId="{9D0C64CB-F5AA-4FC7-997B-B8781DF37B83}" destId="{999B0E88-2F9C-4BBB-97B1-612B4584854E}" srcOrd="1" destOrd="0" parTransId="{A2CB02F9-03B3-4106-BEA2-8C2BD259F5FA}" sibTransId="{EA3DFA7C-100D-423C-9916-C83113774B2F}"/>
    <dgm:cxn modelId="{382FCB61-949F-4499-9B76-E4974AD28672}" type="presOf" srcId="{DFE1347E-EB96-4917-8FEC-EC49A1A36A68}" destId="{91B7CD72-5E1B-4234-BDF4-E3CC77A8A204}" srcOrd="0" destOrd="3" presId="urn:microsoft.com/office/officeart/2005/8/layout/vList2"/>
    <dgm:cxn modelId="{47DDA566-2FA7-4BD9-A41A-25C3FBA6F618}" type="presOf" srcId="{1CA064E8-8105-4DDE-AC55-4CBBE12B3535}" destId="{B8621C1A-FE9C-4FD8-956A-21D26AF93E4D}" srcOrd="0" destOrd="0" presId="urn:microsoft.com/office/officeart/2005/8/layout/vList2"/>
    <dgm:cxn modelId="{9E30DF4C-E1AB-4272-A182-4BCD02A2EB30}" type="presOf" srcId="{9D0C64CB-F5AA-4FC7-997B-B8781DF37B83}" destId="{0321F8DE-07D6-4252-8C7A-506B7D3CE75A}" srcOrd="0" destOrd="0" presId="urn:microsoft.com/office/officeart/2005/8/layout/vList2"/>
    <dgm:cxn modelId="{6A9AF74D-2284-42D4-9908-0D750E9B1591}" type="presOf" srcId="{E17A4765-075F-4E33-BF12-8BC3B7D36E55}" destId="{9266902E-E238-4520-BE55-4572ECC99FFD}" srcOrd="0" destOrd="2" presId="urn:microsoft.com/office/officeart/2005/8/layout/vList2"/>
    <dgm:cxn modelId="{2F694652-52AF-4DDA-90A2-56C77E2DDCC1}" srcId="{9D0C64CB-F5AA-4FC7-997B-B8781DF37B83}" destId="{1CA064E8-8105-4DDE-AC55-4CBBE12B3535}" srcOrd="0" destOrd="0" parTransId="{021A8D5B-372F-43C2-AD31-B8520725B9DC}" sibTransId="{6E60CB34-02A8-4B03-BB72-2967CEDA37A7}"/>
    <dgm:cxn modelId="{FC690C83-BDF5-4A7D-9E95-D7D050FC0809}" type="presOf" srcId="{999B0E88-2F9C-4BBB-97B1-612B4584854E}" destId="{462E280E-DE62-4408-8EB6-4299E6810C71}" srcOrd="0" destOrd="0" presId="urn:microsoft.com/office/officeart/2005/8/layout/vList2"/>
    <dgm:cxn modelId="{3C922F88-119D-4933-8532-E678B2223311}" srcId="{999B0E88-2F9C-4BBB-97B1-612B4584854E}" destId="{E17A4765-075F-4E33-BF12-8BC3B7D36E55}" srcOrd="2" destOrd="0" parTransId="{7BF41AC9-9BFC-4407-8345-D093407E222C}" sibTransId="{4FBCA606-0373-4FE2-B26C-C971FDDC642A}"/>
    <dgm:cxn modelId="{C549D88A-0BC9-476E-87B5-AC1B3CEF9DDF}" type="presOf" srcId="{94237E37-EC32-410E-AF76-C0B4605B9865}" destId="{91B7CD72-5E1B-4234-BDF4-E3CC77A8A204}" srcOrd="0" destOrd="1" presId="urn:microsoft.com/office/officeart/2005/8/layout/vList2"/>
    <dgm:cxn modelId="{75D6E698-B133-45F2-B862-C253C2473935}" srcId="{1CA064E8-8105-4DDE-AC55-4CBBE12B3535}" destId="{DFE1347E-EB96-4917-8FEC-EC49A1A36A68}" srcOrd="3" destOrd="0" parTransId="{2A24BF5B-09C1-4025-80A3-A9F91B77E350}" sibTransId="{4F5519FF-0832-479E-9C44-473AD581EB19}"/>
    <dgm:cxn modelId="{CF38F59C-6280-4F75-B249-4EDFBFB65E7B}" type="presOf" srcId="{69ACEB6D-B167-40B8-BF73-AE7E18D6C908}" destId="{91B7CD72-5E1B-4234-BDF4-E3CC77A8A204}" srcOrd="0" destOrd="2" presId="urn:microsoft.com/office/officeart/2005/8/layout/vList2"/>
    <dgm:cxn modelId="{C76CF0A4-6AE2-40C6-81F3-278A9AC6A58E}" type="presOf" srcId="{D64453EE-D7C6-45ED-A3CA-69E076D6F137}" destId="{9266902E-E238-4520-BE55-4572ECC99FFD}" srcOrd="0" destOrd="1" presId="urn:microsoft.com/office/officeart/2005/8/layout/vList2"/>
    <dgm:cxn modelId="{F7B420AF-E6D1-4A02-B1BE-CDDC8996D593}" srcId="{1CA064E8-8105-4DDE-AC55-4CBBE12B3535}" destId="{94237E37-EC32-410E-AF76-C0B4605B9865}" srcOrd="1" destOrd="0" parTransId="{21E7DF27-281E-4F6B-9EEC-D5CA83773CC8}" sibTransId="{472E1334-D61E-48C0-BBC3-BC8EFE771D25}"/>
    <dgm:cxn modelId="{ACB65FB1-6B3E-4824-B3A3-34CC5FC33C0D}" srcId="{1CA064E8-8105-4DDE-AC55-4CBBE12B3535}" destId="{69ACEB6D-B167-40B8-BF73-AE7E18D6C908}" srcOrd="2" destOrd="0" parTransId="{37B10DB5-48D7-4716-9AFF-EC2288C96A26}" sibTransId="{3E441C9A-980F-4108-AB38-BB1696A014C5}"/>
    <dgm:cxn modelId="{E3F23FE2-C602-440C-9CD6-9F90F16C3DF5}" type="presOf" srcId="{B7F2886E-AA53-4105-BF97-71676D87BA8A}" destId="{91B7CD72-5E1B-4234-BDF4-E3CC77A8A204}" srcOrd="0" destOrd="0" presId="urn:microsoft.com/office/officeart/2005/8/layout/vList2"/>
    <dgm:cxn modelId="{5E0761EC-873A-4F0A-B1C8-325DB49891E4}" srcId="{1CA064E8-8105-4DDE-AC55-4CBBE12B3535}" destId="{B7F2886E-AA53-4105-BF97-71676D87BA8A}" srcOrd="0" destOrd="0" parTransId="{F65E3908-7086-46D7-9E41-94B9F500550E}" sibTransId="{FFD5CC74-4C0F-411A-8108-2F880F3C721D}"/>
    <dgm:cxn modelId="{ACCA65FF-EB3D-4732-99DD-AD2A54DABBE2}" srcId="{1CA064E8-8105-4DDE-AC55-4CBBE12B3535}" destId="{A6F8DED4-2ACC-45BD-8189-ECD37E25ECE6}" srcOrd="4" destOrd="0" parTransId="{99E68A67-4D68-4BC9-B6F8-8247568D429C}" sibTransId="{843328D1-773B-4560-A951-89BBA2CB6788}"/>
    <dgm:cxn modelId="{DE516612-392C-4200-90CE-FEE61D07D3C7}" type="presParOf" srcId="{0321F8DE-07D6-4252-8C7A-506B7D3CE75A}" destId="{B8621C1A-FE9C-4FD8-956A-21D26AF93E4D}" srcOrd="0" destOrd="0" presId="urn:microsoft.com/office/officeart/2005/8/layout/vList2"/>
    <dgm:cxn modelId="{2564718E-718A-4C20-A148-8A6D1A240E83}" type="presParOf" srcId="{0321F8DE-07D6-4252-8C7A-506B7D3CE75A}" destId="{91B7CD72-5E1B-4234-BDF4-E3CC77A8A204}" srcOrd="1" destOrd="0" presId="urn:microsoft.com/office/officeart/2005/8/layout/vList2"/>
    <dgm:cxn modelId="{8B7FB694-9F4C-4962-B80A-0B0F5B84E4A1}" type="presParOf" srcId="{0321F8DE-07D6-4252-8C7A-506B7D3CE75A}" destId="{462E280E-DE62-4408-8EB6-4299E6810C71}" srcOrd="2" destOrd="0" presId="urn:microsoft.com/office/officeart/2005/8/layout/vList2"/>
    <dgm:cxn modelId="{B8BD349E-E727-49C7-997A-DFADCD7E39E5}" type="presParOf" srcId="{0321F8DE-07D6-4252-8C7A-506B7D3CE75A}" destId="{9266902E-E238-4520-BE55-4572ECC99FFD}"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AFC9BFC-B6D5-490A-8C3A-9D1FE9DC6079}" type="doc">
      <dgm:prSet loTypeId="urn:microsoft.com/office/officeart/2016/7/layout/VerticalDownArrowProcess" loCatId="process" qsTypeId="urn:microsoft.com/office/officeart/2005/8/quickstyle/simple5" qsCatId="simple" csTypeId="urn:microsoft.com/office/officeart/2005/8/colors/accent1_2" csCatId="accent1"/>
      <dgm:spPr/>
      <dgm:t>
        <a:bodyPr/>
        <a:lstStyle/>
        <a:p>
          <a:endParaRPr lang="en-US"/>
        </a:p>
      </dgm:t>
    </dgm:pt>
    <dgm:pt modelId="{5E89F332-6C96-4764-8091-AD34A21BA86C}">
      <dgm:prSet/>
      <dgm:spPr/>
      <dgm:t>
        <a:bodyPr/>
        <a:lstStyle/>
        <a:p>
          <a:r>
            <a:rPr lang="en-US"/>
            <a:t>Step 1</a:t>
          </a:r>
        </a:p>
      </dgm:t>
    </dgm:pt>
    <dgm:pt modelId="{79A2A0B2-7C41-4112-9A45-2D022309D69A}" type="parTrans" cxnId="{64E2E938-2844-425D-B6E3-6D1C5321AE73}">
      <dgm:prSet/>
      <dgm:spPr/>
      <dgm:t>
        <a:bodyPr/>
        <a:lstStyle/>
        <a:p>
          <a:endParaRPr lang="en-US"/>
        </a:p>
      </dgm:t>
    </dgm:pt>
    <dgm:pt modelId="{ABAAC61E-4307-4688-AD46-B4E8D6EF5AA0}" type="sibTrans" cxnId="{64E2E938-2844-425D-B6E3-6D1C5321AE73}">
      <dgm:prSet/>
      <dgm:spPr/>
      <dgm:t>
        <a:bodyPr/>
        <a:lstStyle/>
        <a:p>
          <a:endParaRPr lang="en-US"/>
        </a:p>
      </dgm:t>
    </dgm:pt>
    <dgm:pt modelId="{C32350A9-A823-4A3D-81AB-DA3933FB3F17}">
      <dgm:prSet/>
      <dgm:spPr/>
      <dgm:t>
        <a:bodyPr/>
        <a:lstStyle/>
        <a:p>
          <a:r>
            <a:rPr lang="en-US"/>
            <a:t>Start with a broad taxonomy </a:t>
          </a:r>
        </a:p>
      </dgm:t>
    </dgm:pt>
    <dgm:pt modelId="{DA570701-B65F-457B-8B33-25EDFB1F2387}" type="parTrans" cxnId="{33CF5358-20CB-4091-97B5-50DAC3A5555D}">
      <dgm:prSet/>
      <dgm:spPr/>
      <dgm:t>
        <a:bodyPr/>
        <a:lstStyle/>
        <a:p>
          <a:endParaRPr lang="en-US"/>
        </a:p>
      </dgm:t>
    </dgm:pt>
    <dgm:pt modelId="{B280C901-C012-418D-A17B-EF530C04920B}" type="sibTrans" cxnId="{33CF5358-20CB-4091-97B5-50DAC3A5555D}">
      <dgm:prSet/>
      <dgm:spPr/>
      <dgm:t>
        <a:bodyPr/>
        <a:lstStyle/>
        <a:p>
          <a:endParaRPr lang="en-US"/>
        </a:p>
      </dgm:t>
    </dgm:pt>
    <dgm:pt modelId="{C88E0543-CAD9-4403-BC0E-601D9CB57DBA}">
      <dgm:prSet/>
      <dgm:spPr/>
      <dgm:t>
        <a:bodyPr/>
        <a:lstStyle/>
        <a:p>
          <a:r>
            <a:rPr lang="en-US"/>
            <a:t>Step 2</a:t>
          </a:r>
        </a:p>
      </dgm:t>
    </dgm:pt>
    <dgm:pt modelId="{80EC3AFF-3DAB-45EE-85BE-F14D2B5400ED}" type="parTrans" cxnId="{4BF7FB76-9F12-4A52-A32A-8DD64CD3F782}">
      <dgm:prSet/>
      <dgm:spPr/>
      <dgm:t>
        <a:bodyPr/>
        <a:lstStyle/>
        <a:p>
          <a:endParaRPr lang="en-US"/>
        </a:p>
      </dgm:t>
    </dgm:pt>
    <dgm:pt modelId="{C217FC00-B378-4974-8CAF-83B6D0A150B6}" type="sibTrans" cxnId="{4BF7FB76-9F12-4A52-A32A-8DD64CD3F782}">
      <dgm:prSet/>
      <dgm:spPr/>
      <dgm:t>
        <a:bodyPr/>
        <a:lstStyle/>
        <a:p>
          <a:endParaRPr lang="en-US"/>
        </a:p>
      </dgm:t>
    </dgm:pt>
    <dgm:pt modelId="{8555C3CE-F14B-416F-9D70-7C0E9B25B66D}">
      <dgm:prSet/>
      <dgm:spPr/>
      <dgm:t>
        <a:bodyPr/>
        <a:lstStyle/>
        <a:p>
          <a:r>
            <a:rPr lang="en-US"/>
            <a:t>Reduce the list</a:t>
          </a:r>
        </a:p>
      </dgm:t>
    </dgm:pt>
    <dgm:pt modelId="{1560A4D9-B7EC-43E7-8372-FA4DDB84FD8C}" type="parTrans" cxnId="{2897BDA2-1335-4F9C-8A0B-63096C689FC9}">
      <dgm:prSet/>
      <dgm:spPr/>
      <dgm:t>
        <a:bodyPr/>
        <a:lstStyle/>
        <a:p>
          <a:endParaRPr lang="en-US"/>
        </a:p>
      </dgm:t>
    </dgm:pt>
    <dgm:pt modelId="{4662C005-DB67-44C9-8A05-FBEE9F7A8534}" type="sibTrans" cxnId="{2897BDA2-1335-4F9C-8A0B-63096C689FC9}">
      <dgm:prSet/>
      <dgm:spPr/>
      <dgm:t>
        <a:bodyPr/>
        <a:lstStyle/>
        <a:p>
          <a:endParaRPr lang="en-US"/>
        </a:p>
      </dgm:t>
    </dgm:pt>
    <dgm:pt modelId="{5F237D86-E02E-4456-B5CB-A1E9B11930CE}">
      <dgm:prSet/>
      <dgm:spPr/>
      <dgm:t>
        <a:bodyPr/>
        <a:lstStyle/>
        <a:p>
          <a:r>
            <a:rPr lang="en-US"/>
            <a:t>Step 3</a:t>
          </a:r>
        </a:p>
      </dgm:t>
    </dgm:pt>
    <dgm:pt modelId="{062EC37F-5031-4174-A995-5AC8D65D22DD}" type="parTrans" cxnId="{34FDDBF6-69AF-4EA9-9AAE-7CA5DDCD5F34}">
      <dgm:prSet/>
      <dgm:spPr/>
      <dgm:t>
        <a:bodyPr/>
        <a:lstStyle/>
        <a:p>
          <a:endParaRPr lang="en-US"/>
        </a:p>
      </dgm:t>
    </dgm:pt>
    <dgm:pt modelId="{98A309CE-36F5-4FF2-B79C-F612456AD179}" type="sibTrans" cxnId="{34FDDBF6-69AF-4EA9-9AAE-7CA5DDCD5F34}">
      <dgm:prSet/>
      <dgm:spPr/>
      <dgm:t>
        <a:bodyPr/>
        <a:lstStyle/>
        <a:p>
          <a:endParaRPr lang="en-US"/>
        </a:p>
      </dgm:t>
    </dgm:pt>
    <dgm:pt modelId="{0E1ACBCA-4C09-4797-957E-F8BC5F48C8F1}">
      <dgm:prSet/>
      <dgm:spPr/>
      <dgm:t>
        <a:bodyPr/>
        <a:lstStyle/>
        <a:p>
          <a:r>
            <a:rPr lang="en-US"/>
            <a:t>Prioritize the attributes</a:t>
          </a:r>
        </a:p>
      </dgm:t>
    </dgm:pt>
    <dgm:pt modelId="{8F470AE2-17F0-4410-9C78-B8522AE46532}" type="parTrans" cxnId="{93FC264C-F248-468C-A946-E5B511B19E6A}">
      <dgm:prSet/>
      <dgm:spPr/>
      <dgm:t>
        <a:bodyPr/>
        <a:lstStyle/>
        <a:p>
          <a:endParaRPr lang="en-US"/>
        </a:p>
      </dgm:t>
    </dgm:pt>
    <dgm:pt modelId="{9C9326A6-B882-4F60-98AE-ADB25CA19E2D}" type="sibTrans" cxnId="{93FC264C-F248-468C-A946-E5B511B19E6A}">
      <dgm:prSet/>
      <dgm:spPr/>
      <dgm:t>
        <a:bodyPr/>
        <a:lstStyle/>
        <a:p>
          <a:endParaRPr lang="en-US"/>
        </a:p>
      </dgm:t>
    </dgm:pt>
    <dgm:pt modelId="{38BA4594-07A3-45BE-B074-65D7950A4D25}">
      <dgm:prSet/>
      <dgm:spPr/>
      <dgm:t>
        <a:bodyPr/>
        <a:lstStyle/>
        <a:p>
          <a:r>
            <a:rPr lang="en-US"/>
            <a:t>Step 4</a:t>
          </a:r>
        </a:p>
      </dgm:t>
    </dgm:pt>
    <dgm:pt modelId="{FF6989E1-7EC4-4262-83C8-3E45CF8E23E6}" type="parTrans" cxnId="{EA013DE1-D427-4742-B083-CA8895B7A6E1}">
      <dgm:prSet/>
      <dgm:spPr/>
      <dgm:t>
        <a:bodyPr/>
        <a:lstStyle/>
        <a:p>
          <a:endParaRPr lang="en-US"/>
        </a:p>
      </dgm:t>
    </dgm:pt>
    <dgm:pt modelId="{F392CE19-5758-4F64-925E-04B39E5C45D0}" type="sibTrans" cxnId="{EA013DE1-D427-4742-B083-CA8895B7A6E1}">
      <dgm:prSet/>
      <dgm:spPr/>
      <dgm:t>
        <a:bodyPr/>
        <a:lstStyle/>
        <a:p>
          <a:endParaRPr lang="en-US"/>
        </a:p>
      </dgm:t>
    </dgm:pt>
    <dgm:pt modelId="{3DCAB81D-B492-4A47-8078-FD1C25B0CD21}">
      <dgm:prSet/>
      <dgm:spPr/>
      <dgm:t>
        <a:bodyPr/>
        <a:lstStyle/>
        <a:p>
          <a:r>
            <a:rPr lang="en-US"/>
            <a:t>Elicit specific expectations for each attribute </a:t>
          </a:r>
        </a:p>
      </dgm:t>
    </dgm:pt>
    <dgm:pt modelId="{1567432D-F038-4711-84A8-76E33F3F561C}" type="parTrans" cxnId="{8BC7D64B-63BA-4175-8DB9-10D36C11E6DD}">
      <dgm:prSet/>
      <dgm:spPr/>
      <dgm:t>
        <a:bodyPr/>
        <a:lstStyle/>
        <a:p>
          <a:endParaRPr lang="en-US"/>
        </a:p>
      </dgm:t>
    </dgm:pt>
    <dgm:pt modelId="{B0265074-846E-4539-9CD0-4C81944DDF92}" type="sibTrans" cxnId="{8BC7D64B-63BA-4175-8DB9-10D36C11E6DD}">
      <dgm:prSet/>
      <dgm:spPr/>
      <dgm:t>
        <a:bodyPr/>
        <a:lstStyle/>
        <a:p>
          <a:endParaRPr lang="en-US"/>
        </a:p>
      </dgm:t>
    </dgm:pt>
    <dgm:pt modelId="{C3FF2F27-7A24-4659-BFC1-55C71E420E9A}">
      <dgm:prSet/>
      <dgm:spPr/>
      <dgm:t>
        <a:bodyPr/>
        <a:lstStyle/>
        <a:p>
          <a:r>
            <a:rPr lang="en-US"/>
            <a:t>Step 5</a:t>
          </a:r>
        </a:p>
      </dgm:t>
    </dgm:pt>
    <dgm:pt modelId="{6ACD3157-5D76-4130-AD4F-E1DA12965D0C}" type="parTrans" cxnId="{69CA7EC5-4D4A-4E50-9203-61D5E6824100}">
      <dgm:prSet/>
      <dgm:spPr/>
      <dgm:t>
        <a:bodyPr/>
        <a:lstStyle/>
        <a:p>
          <a:endParaRPr lang="en-US"/>
        </a:p>
      </dgm:t>
    </dgm:pt>
    <dgm:pt modelId="{BBC2093D-B3D6-4641-BFA2-66842FB4F294}" type="sibTrans" cxnId="{69CA7EC5-4D4A-4E50-9203-61D5E6824100}">
      <dgm:prSet/>
      <dgm:spPr/>
      <dgm:t>
        <a:bodyPr/>
        <a:lstStyle/>
        <a:p>
          <a:endParaRPr lang="en-US"/>
        </a:p>
      </dgm:t>
    </dgm:pt>
    <dgm:pt modelId="{BB08C7E9-9090-4389-8F86-21BCE24DA63D}">
      <dgm:prSet/>
      <dgm:spPr/>
      <dgm:t>
        <a:bodyPr/>
        <a:lstStyle/>
        <a:p>
          <a:r>
            <a:rPr lang="en-US"/>
            <a:t>Specify well-structured quality requirements</a:t>
          </a:r>
        </a:p>
      </dgm:t>
    </dgm:pt>
    <dgm:pt modelId="{5BFB1011-A52F-4BB8-B77E-877B38613CCC}" type="parTrans" cxnId="{D38127F5-B633-4F64-A467-75753C5B473F}">
      <dgm:prSet/>
      <dgm:spPr/>
      <dgm:t>
        <a:bodyPr/>
        <a:lstStyle/>
        <a:p>
          <a:endParaRPr lang="en-US"/>
        </a:p>
      </dgm:t>
    </dgm:pt>
    <dgm:pt modelId="{FFD2C91E-C4C8-45DA-970A-826CD0425CFD}" type="sibTrans" cxnId="{D38127F5-B633-4F64-A467-75753C5B473F}">
      <dgm:prSet/>
      <dgm:spPr/>
      <dgm:t>
        <a:bodyPr/>
        <a:lstStyle/>
        <a:p>
          <a:endParaRPr lang="en-US"/>
        </a:p>
      </dgm:t>
    </dgm:pt>
    <dgm:pt modelId="{1F0D95C7-DD72-43DB-9D75-CFB1A195A555}" type="pres">
      <dgm:prSet presAssocID="{1AFC9BFC-B6D5-490A-8C3A-9D1FE9DC6079}" presName="Name0" presStyleCnt="0">
        <dgm:presLayoutVars>
          <dgm:dir/>
          <dgm:animLvl val="lvl"/>
          <dgm:resizeHandles val="exact"/>
        </dgm:presLayoutVars>
      </dgm:prSet>
      <dgm:spPr/>
    </dgm:pt>
    <dgm:pt modelId="{A606EB99-3A02-4C61-B071-75F4DC98BF9E}" type="pres">
      <dgm:prSet presAssocID="{C3FF2F27-7A24-4659-BFC1-55C71E420E9A}" presName="boxAndChildren" presStyleCnt="0"/>
      <dgm:spPr/>
    </dgm:pt>
    <dgm:pt modelId="{0FB90C3A-5876-4340-BF25-345C44A1FD7D}" type="pres">
      <dgm:prSet presAssocID="{C3FF2F27-7A24-4659-BFC1-55C71E420E9A}" presName="parentTextBox" presStyleLbl="alignNode1" presStyleIdx="0" presStyleCnt="5"/>
      <dgm:spPr/>
    </dgm:pt>
    <dgm:pt modelId="{2011774D-D503-4986-840B-1A89FD119A27}" type="pres">
      <dgm:prSet presAssocID="{C3FF2F27-7A24-4659-BFC1-55C71E420E9A}" presName="descendantBox" presStyleLbl="bgAccFollowNode1" presStyleIdx="0" presStyleCnt="5"/>
      <dgm:spPr/>
    </dgm:pt>
    <dgm:pt modelId="{E57CF5AD-617F-410E-9340-14B8EC03A215}" type="pres">
      <dgm:prSet presAssocID="{F392CE19-5758-4F64-925E-04B39E5C45D0}" presName="sp" presStyleCnt="0"/>
      <dgm:spPr/>
    </dgm:pt>
    <dgm:pt modelId="{E28C6852-5B5F-4EF1-9429-D92614BDEFAE}" type="pres">
      <dgm:prSet presAssocID="{38BA4594-07A3-45BE-B074-65D7950A4D25}" presName="arrowAndChildren" presStyleCnt="0"/>
      <dgm:spPr/>
    </dgm:pt>
    <dgm:pt modelId="{7C7BC7D1-B012-4249-83B8-3F376ADF4948}" type="pres">
      <dgm:prSet presAssocID="{38BA4594-07A3-45BE-B074-65D7950A4D25}" presName="parentTextArrow" presStyleLbl="node1" presStyleIdx="0" presStyleCnt="0"/>
      <dgm:spPr/>
    </dgm:pt>
    <dgm:pt modelId="{FB7E8028-297E-43C7-B2CC-8ADCD00B04F4}" type="pres">
      <dgm:prSet presAssocID="{38BA4594-07A3-45BE-B074-65D7950A4D25}" presName="arrow" presStyleLbl="alignNode1" presStyleIdx="1" presStyleCnt="5"/>
      <dgm:spPr/>
    </dgm:pt>
    <dgm:pt modelId="{8D529773-CF2F-4DFF-9759-EF3D53987A46}" type="pres">
      <dgm:prSet presAssocID="{38BA4594-07A3-45BE-B074-65D7950A4D25}" presName="descendantArrow" presStyleLbl="bgAccFollowNode1" presStyleIdx="1" presStyleCnt="5"/>
      <dgm:spPr/>
    </dgm:pt>
    <dgm:pt modelId="{FBDA65F9-8CF1-4E52-85E9-14922FCCDBDD}" type="pres">
      <dgm:prSet presAssocID="{98A309CE-36F5-4FF2-B79C-F612456AD179}" presName="sp" presStyleCnt="0"/>
      <dgm:spPr/>
    </dgm:pt>
    <dgm:pt modelId="{07626378-5A11-4710-8D94-3285BD69CA9A}" type="pres">
      <dgm:prSet presAssocID="{5F237D86-E02E-4456-B5CB-A1E9B11930CE}" presName="arrowAndChildren" presStyleCnt="0"/>
      <dgm:spPr/>
    </dgm:pt>
    <dgm:pt modelId="{22B20DE0-FA04-4D7D-8FA8-0965A6A9E088}" type="pres">
      <dgm:prSet presAssocID="{5F237D86-E02E-4456-B5CB-A1E9B11930CE}" presName="parentTextArrow" presStyleLbl="node1" presStyleIdx="0" presStyleCnt="0"/>
      <dgm:spPr/>
    </dgm:pt>
    <dgm:pt modelId="{4F47C49E-2786-4A6B-8394-DAFBBA402884}" type="pres">
      <dgm:prSet presAssocID="{5F237D86-E02E-4456-B5CB-A1E9B11930CE}" presName="arrow" presStyleLbl="alignNode1" presStyleIdx="2" presStyleCnt="5"/>
      <dgm:spPr/>
    </dgm:pt>
    <dgm:pt modelId="{1B917066-03A2-490B-A19F-629B37D1F226}" type="pres">
      <dgm:prSet presAssocID="{5F237D86-E02E-4456-B5CB-A1E9B11930CE}" presName="descendantArrow" presStyleLbl="bgAccFollowNode1" presStyleIdx="2" presStyleCnt="5"/>
      <dgm:spPr/>
    </dgm:pt>
    <dgm:pt modelId="{94E0FC53-9B35-464C-9187-327C51627285}" type="pres">
      <dgm:prSet presAssocID="{C217FC00-B378-4974-8CAF-83B6D0A150B6}" presName="sp" presStyleCnt="0"/>
      <dgm:spPr/>
    </dgm:pt>
    <dgm:pt modelId="{F896E851-CFD7-4DD9-B8FB-6CF5BB047BB9}" type="pres">
      <dgm:prSet presAssocID="{C88E0543-CAD9-4403-BC0E-601D9CB57DBA}" presName="arrowAndChildren" presStyleCnt="0"/>
      <dgm:spPr/>
    </dgm:pt>
    <dgm:pt modelId="{84CF816C-BFE0-4FD8-A483-411C10D99816}" type="pres">
      <dgm:prSet presAssocID="{C88E0543-CAD9-4403-BC0E-601D9CB57DBA}" presName="parentTextArrow" presStyleLbl="node1" presStyleIdx="0" presStyleCnt="0"/>
      <dgm:spPr/>
    </dgm:pt>
    <dgm:pt modelId="{691AB45F-B385-4C67-B165-18E845C15751}" type="pres">
      <dgm:prSet presAssocID="{C88E0543-CAD9-4403-BC0E-601D9CB57DBA}" presName="arrow" presStyleLbl="alignNode1" presStyleIdx="3" presStyleCnt="5"/>
      <dgm:spPr/>
    </dgm:pt>
    <dgm:pt modelId="{7CBB7037-CAE8-4D3B-AB8C-7EAA0E75E463}" type="pres">
      <dgm:prSet presAssocID="{C88E0543-CAD9-4403-BC0E-601D9CB57DBA}" presName="descendantArrow" presStyleLbl="bgAccFollowNode1" presStyleIdx="3" presStyleCnt="5"/>
      <dgm:spPr/>
    </dgm:pt>
    <dgm:pt modelId="{CDD25CE8-30FE-4619-B727-C04CA54A3D08}" type="pres">
      <dgm:prSet presAssocID="{ABAAC61E-4307-4688-AD46-B4E8D6EF5AA0}" presName="sp" presStyleCnt="0"/>
      <dgm:spPr/>
    </dgm:pt>
    <dgm:pt modelId="{0C67D93C-F042-474D-A5FA-F42A815EEC99}" type="pres">
      <dgm:prSet presAssocID="{5E89F332-6C96-4764-8091-AD34A21BA86C}" presName="arrowAndChildren" presStyleCnt="0"/>
      <dgm:spPr/>
    </dgm:pt>
    <dgm:pt modelId="{303E41D7-44C2-4FCA-9371-7B0173D8DF9B}" type="pres">
      <dgm:prSet presAssocID="{5E89F332-6C96-4764-8091-AD34A21BA86C}" presName="parentTextArrow" presStyleLbl="node1" presStyleIdx="0" presStyleCnt="0"/>
      <dgm:spPr/>
    </dgm:pt>
    <dgm:pt modelId="{8F51AA68-DEDF-4D70-9900-1C1DCCFE76AE}" type="pres">
      <dgm:prSet presAssocID="{5E89F332-6C96-4764-8091-AD34A21BA86C}" presName="arrow" presStyleLbl="alignNode1" presStyleIdx="4" presStyleCnt="5"/>
      <dgm:spPr/>
    </dgm:pt>
    <dgm:pt modelId="{52096280-8DE8-4063-B7E4-C9FC7623A793}" type="pres">
      <dgm:prSet presAssocID="{5E89F332-6C96-4764-8091-AD34A21BA86C}" presName="descendantArrow" presStyleLbl="bgAccFollowNode1" presStyleIdx="4" presStyleCnt="5"/>
      <dgm:spPr/>
    </dgm:pt>
  </dgm:ptLst>
  <dgm:cxnLst>
    <dgm:cxn modelId="{54B37F00-10F3-40D1-BA8D-EAE3F6B10F6B}" type="presOf" srcId="{C88E0543-CAD9-4403-BC0E-601D9CB57DBA}" destId="{691AB45F-B385-4C67-B165-18E845C15751}" srcOrd="1" destOrd="0" presId="urn:microsoft.com/office/officeart/2016/7/layout/VerticalDownArrowProcess"/>
    <dgm:cxn modelId="{A2F44421-2F07-4894-812A-3B2B859E9AC7}" type="presOf" srcId="{38BA4594-07A3-45BE-B074-65D7950A4D25}" destId="{7C7BC7D1-B012-4249-83B8-3F376ADF4948}" srcOrd="0" destOrd="0" presId="urn:microsoft.com/office/officeart/2016/7/layout/VerticalDownArrowProcess"/>
    <dgm:cxn modelId="{64E2E938-2844-425D-B6E3-6D1C5321AE73}" srcId="{1AFC9BFC-B6D5-490A-8C3A-9D1FE9DC6079}" destId="{5E89F332-6C96-4764-8091-AD34A21BA86C}" srcOrd="0" destOrd="0" parTransId="{79A2A0B2-7C41-4112-9A45-2D022309D69A}" sibTransId="{ABAAC61E-4307-4688-AD46-B4E8D6EF5AA0}"/>
    <dgm:cxn modelId="{B1506169-EE8C-4A71-8FB3-63E920217354}" type="presOf" srcId="{BB08C7E9-9090-4389-8F86-21BCE24DA63D}" destId="{2011774D-D503-4986-840B-1A89FD119A27}" srcOrd="0" destOrd="0" presId="urn:microsoft.com/office/officeart/2016/7/layout/VerticalDownArrowProcess"/>
    <dgm:cxn modelId="{2ADC2B4A-5826-4E70-883F-226E0D824E1E}" type="presOf" srcId="{5F237D86-E02E-4456-B5CB-A1E9B11930CE}" destId="{22B20DE0-FA04-4D7D-8FA8-0965A6A9E088}" srcOrd="0" destOrd="0" presId="urn:microsoft.com/office/officeart/2016/7/layout/VerticalDownArrowProcess"/>
    <dgm:cxn modelId="{8BC7D64B-63BA-4175-8DB9-10D36C11E6DD}" srcId="{38BA4594-07A3-45BE-B074-65D7950A4D25}" destId="{3DCAB81D-B492-4A47-8078-FD1C25B0CD21}" srcOrd="0" destOrd="0" parTransId="{1567432D-F038-4711-84A8-76E33F3F561C}" sibTransId="{B0265074-846E-4539-9CD0-4C81944DDF92}"/>
    <dgm:cxn modelId="{93FC264C-F248-468C-A946-E5B511B19E6A}" srcId="{5F237D86-E02E-4456-B5CB-A1E9B11930CE}" destId="{0E1ACBCA-4C09-4797-957E-F8BC5F48C8F1}" srcOrd="0" destOrd="0" parTransId="{8F470AE2-17F0-4410-9C78-B8522AE46532}" sibTransId="{9C9326A6-B882-4F60-98AE-ADB25CA19E2D}"/>
    <dgm:cxn modelId="{2AFC0A51-4DAC-4F61-AC12-48930449EFCB}" type="presOf" srcId="{8555C3CE-F14B-416F-9D70-7C0E9B25B66D}" destId="{7CBB7037-CAE8-4D3B-AB8C-7EAA0E75E463}" srcOrd="0" destOrd="0" presId="urn:microsoft.com/office/officeart/2016/7/layout/VerticalDownArrowProcess"/>
    <dgm:cxn modelId="{9E548E73-6A1A-439B-AEA7-EFCA0126349D}" type="presOf" srcId="{5E89F332-6C96-4764-8091-AD34A21BA86C}" destId="{8F51AA68-DEDF-4D70-9900-1C1DCCFE76AE}" srcOrd="1" destOrd="0" presId="urn:microsoft.com/office/officeart/2016/7/layout/VerticalDownArrowProcess"/>
    <dgm:cxn modelId="{0CFFCA73-DD25-4508-8863-7DA865E24CC8}" type="presOf" srcId="{38BA4594-07A3-45BE-B074-65D7950A4D25}" destId="{FB7E8028-297E-43C7-B2CC-8ADCD00B04F4}" srcOrd="1" destOrd="0" presId="urn:microsoft.com/office/officeart/2016/7/layout/VerticalDownArrowProcess"/>
    <dgm:cxn modelId="{8BF84356-FAFD-4F55-95E7-9A1E3823A668}" type="presOf" srcId="{5F237D86-E02E-4456-B5CB-A1E9B11930CE}" destId="{4F47C49E-2786-4A6B-8394-DAFBBA402884}" srcOrd="1" destOrd="0" presId="urn:microsoft.com/office/officeart/2016/7/layout/VerticalDownArrowProcess"/>
    <dgm:cxn modelId="{4BF7FB76-9F12-4A52-A32A-8DD64CD3F782}" srcId="{1AFC9BFC-B6D5-490A-8C3A-9D1FE9DC6079}" destId="{C88E0543-CAD9-4403-BC0E-601D9CB57DBA}" srcOrd="1" destOrd="0" parTransId="{80EC3AFF-3DAB-45EE-85BE-F14D2B5400ED}" sibTransId="{C217FC00-B378-4974-8CAF-83B6D0A150B6}"/>
    <dgm:cxn modelId="{F4190677-4F7B-42B2-AE10-A911CDCF3347}" type="presOf" srcId="{C32350A9-A823-4A3D-81AB-DA3933FB3F17}" destId="{52096280-8DE8-4063-B7E4-C9FC7623A793}" srcOrd="0" destOrd="0" presId="urn:microsoft.com/office/officeart/2016/7/layout/VerticalDownArrowProcess"/>
    <dgm:cxn modelId="{33CF5358-20CB-4091-97B5-50DAC3A5555D}" srcId="{5E89F332-6C96-4764-8091-AD34A21BA86C}" destId="{C32350A9-A823-4A3D-81AB-DA3933FB3F17}" srcOrd="0" destOrd="0" parTransId="{DA570701-B65F-457B-8B33-25EDFB1F2387}" sibTransId="{B280C901-C012-418D-A17B-EF530C04920B}"/>
    <dgm:cxn modelId="{28480280-C8C6-4851-BF72-6231DC8C7948}" type="presOf" srcId="{1AFC9BFC-B6D5-490A-8C3A-9D1FE9DC6079}" destId="{1F0D95C7-DD72-43DB-9D75-CFB1A195A555}" srcOrd="0" destOrd="0" presId="urn:microsoft.com/office/officeart/2016/7/layout/VerticalDownArrowProcess"/>
    <dgm:cxn modelId="{27742C9B-6153-4E75-91A1-4F919BC26801}" type="presOf" srcId="{0E1ACBCA-4C09-4797-957E-F8BC5F48C8F1}" destId="{1B917066-03A2-490B-A19F-629B37D1F226}" srcOrd="0" destOrd="0" presId="urn:microsoft.com/office/officeart/2016/7/layout/VerticalDownArrowProcess"/>
    <dgm:cxn modelId="{2897BDA2-1335-4F9C-8A0B-63096C689FC9}" srcId="{C88E0543-CAD9-4403-BC0E-601D9CB57DBA}" destId="{8555C3CE-F14B-416F-9D70-7C0E9B25B66D}" srcOrd="0" destOrd="0" parTransId="{1560A4D9-B7EC-43E7-8372-FA4DDB84FD8C}" sibTransId="{4662C005-DB67-44C9-8A05-FBEE9F7A8534}"/>
    <dgm:cxn modelId="{2B31BBAE-65AA-4AB6-BAC3-4796D54B7F29}" type="presOf" srcId="{C3FF2F27-7A24-4659-BFC1-55C71E420E9A}" destId="{0FB90C3A-5876-4340-BF25-345C44A1FD7D}" srcOrd="0" destOrd="0" presId="urn:microsoft.com/office/officeart/2016/7/layout/VerticalDownArrowProcess"/>
    <dgm:cxn modelId="{69CA7EC5-4D4A-4E50-9203-61D5E6824100}" srcId="{1AFC9BFC-B6D5-490A-8C3A-9D1FE9DC6079}" destId="{C3FF2F27-7A24-4659-BFC1-55C71E420E9A}" srcOrd="4" destOrd="0" parTransId="{6ACD3157-5D76-4130-AD4F-E1DA12965D0C}" sibTransId="{BBC2093D-B3D6-4641-BFA2-66842FB4F294}"/>
    <dgm:cxn modelId="{DA65E9CB-F846-4231-8285-8ADF72AB973F}" type="presOf" srcId="{5E89F332-6C96-4764-8091-AD34A21BA86C}" destId="{303E41D7-44C2-4FCA-9371-7B0173D8DF9B}" srcOrd="0" destOrd="0" presId="urn:microsoft.com/office/officeart/2016/7/layout/VerticalDownArrowProcess"/>
    <dgm:cxn modelId="{C54008D9-7059-48E1-B8A1-CA7FF83A5660}" type="presOf" srcId="{C88E0543-CAD9-4403-BC0E-601D9CB57DBA}" destId="{84CF816C-BFE0-4FD8-A483-411C10D99816}" srcOrd="0" destOrd="0" presId="urn:microsoft.com/office/officeart/2016/7/layout/VerticalDownArrowProcess"/>
    <dgm:cxn modelId="{EA013DE1-D427-4742-B083-CA8895B7A6E1}" srcId="{1AFC9BFC-B6D5-490A-8C3A-9D1FE9DC6079}" destId="{38BA4594-07A3-45BE-B074-65D7950A4D25}" srcOrd="3" destOrd="0" parTransId="{FF6989E1-7EC4-4262-83C8-3E45CF8E23E6}" sibTransId="{F392CE19-5758-4F64-925E-04B39E5C45D0}"/>
    <dgm:cxn modelId="{6830D3F2-ED4A-4FD7-9394-B47AE05FE368}" type="presOf" srcId="{3DCAB81D-B492-4A47-8078-FD1C25B0CD21}" destId="{8D529773-CF2F-4DFF-9759-EF3D53987A46}" srcOrd="0" destOrd="0" presId="urn:microsoft.com/office/officeart/2016/7/layout/VerticalDownArrowProcess"/>
    <dgm:cxn modelId="{D38127F5-B633-4F64-A467-75753C5B473F}" srcId="{C3FF2F27-7A24-4659-BFC1-55C71E420E9A}" destId="{BB08C7E9-9090-4389-8F86-21BCE24DA63D}" srcOrd="0" destOrd="0" parTransId="{5BFB1011-A52F-4BB8-B77E-877B38613CCC}" sibTransId="{FFD2C91E-C4C8-45DA-970A-826CD0425CFD}"/>
    <dgm:cxn modelId="{34FDDBF6-69AF-4EA9-9AAE-7CA5DDCD5F34}" srcId="{1AFC9BFC-B6D5-490A-8C3A-9D1FE9DC6079}" destId="{5F237D86-E02E-4456-B5CB-A1E9B11930CE}" srcOrd="2" destOrd="0" parTransId="{062EC37F-5031-4174-A995-5AC8D65D22DD}" sibTransId="{98A309CE-36F5-4FF2-B79C-F612456AD179}"/>
    <dgm:cxn modelId="{4EDB8B9B-82F7-418D-8D7C-C61906C8A61A}" type="presParOf" srcId="{1F0D95C7-DD72-43DB-9D75-CFB1A195A555}" destId="{A606EB99-3A02-4C61-B071-75F4DC98BF9E}" srcOrd="0" destOrd="0" presId="urn:microsoft.com/office/officeart/2016/7/layout/VerticalDownArrowProcess"/>
    <dgm:cxn modelId="{19DB7E16-E563-4528-BC73-97272FF1909F}" type="presParOf" srcId="{A606EB99-3A02-4C61-B071-75F4DC98BF9E}" destId="{0FB90C3A-5876-4340-BF25-345C44A1FD7D}" srcOrd="0" destOrd="0" presId="urn:microsoft.com/office/officeart/2016/7/layout/VerticalDownArrowProcess"/>
    <dgm:cxn modelId="{B3ECFA13-0E6B-4E8B-AA84-2FEB2F8A56FF}" type="presParOf" srcId="{A606EB99-3A02-4C61-B071-75F4DC98BF9E}" destId="{2011774D-D503-4986-840B-1A89FD119A27}" srcOrd="1" destOrd="0" presId="urn:microsoft.com/office/officeart/2016/7/layout/VerticalDownArrowProcess"/>
    <dgm:cxn modelId="{30948F14-FE10-49C9-A8B2-F0762F51ED5A}" type="presParOf" srcId="{1F0D95C7-DD72-43DB-9D75-CFB1A195A555}" destId="{E57CF5AD-617F-410E-9340-14B8EC03A215}" srcOrd="1" destOrd="0" presId="urn:microsoft.com/office/officeart/2016/7/layout/VerticalDownArrowProcess"/>
    <dgm:cxn modelId="{65C837DE-3465-47A7-821B-70D047BD6E02}" type="presParOf" srcId="{1F0D95C7-DD72-43DB-9D75-CFB1A195A555}" destId="{E28C6852-5B5F-4EF1-9429-D92614BDEFAE}" srcOrd="2" destOrd="0" presId="urn:microsoft.com/office/officeart/2016/7/layout/VerticalDownArrowProcess"/>
    <dgm:cxn modelId="{232CB044-8268-4DD3-9D20-43653A9AF8D2}" type="presParOf" srcId="{E28C6852-5B5F-4EF1-9429-D92614BDEFAE}" destId="{7C7BC7D1-B012-4249-83B8-3F376ADF4948}" srcOrd="0" destOrd="0" presId="urn:microsoft.com/office/officeart/2016/7/layout/VerticalDownArrowProcess"/>
    <dgm:cxn modelId="{4542429D-83FE-483A-BEA7-B883F54765FC}" type="presParOf" srcId="{E28C6852-5B5F-4EF1-9429-D92614BDEFAE}" destId="{FB7E8028-297E-43C7-B2CC-8ADCD00B04F4}" srcOrd="1" destOrd="0" presId="urn:microsoft.com/office/officeart/2016/7/layout/VerticalDownArrowProcess"/>
    <dgm:cxn modelId="{BCC25C01-3B4E-456A-9E45-2124C82CD1D9}" type="presParOf" srcId="{E28C6852-5B5F-4EF1-9429-D92614BDEFAE}" destId="{8D529773-CF2F-4DFF-9759-EF3D53987A46}" srcOrd="2" destOrd="0" presId="urn:microsoft.com/office/officeart/2016/7/layout/VerticalDownArrowProcess"/>
    <dgm:cxn modelId="{A8E066C6-A0DE-4830-B44D-2F40A1D3F143}" type="presParOf" srcId="{1F0D95C7-DD72-43DB-9D75-CFB1A195A555}" destId="{FBDA65F9-8CF1-4E52-85E9-14922FCCDBDD}" srcOrd="3" destOrd="0" presId="urn:microsoft.com/office/officeart/2016/7/layout/VerticalDownArrowProcess"/>
    <dgm:cxn modelId="{342ADFB8-311C-487B-8F2F-018007F3A446}" type="presParOf" srcId="{1F0D95C7-DD72-43DB-9D75-CFB1A195A555}" destId="{07626378-5A11-4710-8D94-3285BD69CA9A}" srcOrd="4" destOrd="0" presId="urn:microsoft.com/office/officeart/2016/7/layout/VerticalDownArrowProcess"/>
    <dgm:cxn modelId="{7DEB479F-7771-4FFE-931D-CBE7C703A8DC}" type="presParOf" srcId="{07626378-5A11-4710-8D94-3285BD69CA9A}" destId="{22B20DE0-FA04-4D7D-8FA8-0965A6A9E088}" srcOrd="0" destOrd="0" presId="urn:microsoft.com/office/officeart/2016/7/layout/VerticalDownArrowProcess"/>
    <dgm:cxn modelId="{D6CF867C-C113-40FB-A3FC-33EB5313AF82}" type="presParOf" srcId="{07626378-5A11-4710-8D94-3285BD69CA9A}" destId="{4F47C49E-2786-4A6B-8394-DAFBBA402884}" srcOrd="1" destOrd="0" presId="urn:microsoft.com/office/officeart/2016/7/layout/VerticalDownArrowProcess"/>
    <dgm:cxn modelId="{6391F739-5527-480C-8AE8-27A461048EDD}" type="presParOf" srcId="{07626378-5A11-4710-8D94-3285BD69CA9A}" destId="{1B917066-03A2-490B-A19F-629B37D1F226}" srcOrd="2" destOrd="0" presId="urn:microsoft.com/office/officeart/2016/7/layout/VerticalDownArrowProcess"/>
    <dgm:cxn modelId="{ED1212C9-F82F-4AC3-BAF6-0C3F96CF6AD8}" type="presParOf" srcId="{1F0D95C7-DD72-43DB-9D75-CFB1A195A555}" destId="{94E0FC53-9B35-464C-9187-327C51627285}" srcOrd="5" destOrd="0" presId="urn:microsoft.com/office/officeart/2016/7/layout/VerticalDownArrowProcess"/>
    <dgm:cxn modelId="{370844C5-AA06-4BFF-B63E-FBEB20C8CA5A}" type="presParOf" srcId="{1F0D95C7-DD72-43DB-9D75-CFB1A195A555}" destId="{F896E851-CFD7-4DD9-B8FB-6CF5BB047BB9}" srcOrd="6" destOrd="0" presId="urn:microsoft.com/office/officeart/2016/7/layout/VerticalDownArrowProcess"/>
    <dgm:cxn modelId="{70695FD7-B209-4DB0-A8D6-8375BF33B649}" type="presParOf" srcId="{F896E851-CFD7-4DD9-B8FB-6CF5BB047BB9}" destId="{84CF816C-BFE0-4FD8-A483-411C10D99816}" srcOrd="0" destOrd="0" presId="urn:microsoft.com/office/officeart/2016/7/layout/VerticalDownArrowProcess"/>
    <dgm:cxn modelId="{BDA17240-D24F-4084-9C63-621A80F244EC}" type="presParOf" srcId="{F896E851-CFD7-4DD9-B8FB-6CF5BB047BB9}" destId="{691AB45F-B385-4C67-B165-18E845C15751}" srcOrd="1" destOrd="0" presId="urn:microsoft.com/office/officeart/2016/7/layout/VerticalDownArrowProcess"/>
    <dgm:cxn modelId="{DA2DF761-C8A1-467F-B9C7-EAFE598CB0F0}" type="presParOf" srcId="{F896E851-CFD7-4DD9-B8FB-6CF5BB047BB9}" destId="{7CBB7037-CAE8-4D3B-AB8C-7EAA0E75E463}" srcOrd="2" destOrd="0" presId="urn:microsoft.com/office/officeart/2016/7/layout/VerticalDownArrowProcess"/>
    <dgm:cxn modelId="{F744AA2B-F07D-4E0C-B960-DDA28B7BA018}" type="presParOf" srcId="{1F0D95C7-DD72-43DB-9D75-CFB1A195A555}" destId="{CDD25CE8-30FE-4619-B727-C04CA54A3D08}" srcOrd="7" destOrd="0" presId="urn:microsoft.com/office/officeart/2016/7/layout/VerticalDownArrowProcess"/>
    <dgm:cxn modelId="{21F61054-632B-40D1-A7BC-6ABDD560D78F}" type="presParOf" srcId="{1F0D95C7-DD72-43DB-9D75-CFB1A195A555}" destId="{0C67D93C-F042-474D-A5FA-F42A815EEC99}" srcOrd="8" destOrd="0" presId="urn:microsoft.com/office/officeart/2016/7/layout/VerticalDownArrowProcess"/>
    <dgm:cxn modelId="{CC53961B-91FB-4E5C-A625-B374F14D935E}" type="presParOf" srcId="{0C67D93C-F042-474D-A5FA-F42A815EEC99}" destId="{303E41D7-44C2-4FCA-9371-7B0173D8DF9B}" srcOrd="0" destOrd="0" presId="urn:microsoft.com/office/officeart/2016/7/layout/VerticalDownArrowProcess"/>
    <dgm:cxn modelId="{0CD74A87-B3AB-44B3-A9A7-86B70C06AC43}" type="presParOf" srcId="{0C67D93C-F042-474D-A5FA-F42A815EEC99}" destId="{8F51AA68-DEDF-4D70-9900-1C1DCCFE76AE}" srcOrd="1" destOrd="0" presId="urn:microsoft.com/office/officeart/2016/7/layout/VerticalDownArrowProcess"/>
    <dgm:cxn modelId="{EB7AB811-D3CA-44F3-A03C-A4BA3C9D594A}" type="presParOf" srcId="{0C67D93C-F042-474D-A5FA-F42A815EEC99}" destId="{52096280-8DE8-4063-B7E4-C9FC7623A793}"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83FC95-F389-4552-AAD1-F2132DDFC224}">
      <dsp:nvSpPr>
        <dsp:cNvPr id="0" name=""/>
        <dsp:cNvSpPr/>
      </dsp:nvSpPr>
      <dsp:spPr>
        <a:xfrm>
          <a:off x="0" y="829220"/>
          <a:ext cx="2684363" cy="3758108"/>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283" tIns="330200" rIns="209283" bIns="330200" numCol="1" spcCol="1270" anchor="t" anchorCtr="0">
          <a:noAutofit/>
        </a:bodyPr>
        <a:lstStyle/>
        <a:p>
          <a:pPr marL="0" lvl="0" indent="0" algn="l" defTabSz="977900">
            <a:lnSpc>
              <a:spcPct val="90000"/>
            </a:lnSpc>
            <a:spcBef>
              <a:spcPct val="0"/>
            </a:spcBef>
            <a:spcAft>
              <a:spcPct val="35000"/>
            </a:spcAft>
            <a:buNone/>
          </a:pPr>
          <a:r>
            <a:rPr lang="en-US" sz="2200" kern="1200" dirty="0"/>
            <a:t>Understand the role of </a:t>
          </a:r>
          <a:r>
            <a:rPr lang="en-US" sz="2200" b="1" kern="1200" dirty="0"/>
            <a:t>quality requirements </a:t>
          </a:r>
          <a:r>
            <a:rPr lang="en-US" sz="2200" kern="1200" dirty="0"/>
            <a:t>in software development.</a:t>
          </a:r>
        </a:p>
      </dsp:txBody>
      <dsp:txXfrm>
        <a:off x="0" y="2257301"/>
        <a:ext cx="2684363" cy="2254865"/>
      </dsp:txXfrm>
    </dsp:sp>
    <dsp:sp modelId="{F2DBEFF2-4FAB-4A9C-8382-3733A1AEECA3}">
      <dsp:nvSpPr>
        <dsp:cNvPr id="0" name=""/>
        <dsp:cNvSpPr/>
      </dsp:nvSpPr>
      <dsp:spPr>
        <a:xfrm>
          <a:off x="778465" y="1205031"/>
          <a:ext cx="1127432" cy="1127432"/>
        </a:xfrm>
        <a:prstGeom prst="ellips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87899" tIns="12700" rIns="87899"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943574" y="1370140"/>
        <a:ext cx="797214" cy="797214"/>
      </dsp:txXfrm>
    </dsp:sp>
    <dsp:sp modelId="{1067A410-88CF-4DB0-9990-90A7324E4AB2}">
      <dsp:nvSpPr>
        <dsp:cNvPr id="0" name=""/>
        <dsp:cNvSpPr/>
      </dsp:nvSpPr>
      <dsp:spPr>
        <a:xfrm>
          <a:off x="0" y="4587257"/>
          <a:ext cx="2684363" cy="72"/>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4575B76E-72A8-44EA-BB1B-8E6AE35FA8B6}">
      <dsp:nvSpPr>
        <dsp:cNvPr id="0" name=""/>
        <dsp:cNvSpPr/>
      </dsp:nvSpPr>
      <dsp:spPr>
        <a:xfrm>
          <a:off x="2952799" y="829220"/>
          <a:ext cx="2684363" cy="3758108"/>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283" tIns="330200" rIns="209283" bIns="330200" numCol="1" spcCol="1270" anchor="t" anchorCtr="0">
          <a:noAutofit/>
        </a:bodyPr>
        <a:lstStyle/>
        <a:p>
          <a:pPr marL="0" lvl="0" indent="0" algn="l" defTabSz="977900">
            <a:lnSpc>
              <a:spcPct val="90000"/>
            </a:lnSpc>
            <a:spcBef>
              <a:spcPct val="0"/>
            </a:spcBef>
            <a:spcAft>
              <a:spcPct val="35000"/>
            </a:spcAft>
            <a:buNone/>
          </a:pPr>
          <a:r>
            <a:rPr lang="en-US" sz="2200" kern="1200" dirty="0"/>
            <a:t>Be able to </a:t>
          </a:r>
          <a:r>
            <a:rPr lang="en-US" sz="2200" b="1" kern="1200" dirty="0"/>
            <a:t>define</a:t>
          </a:r>
          <a:r>
            <a:rPr lang="en-US" sz="2200" kern="1200" dirty="0"/>
            <a:t> and </a:t>
          </a:r>
          <a:r>
            <a:rPr lang="en-US" sz="2200" b="1" kern="1200" dirty="0"/>
            <a:t>specify</a:t>
          </a:r>
          <a:r>
            <a:rPr lang="en-US" sz="2200" kern="1200" dirty="0"/>
            <a:t> nonfunctional requirements.</a:t>
          </a:r>
        </a:p>
      </dsp:txBody>
      <dsp:txXfrm>
        <a:off x="2952799" y="2257301"/>
        <a:ext cx="2684363" cy="2254865"/>
      </dsp:txXfrm>
    </dsp:sp>
    <dsp:sp modelId="{B21E4900-12B5-4131-B7EA-A90372B4660F}">
      <dsp:nvSpPr>
        <dsp:cNvPr id="0" name=""/>
        <dsp:cNvSpPr/>
      </dsp:nvSpPr>
      <dsp:spPr>
        <a:xfrm>
          <a:off x="3731265" y="1205031"/>
          <a:ext cx="1127432" cy="1127432"/>
        </a:xfrm>
        <a:prstGeom prst="ellips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87899" tIns="12700" rIns="87899"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3896374" y="1370140"/>
        <a:ext cx="797214" cy="797214"/>
      </dsp:txXfrm>
    </dsp:sp>
    <dsp:sp modelId="{FFB5693A-B4A7-4F19-B815-70702BCFE88D}">
      <dsp:nvSpPr>
        <dsp:cNvPr id="0" name=""/>
        <dsp:cNvSpPr/>
      </dsp:nvSpPr>
      <dsp:spPr>
        <a:xfrm>
          <a:off x="2952799" y="4587257"/>
          <a:ext cx="2684363" cy="72"/>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890D717A-F491-4008-9927-39D8A0E784FB}">
      <dsp:nvSpPr>
        <dsp:cNvPr id="0" name=""/>
        <dsp:cNvSpPr/>
      </dsp:nvSpPr>
      <dsp:spPr>
        <a:xfrm>
          <a:off x="5905599" y="829220"/>
          <a:ext cx="2684363" cy="3758108"/>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283" tIns="330200" rIns="209283" bIns="330200" numCol="1" spcCol="1270" anchor="t" anchorCtr="0">
          <a:noAutofit/>
        </a:bodyPr>
        <a:lstStyle/>
        <a:p>
          <a:pPr marL="0" lvl="0" indent="0" algn="l" defTabSz="977900">
            <a:lnSpc>
              <a:spcPct val="90000"/>
            </a:lnSpc>
            <a:spcBef>
              <a:spcPct val="0"/>
            </a:spcBef>
            <a:spcAft>
              <a:spcPct val="35000"/>
            </a:spcAft>
            <a:buNone/>
          </a:pPr>
          <a:r>
            <a:rPr lang="en-US" sz="2200" kern="1200"/>
            <a:t>Understand the quality attributes on agile projects.</a:t>
          </a:r>
        </a:p>
      </dsp:txBody>
      <dsp:txXfrm>
        <a:off x="5905599" y="2257301"/>
        <a:ext cx="2684363" cy="2254865"/>
      </dsp:txXfrm>
    </dsp:sp>
    <dsp:sp modelId="{4F1A9441-1361-4905-8163-D9BFA70EB796}">
      <dsp:nvSpPr>
        <dsp:cNvPr id="0" name=""/>
        <dsp:cNvSpPr/>
      </dsp:nvSpPr>
      <dsp:spPr>
        <a:xfrm>
          <a:off x="6684064" y="1205031"/>
          <a:ext cx="1127432" cy="1127432"/>
        </a:xfrm>
        <a:prstGeom prst="ellips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87899" tIns="12700" rIns="87899"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6849173" y="1370140"/>
        <a:ext cx="797214" cy="797214"/>
      </dsp:txXfrm>
    </dsp:sp>
    <dsp:sp modelId="{4E9BB40D-AFFF-498F-A8F9-E8286CFEDFF7}">
      <dsp:nvSpPr>
        <dsp:cNvPr id="0" name=""/>
        <dsp:cNvSpPr/>
      </dsp:nvSpPr>
      <dsp:spPr>
        <a:xfrm>
          <a:off x="5905599" y="4587257"/>
          <a:ext cx="2684363" cy="72"/>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621C1A-FE9C-4FD8-956A-21D26AF93E4D}">
      <dsp:nvSpPr>
        <dsp:cNvPr id="0" name=""/>
        <dsp:cNvSpPr/>
      </dsp:nvSpPr>
      <dsp:spPr>
        <a:xfrm>
          <a:off x="0" y="7824"/>
          <a:ext cx="8589963" cy="835380"/>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What happen if your application is:</a:t>
          </a:r>
        </a:p>
      </dsp:txBody>
      <dsp:txXfrm>
        <a:off x="40780" y="48604"/>
        <a:ext cx="8508403" cy="753820"/>
      </dsp:txXfrm>
    </dsp:sp>
    <dsp:sp modelId="{91B7CD72-5E1B-4234-BDF4-E3CC77A8A204}">
      <dsp:nvSpPr>
        <dsp:cNvPr id="0" name=""/>
        <dsp:cNvSpPr/>
      </dsp:nvSpPr>
      <dsp:spPr>
        <a:xfrm>
          <a:off x="0" y="843204"/>
          <a:ext cx="8589963" cy="23225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731" tIns="43180" rIns="241808" bIns="43180" numCol="1" spcCol="1270" anchor="t" anchorCtr="0">
          <a:noAutofit/>
        </a:bodyPr>
        <a:lstStyle/>
        <a:p>
          <a:pPr marL="228600" lvl="1" indent="-228600" algn="l" defTabSz="1200150">
            <a:lnSpc>
              <a:spcPct val="90000"/>
            </a:lnSpc>
            <a:spcBef>
              <a:spcPct val="0"/>
            </a:spcBef>
            <a:spcAft>
              <a:spcPct val="20000"/>
            </a:spcAft>
            <a:buChar char="•"/>
          </a:pPr>
          <a:r>
            <a:rPr lang="en-US" sz="2700" kern="1200"/>
            <a:t>Very difficult to use</a:t>
          </a:r>
        </a:p>
        <a:p>
          <a:pPr marL="228600" lvl="1" indent="-228600" algn="l" defTabSz="1200150">
            <a:lnSpc>
              <a:spcPct val="90000"/>
            </a:lnSpc>
            <a:spcBef>
              <a:spcPct val="0"/>
            </a:spcBef>
            <a:spcAft>
              <a:spcPct val="20000"/>
            </a:spcAft>
            <a:buChar char="•"/>
          </a:pPr>
          <a:r>
            <a:rPr lang="en-US" sz="2700" kern="1200"/>
            <a:t>Very slow running</a:t>
          </a:r>
        </a:p>
        <a:p>
          <a:pPr marL="228600" lvl="1" indent="-228600" algn="l" defTabSz="1200150">
            <a:lnSpc>
              <a:spcPct val="90000"/>
            </a:lnSpc>
            <a:spcBef>
              <a:spcPct val="0"/>
            </a:spcBef>
            <a:spcAft>
              <a:spcPct val="20000"/>
            </a:spcAft>
            <a:buChar char="•"/>
          </a:pPr>
          <a:r>
            <a:rPr lang="en-US" sz="2700" kern="1200"/>
            <a:t>Easy to lose data</a:t>
          </a:r>
        </a:p>
        <a:p>
          <a:pPr marL="228600" lvl="1" indent="-228600" algn="l" defTabSz="1200150">
            <a:lnSpc>
              <a:spcPct val="90000"/>
            </a:lnSpc>
            <a:spcBef>
              <a:spcPct val="0"/>
            </a:spcBef>
            <a:spcAft>
              <a:spcPct val="20000"/>
            </a:spcAft>
            <a:buChar char="•"/>
          </a:pPr>
          <a:r>
            <a:rPr lang="en-US" sz="2700" kern="1200"/>
            <a:t>Not able to extend to serve more users</a:t>
          </a:r>
        </a:p>
        <a:p>
          <a:pPr marL="228600" lvl="1" indent="-228600" algn="l" defTabSz="1200150">
            <a:lnSpc>
              <a:spcPct val="90000"/>
            </a:lnSpc>
            <a:spcBef>
              <a:spcPct val="0"/>
            </a:spcBef>
            <a:spcAft>
              <a:spcPct val="20000"/>
            </a:spcAft>
            <a:buChar char="•"/>
          </a:pPr>
          <a:r>
            <a:rPr lang="en-US" sz="2700" kern="1200"/>
            <a:t>…</a:t>
          </a:r>
        </a:p>
      </dsp:txBody>
      <dsp:txXfrm>
        <a:off x="0" y="843204"/>
        <a:ext cx="8589963" cy="2322540"/>
      </dsp:txXfrm>
    </dsp:sp>
    <dsp:sp modelId="{462E280E-DE62-4408-8EB6-4299E6810C71}">
      <dsp:nvSpPr>
        <dsp:cNvPr id="0" name=""/>
        <dsp:cNvSpPr/>
      </dsp:nvSpPr>
      <dsp:spPr>
        <a:xfrm>
          <a:off x="0" y="3165744"/>
          <a:ext cx="8589963" cy="835380"/>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Nonfunctional requirements contain of:</a:t>
          </a:r>
        </a:p>
      </dsp:txBody>
      <dsp:txXfrm>
        <a:off x="40780" y="3206524"/>
        <a:ext cx="8508403" cy="753820"/>
      </dsp:txXfrm>
    </dsp:sp>
    <dsp:sp modelId="{9266902E-E238-4520-BE55-4572ECC99FFD}">
      <dsp:nvSpPr>
        <dsp:cNvPr id="0" name=""/>
        <dsp:cNvSpPr/>
      </dsp:nvSpPr>
      <dsp:spPr>
        <a:xfrm>
          <a:off x="0" y="4001124"/>
          <a:ext cx="8589963" cy="1407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731" tIns="43180" rIns="241808" bIns="43180" numCol="1" spcCol="1270" anchor="t" anchorCtr="0">
          <a:noAutofit/>
        </a:bodyPr>
        <a:lstStyle/>
        <a:p>
          <a:pPr marL="228600" lvl="1" indent="-228600" algn="l" defTabSz="1200150">
            <a:lnSpc>
              <a:spcPct val="90000"/>
            </a:lnSpc>
            <a:spcBef>
              <a:spcPct val="0"/>
            </a:spcBef>
            <a:spcAft>
              <a:spcPct val="20000"/>
            </a:spcAft>
            <a:buChar char="•"/>
          </a:pPr>
          <a:r>
            <a:rPr lang="en-US" sz="2700" kern="1200"/>
            <a:t>External interface requirements</a:t>
          </a:r>
        </a:p>
        <a:p>
          <a:pPr marL="228600" lvl="1" indent="-228600" algn="l" defTabSz="1200150">
            <a:lnSpc>
              <a:spcPct val="90000"/>
            </a:lnSpc>
            <a:spcBef>
              <a:spcPct val="0"/>
            </a:spcBef>
            <a:spcAft>
              <a:spcPct val="20000"/>
            </a:spcAft>
            <a:buChar char="•"/>
          </a:pPr>
          <a:r>
            <a:rPr lang="en-US" sz="2700" kern="1200"/>
            <a:t>Quality attributes</a:t>
          </a:r>
        </a:p>
        <a:p>
          <a:pPr marL="228600" lvl="1" indent="-228600" algn="l" defTabSz="1200150">
            <a:lnSpc>
              <a:spcPct val="90000"/>
            </a:lnSpc>
            <a:spcBef>
              <a:spcPct val="0"/>
            </a:spcBef>
            <a:spcAft>
              <a:spcPct val="20000"/>
            </a:spcAft>
            <a:buChar char="•"/>
          </a:pPr>
          <a:r>
            <a:rPr lang="en-US" sz="2700" kern="1200"/>
            <a:t>Constraints</a:t>
          </a:r>
        </a:p>
      </dsp:txBody>
      <dsp:txXfrm>
        <a:off x="0" y="4001124"/>
        <a:ext cx="8589963" cy="14076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B90C3A-5876-4340-BF25-345C44A1FD7D}">
      <dsp:nvSpPr>
        <dsp:cNvPr id="0" name=""/>
        <dsp:cNvSpPr/>
      </dsp:nvSpPr>
      <dsp:spPr>
        <a:xfrm>
          <a:off x="0" y="4650935"/>
          <a:ext cx="2147490" cy="76302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52730" tIns="184912" rIns="152730" bIns="184912" numCol="1" spcCol="1270" anchor="ctr" anchorCtr="0">
          <a:noAutofit/>
        </a:bodyPr>
        <a:lstStyle/>
        <a:p>
          <a:pPr marL="0" lvl="0" indent="0" algn="ctr" defTabSz="1155700">
            <a:lnSpc>
              <a:spcPct val="90000"/>
            </a:lnSpc>
            <a:spcBef>
              <a:spcPct val="0"/>
            </a:spcBef>
            <a:spcAft>
              <a:spcPct val="35000"/>
            </a:spcAft>
            <a:buNone/>
          </a:pPr>
          <a:r>
            <a:rPr lang="en-US" sz="2600" kern="1200"/>
            <a:t>Step 5</a:t>
          </a:r>
        </a:p>
      </dsp:txBody>
      <dsp:txXfrm>
        <a:off x="0" y="4650935"/>
        <a:ext cx="2147490" cy="763024"/>
      </dsp:txXfrm>
    </dsp:sp>
    <dsp:sp modelId="{2011774D-D503-4986-840B-1A89FD119A27}">
      <dsp:nvSpPr>
        <dsp:cNvPr id="0" name=""/>
        <dsp:cNvSpPr/>
      </dsp:nvSpPr>
      <dsp:spPr>
        <a:xfrm>
          <a:off x="2147490" y="4650935"/>
          <a:ext cx="6442472" cy="763024"/>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30684" tIns="241300" rIns="130684" bIns="241300" numCol="1" spcCol="1270" anchor="ctr" anchorCtr="0">
          <a:noAutofit/>
        </a:bodyPr>
        <a:lstStyle/>
        <a:p>
          <a:pPr marL="0" lvl="0" indent="0" algn="l" defTabSz="844550">
            <a:lnSpc>
              <a:spcPct val="90000"/>
            </a:lnSpc>
            <a:spcBef>
              <a:spcPct val="0"/>
            </a:spcBef>
            <a:spcAft>
              <a:spcPct val="35000"/>
            </a:spcAft>
            <a:buNone/>
          </a:pPr>
          <a:r>
            <a:rPr lang="en-US" sz="1900" kern="1200"/>
            <a:t>Specify well-structured quality requirements</a:t>
          </a:r>
        </a:p>
      </dsp:txBody>
      <dsp:txXfrm>
        <a:off x="2147490" y="4650935"/>
        <a:ext cx="6442472" cy="763024"/>
      </dsp:txXfrm>
    </dsp:sp>
    <dsp:sp modelId="{FB7E8028-297E-43C7-B2CC-8ADCD00B04F4}">
      <dsp:nvSpPr>
        <dsp:cNvPr id="0" name=""/>
        <dsp:cNvSpPr/>
      </dsp:nvSpPr>
      <dsp:spPr>
        <a:xfrm rot="10800000">
          <a:off x="0" y="3488849"/>
          <a:ext cx="2147490" cy="1173532"/>
        </a:xfrm>
        <a:prstGeom prst="upArrowCallout">
          <a:avLst>
            <a:gd name="adj1" fmla="val 5000"/>
            <a:gd name="adj2" fmla="val 10000"/>
            <a:gd name="adj3" fmla="val 15000"/>
            <a:gd name="adj4" fmla="val 64977"/>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52730" tIns="184912" rIns="152730" bIns="184912" numCol="1" spcCol="1270" anchor="ctr" anchorCtr="0">
          <a:noAutofit/>
        </a:bodyPr>
        <a:lstStyle/>
        <a:p>
          <a:pPr marL="0" lvl="0" indent="0" algn="ctr" defTabSz="1155700">
            <a:lnSpc>
              <a:spcPct val="90000"/>
            </a:lnSpc>
            <a:spcBef>
              <a:spcPct val="0"/>
            </a:spcBef>
            <a:spcAft>
              <a:spcPct val="35000"/>
            </a:spcAft>
            <a:buNone/>
          </a:pPr>
          <a:r>
            <a:rPr lang="en-US" sz="2600" kern="1200"/>
            <a:t>Step 4</a:t>
          </a:r>
        </a:p>
      </dsp:txBody>
      <dsp:txXfrm rot="-10800000">
        <a:off x="0" y="3488849"/>
        <a:ext cx="2147490" cy="762795"/>
      </dsp:txXfrm>
    </dsp:sp>
    <dsp:sp modelId="{8D529773-CF2F-4DFF-9759-EF3D53987A46}">
      <dsp:nvSpPr>
        <dsp:cNvPr id="0" name=""/>
        <dsp:cNvSpPr/>
      </dsp:nvSpPr>
      <dsp:spPr>
        <a:xfrm>
          <a:off x="2147490" y="3488849"/>
          <a:ext cx="6442472" cy="762795"/>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30684" tIns="241300" rIns="130684" bIns="241300" numCol="1" spcCol="1270" anchor="ctr" anchorCtr="0">
          <a:noAutofit/>
        </a:bodyPr>
        <a:lstStyle/>
        <a:p>
          <a:pPr marL="0" lvl="0" indent="0" algn="l" defTabSz="844550">
            <a:lnSpc>
              <a:spcPct val="90000"/>
            </a:lnSpc>
            <a:spcBef>
              <a:spcPct val="0"/>
            </a:spcBef>
            <a:spcAft>
              <a:spcPct val="35000"/>
            </a:spcAft>
            <a:buNone/>
          </a:pPr>
          <a:r>
            <a:rPr lang="en-US" sz="1900" kern="1200"/>
            <a:t>Elicit specific expectations for each attribute </a:t>
          </a:r>
        </a:p>
      </dsp:txBody>
      <dsp:txXfrm>
        <a:off x="2147490" y="3488849"/>
        <a:ext cx="6442472" cy="762795"/>
      </dsp:txXfrm>
    </dsp:sp>
    <dsp:sp modelId="{4F47C49E-2786-4A6B-8394-DAFBBA402884}">
      <dsp:nvSpPr>
        <dsp:cNvPr id="0" name=""/>
        <dsp:cNvSpPr/>
      </dsp:nvSpPr>
      <dsp:spPr>
        <a:xfrm rot="10800000">
          <a:off x="0" y="2326762"/>
          <a:ext cx="2147490" cy="1173532"/>
        </a:xfrm>
        <a:prstGeom prst="upArrowCallout">
          <a:avLst>
            <a:gd name="adj1" fmla="val 5000"/>
            <a:gd name="adj2" fmla="val 10000"/>
            <a:gd name="adj3" fmla="val 15000"/>
            <a:gd name="adj4" fmla="val 64977"/>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52730" tIns="184912" rIns="152730" bIns="184912" numCol="1" spcCol="1270" anchor="ctr" anchorCtr="0">
          <a:noAutofit/>
        </a:bodyPr>
        <a:lstStyle/>
        <a:p>
          <a:pPr marL="0" lvl="0" indent="0" algn="ctr" defTabSz="1155700">
            <a:lnSpc>
              <a:spcPct val="90000"/>
            </a:lnSpc>
            <a:spcBef>
              <a:spcPct val="0"/>
            </a:spcBef>
            <a:spcAft>
              <a:spcPct val="35000"/>
            </a:spcAft>
            <a:buNone/>
          </a:pPr>
          <a:r>
            <a:rPr lang="en-US" sz="2600" kern="1200"/>
            <a:t>Step 3</a:t>
          </a:r>
        </a:p>
      </dsp:txBody>
      <dsp:txXfrm rot="-10800000">
        <a:off x="0" y="2326762"/>
        <a:ext cx="2147490" cy="762795"/>
      </dsp:txXfrm>
    </dsp:sp>
    <dsp:sp modelId="{1B917066-03A2-490B-A19F-629B37D1F226}">
      <dsp:nvSpPr>
        <dsp:cNvPr id="0" name=""/>
        <dsp:cNvSpPr/>
      </dsp:nvSpPr>
      <dsp:spPr>
        <a:xfrm>
          <a:off x="2147490" y="2326762"/>
          <a:ext cx="6442472" cy="762795"/>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30684" tIns="241300" rIns="130684" bIns="241300" numCol="1" spcCol="1270" anchor="ctr" anchorCtr="0">
          <a:noAutofit/>
        </a:bodyPr>
        <a:lstStyle/>
        <a:p>
          <a:pPr marL="0" lvl="0" indent="0" algn="l" defTabSz="844550">
            <a:lnSpc>
              <a:spcPct val="90000"/>
            </a:lnSpc>
            <a:spcBef>
              <a:spcPct val="0"/>
            </a:spcBef>
            <a:spcAft>
              <a:spcPct val="35000"/>
            </a:spcAft>
            <a:buNone/>
          </a:pPr>
          <a:r>
            <a:rPr lang="en-US" sz="1900" kern="1200"/>
            <a:t>Prioritize the attributes</a:t>
          </a:r>
        </a:p>
      </dsp:txBody>
      <dsp:txXfrm>
        <a:off x="2147490" y="2326762"/>
        <a:ext cx="6442472" cy="762795"/>
      </dsp:txXfrm>
    </dsp:sp>
    <dsp:sp modelId="{691AB45F-B385-4C67-B165-18E845C15751}">
      <dsp:nvSpPr>
        <dsp:cNvPr id="0" name=""/>
        <dsp:cNvSpPr/>
      </dsp:nvSpPr>
      <dsp:spPr>
        <a:xfrm rot="10800000">
          <a:off x="0" y="1164675"/>
          <a:ext cx="2147490" cy="1173532"/>
        </a:xfrm>
        <a:prstGeom prst="upArrowCallout">
          <a:avLst>
            <a:gd name="adj1" fmla="val 5000"/>
            <a:gd name="adj2" fmla="val 10000"/>
            <a:gd name="adj3" fmla="val 15000"/>
            <a:gd name="adj4" fmla="val 64977"/>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52730" tIns="184912" rIns="152730" bIns="184912" numCol="1" spcCol="1270" anchor="ctr" anchorCtr="0">
          <a:noAutofit/>
        </a:bodyPr>
        <a:lstStyle/>
        <a:p>
          <a:pPr marL="0" lvl="0" indent="0" algn="ctr" defTabSz="1155700">
            <a:lnSpc>
              <a:spcPct val="90000"/>
            </a:lnSpc>
            <a:spcBef>
              <a:spcPct val="0"/>
            </a:spcBef>
            <a:spcAft>
              <a:spcPct val="35000"/>
            </a:spcAft>
            <a:buNone/>
          </a:pPr>
          <a:r>
            <a:rPr lang="en-US" sz="2600" kern="1200"/>
            <a:t>Step 2</a:t>
          </a:r>
        </a:p>
      </dsp:txBody>
      <dsp:txXfrm rot="-10800000">
        <a:off x="0" y="1164675"/>
        <a:ext cx="2147490" cy="762795"/>
      </dsp:txXfrm>
    </dsp:sp>
    <dsp:sp modelId="{7CBB7037-CAE8-4D3B-AB8C-7EAA0E75E463}">
      <dsp:nvSpPr>
        <dsp:cNvPr id="0" name=""/>
        <dsp:cNvSpPr/>
      </dsp:nvSpPr>
      <dsp:spPr>
        <a:xfrm>
          <a:off x="2147490" y="1164675"/>
          <a:ext cx="6442472" cy="762795"/>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30684" tIns="241300" rIns="130684" bIns="241300" numCol="1" spcCol="1270" anchor="ctr" anchorCtr="0">
          <a:noAutofit/>
        </a:bodyPr>
        <a:lstStyle/>
        <a:p>
          <a:pPr marL="0" lvl="0" indent="0" algn="l" defTabSz="844550">
            <a:lnSpc>
              <a:spcPct val="90000"/>
            </a:lnSpc>
            <a:spcBef>
              <a:spcPct val="0"/>
            </a:spcBef>
            <a:spcAft>
              <a:spcPct val="35000"/>
            </a:spcAft>
            <a:buNone/>
          </a:pPr>
          <a:r>
            <a:rPr lang="en-US" sz="1900" kern="1200"/>
            <a:t>Reduce the list</a:t>
          </a:r>
        </a:p>
      </dsp:txBody>
      <dsp:txXfrm>
        <a:off x="2147490" y="1164675"/>
        <a:ext cx="6442472" cy="762795"/>
      </dsp:txXfrm>
    </dsp:sp>
    <dsp:sp modelId="{8F51AA68-DEDF-4D70-9900-1C1DCCFE76AE}">
      <dsp:nvSpPr>
        <dsp:cNvPr id="0" name=""/>
        <dsp:cNvSpPr/>
      </dsp:nvSpPr>
      <dsp:spPr>
        <a:xfrm rot="10800000">
          <a:off x="0" y="2589"/>
          <a:ext cx="2147490" cy="1173532"/>
        </a:xfrm>
        <a:prstGeom prst="upArrowCallout">
          <a:avLst>
            <a:gd name="adj1" fmla="val 5000"/>
            <a:gd name="adj2" fmla="val 10000"/>
            <a:gd name="adj3" fmla="val 15000"/>
            <a:gd name="adj4" fmla="val 64977"/>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52730" tIns="184912" rIns="152730" bIns="184912" numCol="1" spcCol="1270" anchor="ctr" anchorCtr="0">
          <a:noAutofit/>
        </a:bodyPr>
        <a:lstStyle/>
        <a:p>
          <a:pPr marL="0" lvl="0" indent="0" algn="ctr" defTabSz="1155700">
            <a:lnSpc>
              <a:spcPct val="90000"/>
            </a:lnSpc>
            <a:spcBef>
              <a:spcPct val="0"/>
            </a:spcBef>
            <a:spcAft>
              <a:spcPct val="35000"/>
            </a:spcAft>
            <a:buNone/>
          </a:pPr>
          <a:r>
            <a:rPr lang="en-US" sz="2600" kern="1200"/>
            <a:t>Step 1</a:t>
          </a:r>
        </a:p>
      </dsp:txBody>
      <dsp:txXfrm rot="-10800000">
        <a:off x="0" y="2589"/>
        <a:ext cx="2147490" cy="762795"/>
      </dsp:txXfrm>
    </dsp:sp>
    <dsp:sp modelId="{52096280-8DE8-4063-B7E4-C9FC7623A793}">
      <dsp:nvSpPr>
        <dsp:cNvPr id="0" name=""/>
        <dsp:cNvSpPr/>
      </dsp:nvSpPr>
      <dsp:spPr>
        <a:xfrm>
          <a:off x="2147490" y="2589"/>
          <a:ext cx="6442472" cy="762795"/>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30684" tIns="241300" rIns="130684" bIns="241300" numCol="1" spcCol="1270" anchor="ctr" anchorCtr="0">
          <a:noAutofit/>
        </a:bodyPr>
        <a:lstStyle/>
        <a:p>
          <a:pPr marL="0" lvl="0" indent="0" algn="l" defTabSz="844550">
            <a:lnSpc>
              <a:spcPct val="90000"/>
            </a:lnSpc>
            <a:spcBef>
              <a:spcPct val="0"/>
            </a:spcBef>
            <a:spcAft>
              <a:spcPct val="35000"/>
            </a:spcAft>
            <a:buNone/>
          </a:pPr>
          <a:r>
            <a:rPr lang="en-US" sz="1900" kern="1200"/>
            <a:t>Start with a broad taxonomy </a:t>
          </a:r>
        </a:p>
      </dsp:txBody>
      <dsp:txXfrm>
        <a:off x="2147490" y="2589"/>
        <a:ext cx="6442472" cy="762795"/>
      </dsp:txXfrm>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BCDEFA-7890-4DEC-933A-00B42ABF654E}" type="datetimeFigureOut">
              <a:rPr lang="en-US" smtClean="0"/>
              <a:t>6/10/2024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9BF220-573E-4EF0-8CCB-CD6A57D3EB62}" type="slidenum">
              <a:rPr lang="en-US" smtClean="0"/>
              <a:t>‹#›</a:t>
            </a:fld>
            <a:endParaRPr lang="en-US"/>
          </a:p>
        </p:txBody>
      </p:sp>
    </p:spTree>
    <p:extLst>
      <p:ext uri="{BB962C8B-B14F-4D97-AF65-F5344CB8AC3E}">
        <p14:creationId xmlns:p14="http://schemas.microsoft.com/office/powerpoint/2010/main" val="940981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9BF220-573E-4EF0-8CCB-CD6A57D3EB62}" type="slidenum">
              <a:rPr lang="en-US" smtClean="0"/>
              <a:t>3</a:t>
            </a:fld>
            <a:endParaRPr lang="en-US"/>
          </a:p>
        </p:txBody>
      </p:sp>
    </p:spTree>
    <p:extLst>
      <p:ext uri="{BB962C8B-B14F-4D97-AF65-F5344CB8AC3E}">
        <p14:creationId xmlns:p14="http://schemas.microsoft.com/office/powerpoint/2010/main" val="3096214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9BF220-573E-4EF0-8CCB-CD6A57D3EB62}" type="slidenum">
              <a:rPr lang="en-US" smtClean="0"/>
              <a:t>5</a:t>
            </a:fld>
            <a:endParaRPr lang="en-US"/>
          </a:p>
        </p:txBody>
      </p:sp>
    </p:spTree>
    <p:extLst>
      <p:ext uri="{BB962C8B-B14F-4D97-AF65-F5344CB8AC3E}">
        <p14:creationId xmlns:p14="http://schemas.microsoft.com/office/powerpoint/2010/main" val="42093167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 can be recognized through execution, </a:t>
            </a:r>
            <a:r>
              <a:rPr lang="en-US" sz="1200" b="0" i="0" u="none" strike="noStrike" kern="1200" baseline="0" dirty="0">
                <a:solidFill>
                  <a:schemeClr val="tx1"/>
                </a:solidFill>
                <a:latin typeface="+mn-lt"/>
                <a:ea typeface="+mn-ea"/>
                <a:cs typeface="+mn-cs"/>
              </a:rPr>
              <a:t>are primarily important to users</a:t>
            </a:r>
            <a:endParaRPr lang="en-US" dirty="0"/>
          </a:p>
          <a:p>
            <a:r>
              <a:rPr lang="en-US" dirty="0"/>
              <a:t>Internal: can not, </a:t>
            </a:r>
            <a:r>
              <a:rPr lang="en-US" sz="1200" b="0" i="0" u="none" strike="noStrike" kern="1200" baseline="0" dirty="0">
                <a:solidFill>
                  <a:schemeClr val="tx1"/>
                </a:solidFill>
                <a:latin typeface="+mn-lt"/>
                <a:ea typeface="+mn-ea"/>
                <a:cs typeface="+mn-cs"/>
              </a:rPr>
              <a:t>are more significant to development and maintenance staffs</a:t>
            </a:r>
            <a:endParaRPr lang="en-US" dirty="0"/>
          </a:p>
        </p:txBody>
      </p:sp>
      <p:sp>
        <p:nvSpPr>
          <p:cNvPr id="4" name="Slide Number Placeholder 3"/>
          <p:cNvSpPr>
            <a:spLocks noGrp="1"/>
          </p:cNvSpPr>
          <p:nvPr>
            <p:ph type="sldNum" sz="quarter" idx="5"/>
          </p:nvPr>
        </p:nvSpPr>
        <p:spPr/>
        <p:txBody>
          <a:bodyPr/>
          <a:lstStyle/>
          <a:p>
            <a:fld id="{989BF220-573E-4EF0-8CCB-CD6A57D3EB62}" type="slidenum">
              <a:rPr lang="en-US" smtClean="0"/>
              <a:t>6</a:t>
            </a:fld>
            <a:endParaRPr lang="en-US"/>
          </a:p>
        </p:txBody>
      </p:sp>
    </p:spTree>
    <p:extLst>
      <p:ext uri="{BB962C8B-B14F-4D97-AF65-F5344CB8AC3E}">
        <p14:creationId xmlns:p14="http://schemas.microsoft.com/office/powerpoint/2010/main" val="38081149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The extent to which the system’s services are available when and where they are needed</a:t>
            </a:r>
          </a:p>
        </p:txBody>
      </p:sp>
      <p:sp>
        <p:nvSpPr>
          <p:cNvPr id="4" name="Slide Number Placeholder 3"/>
          <p:cNvSpPr>
            <a:spLocks noGrp="1"/>
          </p:cNvSpPr>
          <p:nvPr>
            <p:ph type="sldNum" sz="quarter" idx="5"/>
          </p:nvPr>
        </p:nvSpPr>
        <p:spPr/>
        <p:txBody>
          <a:bodyPr/>
          <a:lstStyle/>
          <a:p>
            <a:fld id="{989BF220-573E-4EF0-8CCB-CD6A57D3EB62}" type="slidenum">
              <a:rPr lang="en-US" smtClean="0"/>
              <a:t>8</a:t>
            </a:fld>
            <a:endParaRPr lang="en-US"/>
          </a:p>
        </p:txBody>
      </p:sp>
    </p:spTree>
    <p:extLst>
      <p:ext uri="{BB962C8B-B14F-4D97-AF65-F5344CB8AC3E}">
        <p14:creationId xmlns:p14="http://schemas.microsoft.com/office/powerpoint/2010/main" val="31005600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How easy it is to correctly install, uninstall, and reinstall the application</a:t>
            </a:r>
          </a:p>
        </p:txBody>
      </p:sp>
      <p:sp>
        <p:nvSpPr>
          <p:cNvPr id="4" name="Slide Number Placeholder 3"/>
          <p:cNvSpPr>
            <a:spLocks noGrp="1"/>
          </p:cNvSpPr>
          <p:nvPr>
            <p:ph type="sldNum" sz="quarter" idx="5"/>
          </p:nvPr>
        </p:nvSpPr>
        <p:spPr/>
        <p:txBody>
          <a:bodyPr/>
          <a:lstStyle/>
          <a:p>
            <a:fld id="{989BF220-573E-4EF0-8CCB-CD6A57D3EB62}" type="slidenum">
              <a:rPr lang="en-US" smtClean="0"/>
              <a:t>9</a:t>
            </a:fld>
            <a:endParaRPr lang="en-US"/>
          </a:p>
        </p:txBody>
      </p:sp>
    </p:spTree>
    <p:extLst>
      <p:ext uri="{BB962C8B-B14F-4D97-AF65-F5344CB8AC3E}">
        <p14:creationId xmlns:p14="http://schemas.microsoft.com/office/powerpoint/2010/main" val="15296623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extent to which the system protects against data inaccuracy and loss</a:t>
            </a:r>
          </a:p>
        </p:txBody>
      </p:sp>
      <p:sp>
        <p:nvSpPr>
          <p:cNvPr id="4" name="Slide Number Placeholder 3"/>
          <p:cNvSpPr>
            <a:spLocks noGrp="1"/>
          </p:cNvSpPr>
          <p:nvPr>
            <p:ph type="sldNum" sz="quarter" idx="5"/>
          </p:nvPr>
        </p:nvSpPr>
        <p:spPr/>
        <p:txBody>
          <a:bodyPr/>
          <a:lstStyle/>
          <a:p>
            <a:fld id="{989BF220-573E-4EF0-8CCB-CD6A57D3EB62}" type="slidenum">
              <a:rPr lang="en-US" smtClean="0"/>
              <a:t>10</a:t>
            </a:fld>
            <a:endParaRPr lang="en-US"/>
          </a:p>
        </p:txBody>
      </p:sp>
    </p:spTree>
    <p:extLst>
      <p:ext uri="{BB962C8B-B14F-4D97-AF65-F5344CB8AC3E}">
        <p14:creationId xmlns:p14="http://schemas.microsoft.com/office/powerpoint/2010/main" val="5552359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How easily the system can interconnect and exchange data with other systems or components</a:t>
            </a:r>
          </a:p>
        </p:txBody>
      </p:sp>
      <p:sp>
        <p:nvSpPr>
          <p:cNvPr id="4" name="Slide Number Placeholder 3"/>
          <p:cNvSpPr>
            <a:spLocks noGrp="1"/>
          </p:cNvSpPr>
          <p:nvPr>
            <p:ph type="sldNum" sz="quarter" idx="5"/>
          </p:nvPr>
        </p:nvSpPr>
        <p:spPr/>
        <p:txBody>
          <a:bodyPr/>
          <a:lstStyle/>
          <a:p>
            <a:fld id="{989BF220-573E-4EF0-8CCB-CD6A57D3EB62}" type="slidenum">
              <a:rPr lang="en-US" smtClean="0"/>
              <a:t>11</a:t>
            </a:fld>
            <a:endParaRPr lang="en-US"/>
          </a:p>
        </p:txBody>
      </p:sp>
    </p:spTree>
    <p:extLst>
      <p:ext uri="{BB962C8B-B14F-4D97-AF65-F5344CB8AC3E}">
        <p14:creationId xmlns:p14="http://schemas.microsoft.com/office/powerpoint/2010/main" val="16013852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How quickly and predictably the system responds to user inputs or other events</a:t>
            </a:r>
          </a:p>
          <a:p>
            <a:endParaRPr lang="en-US" dirty="0"/>
          </a:p>
        </p:txBody>
      </p:sp>
      <p:sp>
        <p:nvSpPr>
          <p:cNvPr id="4" name="Slide Number Placeholder 3"/>
          <p:cNvSpPr>
            <a:spLocks noGrp="1"/>
          </p:cNvSpPr>
          <p:nvPr>
            <p:ph type="sldNum" sz="quarter" idx="5"/>
          </p:nvPr>
        </p:nvSpPr>
        <p:spPr/>
        <p:txBody>
          <a:bodyPr/>
          <a:lstStyle/>
          <a:p>
            <a:fld id="{989BF220-573E-4EF0-8CCB-CD6A57D3EB62}" type="slidenum">
              <a:rPr lang="en-US" smtClean="0"/>
              <a:t>12</a:t>
            </a:fld>
            <a:endParaRPr lang="en-US"/>
          </a:p>
        </p:txBody>
      </p:sp>
    </p:spTree>
    <p:extLst>
      <p:ext uri="{BB962C8B-B14F-4D97-AF65-F5344CB8AC3E}">
        <p14:creationId xmlns:p14="http://schemas.microsoft.com/office/powerpoint/2010/main" val="24107997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How long the system runs before experiencing a failure</a:t>
            </a:r>
          </a:p>
          <a:p>
            <a:endParaRPr lang="en-US" b="0" dirty="0"/>
          </a:p>
        </p:txBody>
      </p:sp>
      <p:sp>
        <p:nvSpPr>
          <p:cNvPr id="4" name="Slide Number Placeholder 3"/>
          <p:cNvSpPr>
            <a:spLocks noGrp="1"/>
          </p:cNvSpPr>
          <p:nvPr>
            <p:ph type="sldNum" sz="quarter" idx="5"/>
          </p:nvPr>
        </p:nvSpPr>
        <p:spPr/>
        <p:txBody>
          <a:bodyPr/>
          <a:lstStyle/>
          <a:p>
            <a:fld id="{989BF220-573E-4EF0-8CCB-CD6A57D3EB62}" type="slidenum">
              <a:rPr lang="en-US" smtClean="0"/>
              <a:t>13</a:t>
            </a:fld>
            <a:endParaRPr lang="en-US"/>
          </a:p>
        </p:txBody>
      </p:sp>
    </p:spTree>
    <p:extLst>
      <p:ext uri="{BB962C8B-B14F-4D97-AF65-F5344CB8AC3E}">
        <p14:creationId xmlns:p14="http://schemas.microsoft.com/office/powerpoint/2010/main" val="12233453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How well the system responds to unexpected operating conditions</a:t>
            </a:r>
          </a:p>
          <a:p>
            <a:endParaRPr lang="en-US" b="0" dirty="0"/>
          </a:p>
        </p:txBody>
      </p:sp>
      <p:sp>
        <p:nvSpPr>
          <p:cNvPr id="4" name="Slide Number Placeholder 3"/>
          <p:cNvSpPr>
            <a:spLocks noGrp="1"/>
          </p:cNvSpPr>
          <p:nvPr>
            <p:ph type="sldNum" sz="quarter" idx="5"/>
          </p:nvPr>
        </p:nvSpPr>
        <p:spPr/>
        <p:txBody>
          <a:bodyPr/>
          <a:lstStyle/>
          <a:p>
            <a:fld id="{989BF220-573E-4EF0-8CCB-CD6A57D3EB62}" type="slidenum">
              <a:rPr lang="en-US" smtClean="0"/>
              <a:t>14</a:t>
            </a:fld>
            <a:endParaRPr lang="en-US"/>
          </a:p>
        </p:txBody>
      </p:sp>
    </p:spTree>
    <p:extLst>
      <p:ext uri="{BB962C8B-B14F-4D97-AF65-F5344CB8AC3E}">
        <p14:creationId xmlns:p14="http://schemas.microsoft.com/office/powerpoint/2010/main" val="30769812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How well the system protects against injury or damage</a:t>
            </a:r>
          </a:p>
          <a:p>
            <a:r>
              <a:rPr lang="en-US" b="0" dirty="0"/>
              <a:t>Allergic: </a:t>
            </a:r>
            <a:r>
              <a:rPr lang="en-US" b="0" dirty="0" err="1"/>
              <a:t>dị</a:t>
            </a:r>
            <a:r>
              <a:rPr lang="en-US" b="0" dirty="0"/>
              <a:t> </a:t>
            </a:r>
            <a:r>
              <a:rPr lang="en-US" b="0" dirty="0" err="1"/>
              <a:t>ứng</a:t>
            </a:r>
            <a:endParaRPr lang="en-US" b="0" dirty="0"/>
          </a:p>
        </p:txBody>
      </p:sp>
      <p:sp>
        <p:nvSpPr>
          <p:cNvPr id="4" name="Slide Number Placeholder 3"/>
          <p:cNvSpPr>
            <a:spLocks noGrp="1"/>
          </p:cNvSpPr>
          <p:nvPr>
            <p:ph type="sldNum" sz="quarter" idx="5"/>
          </p:nvPr>
        </p:nvSpPr>
        <p:spPr/>
        <p:txBody>
          <a:bodyPr/>
          <a:lstStyle/>
          <a:p>
            <a:fld id="{989BF220-573E-4EF0-8CCB-CD6A57D3EB62}" type="slidenum">
              <a:rPr lang="en-US" smtClean="0"/>
              <a:t>15</a:t>
            </a:fld>
            <a:endParaRPr lang="en-US"/>
          </a:p>
        </p:txBody>
      </p:sp>
    </p:spTree>
    <p:extLst>
      <p:ext uri="{BB962C8B-B14F-4D97-AF65-F5344CB8AC3E}">
        <p14:creationId xmlns:p14="http://schemas.microsoft.com/office/powerpoint/2010/main" val="4031176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How well the system protects against unauthorized access to the application and its data</a:t>
            </a:r>
          </a:p>
          <a:p>
            <a:r>
              <a:rPr lang="en-US" sz="1200" b="0" i="0" u="none" strike="noStrike" baseline="0" dirty="0">
                <a:solidFill>
                  <a:srgbClr val="000000"/>
                </a:solidFill>
                <a:latin typeface="Segoe"/>
              </a:rPr>
              <a:t>Deliberate: </a:t>
            </a:r>
            <a:r>
              <a:rPr lang="en-US" sz="1200" b="0" i="0" u="none" strike="noStrike" baseline="0" dirty="0" err="1">
                <a:solidFill>
                  <a:srgbClr val="000000"/>
                </a:solidFill>
                <a:latin typeface="Segoe"/>
              </a:rPr>
              <a:t>Cố</a:t>
            </a:r>
            <a:r>
              <a:rPr lang="en-US" sz="1200" b="0" i="0" u="none" strike="noStrike" baseline="0" dirty="0">
                <a:solidFill>
                  <a:srgbClr val="000000"/>
                </a:solidFill>
                <a:latin typeface="Segoe"/>
              </a:rPr>
              <a:t> ý</a:t>
            </a:r>
            <a:endParaRPr lang="en-US" b="0" dirty="0"/>
          </a:p>
        </p:txBody>
      </p:sp>
      <p:sp>
        <p:nvSpPr>
          <p:cNvPr id="4" name="Slide Number Placeholder 3"/>
          <p:cNvSpPr>
            <a:spLocks noGrp="1"/>
          </p:cNvSpPr>
          <p:nvPr>
            <p:ph type="sldNum" sz="quarter" idx="5"/>
          </p:nvPr>
        </p:nvSpPr>
        <p:spPr/>
        <p:txBody>
          <a:bodyPr/>
          <a:lstStyle/>
          <a:p>
            <a:fld id="{989BF220-573E-4EF0-8CCB-CD6A57D3EB62}" type="slidenum">
              <a:rPr lang="en-US" smtClean="0"/>
              <a:t>16</a:t>
            </a:fld>
            <a:endParaRPr lang="en-US"/>
          </a:p>
        </p:txBody>
      </p:sp>
    </p:spTree>
    <p:extLst>
      <p:ext uri="{BB962C8B-B14F-4D97-AF65-F5344CB8AC3E}">
        <p14:creationId xmlns:p14="http://schemas.microsoft.com/office/powerpoint/2010/main" val="27952200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989BF220-573E-4EF0-8CCB-CD6A57D3EB62}" type="slidenum">
              <a:rPr lang="en-US" smtClean="0"/>
              <a:t>17</a:t>
            </a:fld>
            <a:endParaRPr lang="en-US"/>
          </a:p>
        </p:txBody>
      </p:sp>
    </p:spTree>
    <p:extLst>
      <p:ext uri="{BB962C8B-B14F-4D97-AF65-F5344CB8AC3E}">
        <p14:creationId xmlns:p14="http://schemas.microsoft.com/office/powerpoint/2010/main" val="7501733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How easy it is for people to learn, remember, and use the system</a:t>
            </a:r>
          </a:p>
          <a:p>
            <a:r>
              <a:rPr lang="en-US" sz="1200" b="0" i="0" u="none" strike="noStrike" baseline="0" dirty="0">
                <a:solidFill>
                  <a:srgbClr val="000000"/>
                </a:solidFill>
                <a:latin typeface="Segoe"/>
              </a:rPr>
              <a:t>Verbose: </a:t>
            </a:r>
            <a:r>
              <a:rPr lang="en-US" sz="1200" b="0" i="0" u="none" strike="noStrike" baseline="0" dirty="0" err="1">
                <a:solidFill>
                  <a:srgbClr val="000000"/>
                </a:solidFill>
                <a:latin typeface="Segoe"/>
              </a:rPr>
              <a:t>Dài</a:t>
            </a:r>
            <a:r>
              <a:rPr lang="en-US" sz="1200" b="0" i="0" u="none" strike="noStrike" baseline="0" dirty="0">
                <a:solidFill>
                  <a:srgbClr val="000000"/>
                </a:solidFill>
                <a:latin typeface="Segoe"/>
              </a:rPr>
              <a:t> </a:t>
            </a:r>
            <a:r>
              <a:rPr lang="en-US" sz="1200" b="0" i="0" u="none" strike="noStrike" baseline="0" dirty="0" err="1">
                <a:solidFill>
                  <a:srgbClr val="000000"/>
                </a:solidFill>
                <a:latin typeface="Segoe"/>
              </a:rPr>
              <a:t>dòng</a:t>
            </a:r>
            <a:endParaRPr lang="en-US" b="0" dirty="0"/>
          </a:p>
        </p:txBody>
      </p:sp>
      <p:sp>
        <p:nvSpPr>
          <p:cNvPr id="4" name="Slide Number Placeholder 3"/>
          <p:cNvSpPr>
            <a:spLocks noGrp="1"/>
          </p:cNvSpPr>
          <p:nvPr>
            <p:ph type="sldNum" sz="quarter" idx="5"/>
          </p:nvPr>
        </p:nvSpPr>
        <p:spPr/>
        <p:txBody>
          <a:bodyPr/>
          <a:lstStyle/>
          <a:p>
            <a:fld id="{989BF220-573E-4EF0-8CCB-CD6A57D3EB62}" type="slidenum">
              <a:rPr lang="en-US" smtClean="0"/>
              <a:t>18</a:t>
            </a:fld>
            <a:endParaRPr lang="en-US"/>
          </a:p>
        </p:txBody>
      </p:sp>
    </p:spTree>
    <p:extLst>
      <p:ext uri="{BB962C8B-B14F-4D97-AF65-F5344CB8AC3E}">
        <p14:creationId xmlns:p14="http://schemas.microsoft.com/office/powerpoint/2010/main" val="25586920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How efficiently the system uses computer resources</a:t>
            </a:r>
          </a:p>
        </p:txBody>
      </p:sp>
      <p:sp>
        <p:nvSpPr>
          <p:cNvPr id="4" name="Slide Number Placeholder 3"/>
          <p:cNvSpPr>
            <a:spLocks noGrp="1"/>
          </p:cNvSpPr>
          <p:nvPr>
            <p:ph type="sldNum" sz="quarter" idx="5"/>
          </p:nvPr>
        </p:nvSpPr>
        <p:spPr/>
        <p:txBody>
          <a:bodyPr/>
          <a:lstStyle/>
          <a:p>
            <a:fld id="{989BF220-573E-4EF0-8CCB-CD6A57D3EB62}" type="slidenum">
              <a:rPr lang="en-US" smtClean="0"/>
              <a:t>19</a:t>
            </a:fld>
            <a:endParaRPr lang="en-US"/>
          </a:p>
        </p:txBody>
      </p:sp>
    </p:spTree>
    <p:extLst>
      <p:ext uri="{BB962C8B-B14F-4D97-AF65-F5344CB8AC3E}">
        <p14:creationId xmlns:p14="http://schemas.microsoft.com/office/powerpoint/2010/main" val="5813639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How easy it is to maintain, change, enhance, and restructure the system</a:t>
            </a:r>
          </a:p>
          <a:p>
            <a:endParaRPr lang="en-US" b="0" dirty="0"/>
          </a:p>
        </p:txBody>
      </p:sp>
      <p:sp>
        <p:nvSpPr>
          <p:cNvPr id="4" name="Slide Number Placeholder 3"/>
          <p:cNvSpPr>
            <a:spLocks noGrp="1"/>
          </p:cNvSpPr>
          <p:nvPr>
            <p:ph type="sldNum" sz="quarter" idx="5"/>
          </p:nvPr>
        </p:nvSpPr>
        <p:spPr/>
        <p:txBody>
          <a:bodyPr/>
          <a:lstStyle/>
          <a:p>
            <a:fld id="{989BF220-573E-4EF0-8CCB-CD6A57D3EB62}" type="slidenum">
              <a:rPr lang="en-US" smtClean="0"/>
              <a:t>20</a:t>
            </a:fld>
            <a:endParaRPr lang="en-US"/>
          </a:p>
        </p:txBody>
      </p:sp>
    </p:spTree>
    <p:extLst>
      <p:ext uri="{BB962C8B-B14F-4D97-AF65-F5344CB8AC3E}">
        <p14:creationId xmlns:p14="http://schemas.microsoft.com/office/powerpoint/2010/main" val="29249313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How easily the system can be made to work in other operating environments</a:t>
            </a:r>
          </a:p>
          <a:p>
            <a:endParaRPr lang="en-US" b="0" dirty="0"/>
          </a:p>
        </p:txBody>
      </p:sp>
      <p:sp>
        <p:nvSpPr>
          <p:cNvPr id="4" name="Slide Number Placeholder 3"/>
          <p:cNvSpPr>
            <a:spLocks noGrp="1"/>
          </p:cNvSpPr>
          <p:nvPr>
            <p:ph type="sldNum" sz="quarter" idx="5"/>
          </p:nvPr>
        </p:nvSpPr>
        <p:spPr/>
        <p:txBody>
          <a:bodyPr/>
          <a:lstStyle/>
          <a:p>
            <a:fld id="{989BF220-573E-4EF0-8CCB-CD6A57D3EB62}" type="slidenum">
              <a:rPr lang="en-US" smtClean="0"/>
              <a:t>21</a:t>
            </a:fld>
            <a:endParaRPr lang="en-US"/>
          </a:p>
        </p:txBody>
      </p:sp>
    </p:spTree>
    <p:extLst>
      <p:ext uri="{BB962C8B-B14F-4D97-AF65-F5344CB8AC3E}">
        <p14:creationId xmlns:p14="http://schemas.microsoft.com/office/powerpoint/2010/main" val="36541189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To what extent components can be used in other systems</a:t>
            </a:r>
          </a:p>
          <a:p>
            <a:endParaRPr lang="en-US" b="0" dirty="0"/>
          </a:p>
        </p:txBody>
      </p:sp>
      <p:sp>
        <p:nvSpPr>
          <p:cNvPr id="4" name="Slide Number Placeholder 3"/>
          <p:cNvSpPr>
            <a:spLocks noGrp="1"/>
          </p:cNvSpPr>
          <p:nvPr>
            <p:ph type="sldNum" sz="quarter" idx="5"/>
          </p:nvPr>
        </p:nvSpPr>
        <p:spPr/>
        <p:txBody>
          <a:bodyPr/>
          <a:lstStyle/>
          <a:p>
            <a:fld id="{989BF220-573E-4EF0-8CCB-CD6A57D3EB62}" type="slidenum">
              <a:rPr lang="en-US" smtClean="0"/>
              <a:t>22</a:t>
            </a:fld>
            <a:endParaRPr lang="en-US"/>
          </a:p>
        </p:txBody>
      </p:sp>
    </p:spTree>
    <p:extLst>
      <p:ext uri="{BB962C8B-B14F-4D97-AF65-F5344CB8AC3E}">
        <p14:creationId xmlns:p14="http://schemas.microsoft.com/office/powerpoint/2010/main" val="28029270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How easily the system can grow to handle more users, transactions, servers, or other extensions</a:t>
            </a:r>
          </a:p>
          <a:p>
            <a:endParaRPr lang="en-US" b="0" dirty="0"/>
          </a:p>
        </p:txBody>
      </p:sp>
      <p:sp>
        <p:nvSpPr>
          <p:cNvPr id="4" name="Slide Number Placeholder 3"/>
          <p:cNvSpPr>
            <a:spLocks noGrp="1"/>
          </p:cNvSpPr>
          <p:nvPr>
            <p:ph type="sldNum" sz="quarter" idx="5"/>
          </p:nvPr>
        </p:nvSpPr>
        <p:spPr/>
        <p:txBody>
          <a:bodyPr/>
          <a:lstStyle/>
          <a:p>
            <a:fld id="{989BF220-573E-4EF0-8CCB-CD6A57D3EB62}" type="slidenum">
              <a:rPr lang="en-US" smtClean="0"/>
              <a:t>23</a:t>
            </a:fld>
            <a:endParaRPr lang="en-US"/>
          </a:p>
        </p:txBody>
      </p:sp>
    </p:spTree>
    <p:extLst>
      <p:ext uri="{BB962C8B-B14F-4D97-AF65-F5344CB8AC3E}">
        <p14:creationId xmlns:p14="http://schemas.microsoft.com/office/powerpoint/2010/main" val="28255464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How readily developers and testers can confirm that the software was implemented correctly</a:t>
            </a:r>
          </a:p>
          <a:p>
            <a:endParaRPr lang="en-US" b="0" dirty="0"/>
          </a:p>
        </p:txBody>
      </p:sp>
      <p:sp>
        <p:nvSpPr>
          <p:cNvPr id="4" name="Slide Number Placeholder 3"/>
          <p:cNvSpPr>
            <a:spLocks noGrp="1"/>
          </p:cNvSpPr>
          <p:nvPr>
            <p:ph type="sldNum" sz="quarter" idx="5"/>
          </p:nvPr>
        </p:nvSpPr>
        <p:spPr/>
        <p:txBody>
          <a:bodyPr/>
          <a:lstStyle/>
          <a:p>
            <a:fld id="{989BF220-573E-4EF0-8CCB-CD6A57D3EB62}" type="slidenum">
              <a:rPr lang="en-US" smtClean="0"/>
              <a:t>24</a:t>
            </a:fld>
            <a:endParaRPr lang="en-US"/>
          </a:p>
        </p:txBody>
      </p:sp>
    </p:spTree>
    <p:extLst>
      <p:ext uri="{BB962C8B-B14F-4D97-AF65-F5344CB8AC3E}">
        <p14:creationId xmlns:p14="http://schemas.microsoft.com/office/powerpoint/2010/main" val="36875410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9BF220-573E-4EF0-8CCB-CD6A57D3EB62}" type="slidenum">
              <a:rPr lang="en-US" smtClean="0"/>
              <a:t>30</a:t>
            </a:fld>
            <a:endParaRPr lang="en-US"/>
          </a:p>
        </p:txBody>
      </p:sp>
    </p:spTree>
    <p:extLst>
      <p:ext uri="{BB962C8B-B14F-4D97-AF65-F5344CB8AC3E}">
        <p14:creationId xmlns:p14="http://schemas.microsoft.com/office/powerpoint/2010/main" val="13214081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9BF220-573E-4EF0-8CCB-CD6A57D3EB62}" type="slidenum">
              <a:rPr lang="en-US" smtClean="0"/>
              <a:t>31</a:t>
            </a:fld>
            <a:endParaRPr lang="en-US"/>
          </a:p>
        </p:txBody>
      </p:sp>
    </p:spTree>
    <p:extLst>
      <p:ext uri="{BB962C8B-B14F-4D97-AF65-F5344CB8AC3E}">
        <p14:creationId xmlns:p14="http://schemas.microsoft.com/office/powerpoint/2010/main" val="3053808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9BF220-573E-4EF0-8CCB-CD6A57D3EB62}" type="slidenum">
              <a:rPr lang="en-US" smtClean="0"/>
              <a:t>32</a:t>
            </a:fld>
            <a:endParaRPr lang="en-US"/>
          </a:p>
        </p:txBody>
      </p:sp>
    </p:spTree>
    <p:extLst>
      <p:ext uri="{BB962C8B-B14F-4D97-AF65-F5344CB8AC3E}">
        <p14:creationId xmlns:p14="http://schemas.microsoft.com/office/powerpoint/2010/main" val="18985969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9BF220-573E-4EF0-8CCB-CD6A57D3EB62}" type="slidenum">
              <a:rPr lang="en-US" smtClean="0"/>
              <a:t>34</a:t>
            </a:fld>
            <a:endParaRPr lang="en-US"/>
          </a:p>
        </p:txBody>
      </p:sp>
    </p:spTree>
    <p:extLst>
      <p:ext uri="{BB962C8B-B14F-4D97-AF65-F5344CB8AC3E}">
        <p14:creationId xmlns:p14="http://schemas.microsoft.com/office/powerpoint/2010/main" val="32976288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9BF220-573E-4EF0-8CCB-CD6A57D3EB62}" type="slidenum">
              <a:rPr lang="en-US" smtClean="0"/>
              <a:t>35</a:t>
            </a:fld>
            <a:endParaRPr lang="en-US"/>
          </a:p>
        </p:txBody>
      </p:sp>
    </p:spTree>
    <p:extLst>
      <p:ext uri="{BB962C8B-B14F-4D97-AF65-F5344CB8AC3E}">
        <p14:creationId xmlns:p14="http://schemas.microsoft.com/office/powerpoint/2010/main" val="41075371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5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825">
                <a:solidFill>
                  <a:schemeClr val="bg1"/>
                </a:solidFill>
              </a:defRPr>
            </a:lvl1pPr>
          </a:lstStyle>
          <a:p>
            <a:fld id="{A21C2B06-E5AC-4403-9FCB-3CB993FEA261}" type="slidenum">
              <a:rPr lang="en-US" smtClean="0"/>
              <a:t>‹#›</a:t>
            </a:fld>
            <a:endParaRPr lang="en-US"/>
          </a:p>
        </p:txBody>
      </p:sp>
      <p:sp>
        <p:nvSpPr>
          <p:cNvPr id="3" name="Rectangle 2"/>
          <p:cNvSpPr/>
          <p:nvPr/>
        </p:nvSpPr>
        <p:spPr>
          <a:xfrm>
            <a:off x="435430" y="415492"/>
            <a:ext cx="174171" cy="194108"/>
          </a:xfrm>
          <a:prstGeom prst="rect">
            <a:avLst/>
          </a:pr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 name="Title 1"/>
          <p:cNvSpPr>
            <a:spLocks noGrp="1"/>
          </p:cNvSpPr>
          <p:nvPr>
            <p:ph type="title" hasCustomPrompt="1"/>
          </p:nvPr>
        </p:nvSpPr>
        <p:spPr>
          <a:xfrm>
            <a:off x="685800" y="228600"/>
            <a:ext cx="5638800" cy="457200"/>
          </a:xfrm>
          <a:prstGeom prst="rect">
            <a:avLst/>
          </a:prstGeom>
        </p:spPr>
        <p:txBody>
          <a:bodyPr/>
          <a:lstStyle>
            <a:lvl1pPr algn="l">
              <a:defRPr sz="1800">
                <a:solidFill>
                  <a:srgbClr val="F47206"/>
                </a:solidFill>
                <a:latin typeface="Myriad Pro" pitchFamily="34" charset="0"/>
              </a:defRPr>
            </a:lvl1pPr>
          </a:lstStyle>
          <a:p>
            <a:r>
              <a:rPr lang="en-US" dirty="0"/>
              <a:t>CLICK TO EDIT MASTER TITLE STYLE</a:t>
            </a:r>
          </a:p>
        </p:txBody>
      </p:sp>
      <p:sp>
        <p:nvSpPr>
          <p:cNvPr id="5" name="Rectangle 4"/>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7" name="Straight Connector 6"/>
          <p:cNvCxnSpPr/>
          <p:nvPr/>
        </p:nvCxnSpPr>
        <p:spPr>
          <a:xfrm>
            <a:off x="601134" y="997155"/>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2" descr="E:\Kienlh\2018\Thuong-Hieu\Đại hôi cổ đông\logo-e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8828" y="194689"/>
            <a:ext cx="2142909" cy="80246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625612"/>
            <a:ext cx="9144000" cy="232388"/>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p:cNvSpPr txBox="1">
            <a:spLocks/>
          </p:cNvSpPr>
          <p:nvPr/>
        </p:nvSpPr>
        <p:spPr>
          <a:xfrm>
            <a:off x="2225842" y="0"/>
            <a:ext cx="6811691" cy="997155"/>
          </a:xfrm>
          <a:prstGeom prst="rect">
            <a:avLst/>
          </a:prstGeom>
        </p:spPr>
        <p:txBody>
          <a:bodyPr/>
          <a:lstStyle>
            <a:lvl1pPr algn="ctr" defTabSz="685800" rtl="0" eaLnBrk="1" latinLnBrk="0" hangingPunct="1">
              <a:spcBef>
                <a:spcPct val="0"/>
              </a:spcBef>
              <a:buNone/>
              <a:defRPr sz="3600" b="1" kern="1200">
                <a:solidFill>
                  <a:srgbClr val="0066B2"/>
                </a:solidFill>
                <a:latin typeface="Myriad Pro" pitchFamily="34" charset="0"/>
                <a:ea typeface="+mj-ea"/>
                <a:cs typeface="+mj-cs"/>
              </a:defRPr>
            </a:lvl1pPr>
          </a:lstStyle>
          <a:p>
            <a:r>
              <a:rPr lang="en-US" sz="3200"/>
              <a:t>Click to edit Master title style</a:t>
            </a:r>
            <a:endParaRPr lang="en-US" sz="3200" dirty="0"/>
          </a:p>
        </p:txBody>
      </p:sp>
      <p:sp>
        <p:nvSpPr>
          <p:cNvPr id="13" name="Content Placeholder 2"/>
          <p:cNvSpPr>
            <a:spLocks noGrp="1"/>
          </p:cNvSpPr>
          <p:nvPr>
            <p:ph idx="1"/>
          </p:nvPr>
        </p:nvSpPr>
        <p:spPr>
          <a:xfrm>
            <a:off x="830180" y="1191126"/>
            <a:ext cx="7772399" cy="487279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12691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825">
                <a:solidFill>
                  <a:srgbClr val="F85B14"/>
                </a:solidFill>
              </a:defRPr>
            </a:lvl1pPr>
          </a:lstStyle>
          <a:p>
            <a:fld id="{A21C2B06-E5AC-4403-9FCB-3CB993FEA261}" type="slidenum">
              <a:rPr lang="en-US" smtClean="0"/>
              <a:t>‹#›</a:t>
            </a:fld>
            <a:endParaRPr lang="en-US"/>
          </a:p>
        </p:txBody>
      </p:sp>
      <p:sp>
        <p:nvSpPr>
          <p:cNvPr id="4" name="Rectangle 3"/>
          <p:cNvSpPr/>
          <p:nvPr/>
        </p:nvSpPr>
        <p:spPr>
          <a:xfrm>
            <a:off x="-152400" y="0"/>
            <a:ext cx="9448800" cy="701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4" y="0"/>
            <a:ext cx="2021977" cy="990600"/>
          </a:xfrm>
          <a:prstGeom prst="rect">
            <a:avLst/>
          </a:prstGeom>
        </p:spPr>
      </p:pic>
      <p:cxnSp>
        <p:nvCxnSpPr>
          <p:cNvPr id="6" name="Straight Connector 5"/>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6770266"/>
            <a:ext cx="9448800" cy="240134"/>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p:cNvSpPr>
            <a:spLocks noGrp="1"/>
          </p:cNvSpPr>
          <p:nvPr>
            <p:ph type="title"/>
          </p:nvPr>
        </p:nvSpPr>
        <p:spPr>
          <a:xfrm>
            <a:off x="2225842" y="1"/>
            <a:ext cx="6811691" cy="914400"/>
          </a:xfrm>
          <a:prstGeom prst="rect">
            <a:avLst/>
          </a:prstGeom>
        </p:spPr>
        <p:txBody>
          <a:bodyPr/>
          <a:lstStyle>
            <a:lvl1pPr>
              <a:defRPr sz="3600"/>
            </a:lvl1pPr>
          </a:lstStyle>
          <a:p>
            <a:r>
              <a:rPr lang="en-US"/>
              <a:t>Click to edit Master title style</a:t>
            </a:r>
            <a:endParaRPr lang="en-US" dirty="0"/>
          </a:p>
        </p:txBody>
      </p:sp>
      <p:sp>
        <p:nvSpPr>
          <p:cNvPr id="10" name="Content Placeholder 2"/>
          <p:cNvSpPr>
            <a:spLocks noGrp="1"/>
          </p:cNvSpPr>
          <p:nvPr>
            <p:ph idx="1"/>
          </p:nvPr>
        </p:nvSpPr>
        <p:spPr>
          <a:xfrm>
            <a:off x="830180" y="1191126"/>
            <a:ext cx="7772399" cy="51495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28145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825">
                <a:solidFill>
                  <a:srgbClr val="F85B14"/>
                </a:solidFill>
              </a:defRPr>
            </a:lvl1pPr>
          </a:lstStyle>
          <a:p>
            <a:fld id="{A21C2B06-E5AC-4403-9FCB-3CB993FEA261}" type="slidenum">
              <a:rPr lang="en-US" smtClean="0"/>
              <a:t>‹#›</a:t>
            </a:fld>
            <a:endParaRPr lang="en-US"/>
          </a:p>
        </p:txBody>
      </p:sp>
      <p:sp>
        <p:nvSpPr>
          <p:cNvPr id="4" name="Rectangle 3"/>
          <p:cNvSpPr/>
          <p:nvPr/>
        </p:nvSpPr>
        <p:spPr>
          <a:xfrm>
            <a:off x="-152400" y="0"/>
            <a:ext cx="9448800" cy="701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4" y="0"/>
            <a:ext cx="2021977" cy="990600"/>
          </a:xfrm>
          <a:prstGeom prst="rect">
            <a:avLst/>
          </a:prstGeom>
        </p:spPr>
      </p:pic>
      <p:cxnSp>
        <p:nvCxnSpPr>
          <p:cNvPr id="8" name="Straight Connector 7"/>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6770266"/>
            <a:ext cx="9448800" cy="240134"/>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p:cNvSpPr>
            <a:spLocks noGrp="1"/>
          </p:cNvSpPr>
          <p:nvPr>
            <p:ph type="title"/>
          </p:nvPr>
        </p:nvSpPr>
        <p:spPr>
          <a:xfrm>
            <a:off x="2225842" y="0"/>
            <a:ext cx="6811691" cy="914400"/>
          </a:xfrm>
          <a:prstGeom prst="rect">
            <a:avLst/>
          </a:prstGeom>
        </p:spPr>
        <p:txBody>
          <a:bodyPr/>
          <a:lstStyle>
            <a:lvl1pPr>
              <a:defRPr sz="3600"/>
            </a:lvl1pPr>
          </a:lstStyle>
          <a:p>
            <a:r>
              <a:rPr lang="en-US"/>
              <a:t>Click to edit Master title style</a:t>
            </a:r>
            <a:endParaRPr lang="en-US" dirty="0"/>
          </a:p>
        </p:txBody>
      </p:sp>
      <p:sp>
        <p:nvSpPr>
          <p:cNvPr id="12" name="Content Placeholder 2"/>
          <p:cNvSpPr>
            <a:spLocks noGrp="1"/>
          </p:cNvSpPr>
          <p:nvPr>
            <p:ph idx="1"/>
          </p:nvPr>
        </p:nvSpPr>
        <p:spPr>
          <a:xfrm>
            <a:off x="830180" y="1191125"/>
            <a:ext cx="7772399" cy="512545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230007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825">
                <a:solidFill>
                  <a:srgbClr val="F85B14"/>
                </a:solidFill>
              </a:defRPr>
            </a:lvl1pPr>
          </a:lstStyle>
          <a:p>
            <a:fld id="{A21C2B06-E5AC-4403-9FCB-3CB993FEA261}" type="slidenum">
              <a:rPr lang="en-US" smtClean="0"/>
              <a:t>‹#›</a:t>
            </a:fld>
            <a:endParaRPr lang="en-US"/>
          </a:p>
        </p:txBody>
      </p:sp>
      <p:sp>
        <p:nvSpPr>
          <p:cNvPr id="4" name="Rectangle 3"/>
          <p:cNvSpPr/>
          <p:nvPr/>
        </p:nvSpPr>
        <p:spPr>
          <a:xfrm>
            <a:off x="-152400" y="0"/>
            <a:ext cx="9448800" cy="701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4" y="0"/>
            <a:ext cx="2021977" cy="990600"/>
          </a:xfrm>
          <a:prstGeom prst="rect">
            <a:avLst/>
          </a:prstGeom>
        </p:spPr>
      </p:pic>
      <p:cxnSp>
        <p:nvCxnSpPr>
          <p:cNvPr id="8" name="Straight Connector 7"/>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6770266"/>
            <a:ext cx="9448800" cy="240134"/>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p:cNvSpPr>
            <a:spLocks noGrp="1"/>
          </p:cNvSpPr>
          <p:nvPr>
            <p:ph type="title"/>
          </p:nvPr>
        </p:nvSpPr>
        <p:spPr>
          <a:xfrm>
            <a:off x="2233863" y="0"/>
            <a:ext cx="6811691" cy="914401"/>
          </a:xfrm>
          <a:prstGeom prst="rect">
            <a:avLst/>
          </a:prstGeom>
        </p:spPr>
        <p:txBody>
          <a:bodyPr/>
          <a:lstStyle>
            <a:lvl1pPr>
              <a:defRPr sz="3600"/>
            </a:lvl1pPr>
          </a:lstStyle>
          <a:p>
            <a:r>
              <a:rPr lang="en-US"/>
              <a:t>Click to edit Master title style</a:t>
            </a:r>
            <a:endParaRPr lang="en-US" dirty="0"/>
          </a:p>
        </p:txBody>
      </p:sp>
      <p:sp>
        <p:nvSpPr>
          <p:cNvPr id="12" name="Content Placeholder 2"/>
          <p:cNvSpPr>
            <a:spLocks noGrp="1"/>
          </p:cNvSpPr>
          <p:nvPr>
            <p:ph idx="1"/>
          </p:nvPr>
        </p:nvSpPr>
        <p:spPr>
          <a:xfrm>
            <a:off x="838201" y="1230714"/>
            <a:ext cx="7772399" cy="49570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7375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825">
                <a:solidFill>
                  <a:srgbClr val="F85B14"/>
                </a:solidFill>
              </a:defRPr>
            </a:lvl1pPr>
          </a:lstStyle>
          <a:p>
            <a:fld id="{A21C2B06-E5AC-4403-9FCB-3CB993FEA261}" type="slidenum">
              <a:rPr lang="en-US" smtClean="0"/>
              <a:t>‹#›</a:t>
            </a:fld>
            <a:endParaRPr lang="en-US"/>
          </a:p>
        </p:txBody>
      </p:sp>
      <p:sp>
        <p:nvSpPr>
          <p:cNvPr id="4" name="Rectangle 3"/>
          <p:cNvSpPr/>
          <p:nvPr/>
        </p:nvSpPr>
        <p:spPr>
          <a:xfrm>
            <a:off x="-152400" y="0"/>
            <a:ext cx="9448800" cy="701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4" y="0"/>
            <a:ext cx="2021977" cy="990600"/>
          </a:xfrm>
          <a:prstGeom prst="rect">
            <a:avLst/>
          </a:prstGeom>
        </p:spPr>
      </p:pic>
      <p:cxnSp>
        <p:nvCxnSpPr>
          <p:cNvPr id="8" name="Straight Connector 7"/>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6770266"/>
            <a:ext cx="9448800" cy="240134"/>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p:cNvSpPr>
            <a:spLocks noGrp="1"/>
          </p:cNvSpPr>
          <p:nvPr>
            <p:ph type="title"/>
          </p:nvPr>
        </p:nvSpPr>
        <p:spPr>
          <a:xfrm>
            <a:off x="2109854" y="0"/>
            <a:ext cx="6927680" cy="914400"/>
          </a:xfrm>
          <a:prstGeom prst="rect">
            <a:avLst/>
          </a:prstGeom>
        </p:spPr>
        <p:txBody>
          <a:bodyPr/>
          <a:lstStyle>
            <a:lvl1pPr>
              <a:defRPr sz="3600"/>
            </a:lvl1pPr>
          </a:lstStyle>
          <a:p>
            <a:r>
              <a:rPr lang="en-US"/>
              <a:t>Click to edit Master title style</a:t>
            </a:r>
            <a:endParaRPr lang="en-US" dirty="0"/>
          </a:p>
        </p:txBody>
      </p:sp>
      <p:sp>
        <p:nvSpPr>
          <p:cNvPr id="12" name="Content Placeholder 2"/>
          <p:cNvSpPr>
            <a:spLocks noGrp="1"/>
          </p:cNvSpPr>
          <p:nvPr>
            <p:ph idx="1"/>
          </p:nvPr>
        </p:nvSpPr>
        <p:spPr>
          <a:xfrm>
            <a:off x="697832" y="1191125"/>
            <a:ext cx="7904747" cy="512545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43578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1C2B06-E5AC-4403-9FCB-3CB993FEA261}" type="slidenum">
              <a:rPr lang="en-US" smtClean="0"/>
              <a:t>‹#›</a:t>
            </a:fld>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4" y="0"/>
            <a:ext cx="2021977" cy="990600"/>
          </a:xfrm>
          <a:prstGeom prst="rect">
            <a:avLst/>
          </a:prstGeom>
        </p:spPr>
      </p:pic>
      <p:cxnSp>
        <p:nvCxnSpPr>
          <p:cNvPr id="7" name="Straight Connector 6"/>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625612"/>
            <a:ext cx="9144000" cy="232388"/>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1"/>
          <p:cNvSpPr>
            <a:spLocks noGrp="1"/>
          </p:cNvSpPr>
          <p:nvPr>
            <p:ph type="title"/>
          </p:nvPr>
        </p:nvSpPr>
        <p:spPr>
          <a:xfrm>
            <a:off x="2225842" y="0"/>
            <a:ext cx="6811691" cy="914400"/>
          </a:xfrm>
          <a:prstGeom prst="rect">
            <a:avLst/>
          </a:prstGeom>
        </p:spPr>
        <p:txBody>
          <a:bodyPr/>
          <a:lstStyle>
            <a:lvl1pPr>
              <a:defRPr sz="3600"/>
            </a:lvl1pPr>
          </a:lstStyle>
          <a:p>
            <a:r>
              <a:rPr lang="en-US"/>
              <a:t>Click to edit Master title style</a:t>
            </a:r>
            <a:endParaRPr lang="en-US" dirty="0"/>
          </a:p>
        </p:txBody>
      </p:sp>
      <p:sp>
        <p:nvSpPr>
          <p:cNvPr id="11" name="Content Placeholder 2"/>
          <p:cNvSpPr>
            <a:spLocks noGrp="1"/>
          </p:cNvSpPr>
          <p:nvPr>
            <p:ph idx="1"/>
          </p:nvPr>
        </p:nvSpPr>
        <p:spPr>
          <a:xfrm>
            <a:off x="830180" y="1191126"/>
            <a:ext cx="7772399" cy="470434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50878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1910" y="2514601"/>
            <a:ext cx="6686549" cy="2262781"/>
          </a:xfrm>
          <a:prstGeom prst="rect">
            <a:avLst/>
          </a:prstGeom>
        </p:spPr>
        <p:txBody>
          <a:bodyPr anchor="b">
            <a:normAutofit/>
          </a:bodyPr>
          <a:lstStyle>
            <a:lvl1pPr>
              <a:defRPr sz="4050"/>
            </a:lvl1pPr>
          </a:lstStyle>
          <a:p>
            <a:r>
              <a:rPr lang="en-US"/>
              <a:t>Click to edit Master title style</a:t>
            </a:r>
            <a:endParaRPr lang="en-US" dirty="0"/>
          </a:p>
        </p:txBody>
      </p:sp>
      <p:sp>
        <p:nvSpPr>
          <p:cNvPr id="3" name="Subtitle 2"/>
          <p:cNvSpPr>
            <a:spLocks noGrp="1"/>
          </p:cNvSpPr>
          <p:nvPr>
            <p:ph type="subTitle" idx="1"/>
          </p:nvPr>
        </p:nvSpPr>
        <p:spPr>
          <a:xfrm>
            <a:off x="1941910" y="4777380"/>
            <a:ext cx="6686549" cy="1126283"/>
          </a:xfrm>
          <a:prstGeom prst="rect">
            <a:avLst/>
          </a:prstGeom>
        </p:spPr>
        <p:txBody>
          <a:bodyPr anchor="t"/>
          <a:lstStyle>
            <a:lvl1pPr marL="0" indent="0" algn="l">
              <a:buNone/>
              <a:defRPr>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771210" y="6130437"/>
            <a:ext cx="859712" cy="370396"/>
          </a:xfrm>
          <a:prstGeom prst="rect">
            <a:avLst/>
          </a:prstGeom>
        </p:spPr>
        <p:txBody>
          <a:bodyPr/>
          <a:lstStyle/>
          <a:p>
            <a:fld id="{3B60BDFC-1125-429A-9E5F-DCE071E4A3AF}" type="datetimeFigureOut">
              <a:rPr lang="en-US" smtClean="0"/>
              <a:t>6/10/2024</a:t>
            </a:fld>
            <a:endParaRPr lang="en-US"/>
          </a:p>
        </p:txBody>
      </p:sp>
      <p:sp>
        <p:nvSpPr>
          <p:cNvPr id="5" name="Footer Placeholder 4"/>
          <p:cNvSpPr>
            <a:spLocks noGrp="1"/>
          </p:cNvSpPr>
          <p:nvPr>
            <p:ph type="ftr" sz="quarter" idx="11"/>
          </p:nvPr>
        </p:nvSpPr>
        <p:spPr>
          <a:xfrm>
            <a:off x="1941910" y="6135809"/>
            <a:ext cx="5714999"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398860" y="4529541"/>
            <a:ext cx="584825" cy="365125"/>
          </a:xfrm>
        </p:spPr>
        <p:txBody>
          <a:bodyPr/>
          <a:lstStyle/>
          <a:p>
            <a:fld id="{A21C2B06-E5AC-4403-9FCB-3CB993FEA261}" type="slidenum">
              <a:rPr lang="en-US" smtClean="0"/>
              <a:t>‹#›</a:t>
            </a:fld>
            <a:endParaRPr lang="en-US"/>
          </a:p>
        </p:txBody>
      </p:sp>
    </p:spTree>
    <p:extLst>
      <p:ext uri="{BB962C8B-B14F-4D97-AF65-F5344CB8AC3E}">
        <p14:creationId xmlns:p14="http://schemas.microsoft.com/office/powerpoint/2010/main" val="1677158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66800" y="10499"/>
            <a:ext cx="7828625" cy="952027"/>
          </a:xfrm>
          <a:prstGeom prst="rect">
            <a:avLst/>
          </a:prstGeom>
        </p:spPr>
        <p:txBody>
          <a:bodyPr anchor="ctr"/>
          <a:lstStyle>
            <a:lvl1pPr>
              <a:lnSpc>
                <a:spcPct val="80000"/>
              </a:lnSpc>
              <a:defRPr sz="3600" b="0">
                <a:latin typeface="Aptos Display" panose="020B00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304800" y="1090992"/>
            <a:ext cx="8590625" cy="5416340"/>
          </a:xfrm>
          <a:prstGeom prst="rect">
            <a:avLst/>
          </a:prstGeom>
        </p:spPr>
        <p:txBody>
          <a:bodyPr/>
          <a:lstStyle>
            <a:lvl1pPr marL="182880" indent="-182880">
              <a:lnSpc>
                <a:spcPct val="80000"/>
              </a:lnSpc>
              <a:spcBef>
                <a:spcPts val="300"/>
              </a:spcBef>
              <a:defRPr/>
            </a:lvl1pPr>
            <a:lvl2pPr marL="457200" indent="-182880">
              <a:lnSpc>
                <a:spcPct val="80000"/>
              </a:lnSpc>
              <a:spcBef>
                <a:spcPts val="300"/>
              </a:spcBef>
              <a:defRPr/>
            </a:lvl2pPr>
            <a:lvl3pPr marL="822960" indent="-182880">
              <a:lnSpc>
                <a:spcPct val="80000"/>
              </a:lnSpc>
              <a:spcBef>
                <a:spcPts val="300"/>
              </a:spcBef>
              <a:defRPr/>
            </a:lvl3pPr>
            <a:lvl4pPr marL="1097280" indent="-182880">
              <a:lnSpc>
                <a:spcPct val="80000"/>
              </a:lnSpc>
              <a:spcBef>
                <a:spcPts val="300"/>
              </a:spcBef>
              <a:defRPr/>
            </a:lvl4pPr>
            <a:lvl5pPr marL="1371600" indent="-182880">
              <a:lnSpc>
                <a:spcPct val="80000"/>
              </a:lnSpc>
              <a:spcBef>
                <a:spcPts val="3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A21C2B06-E5AC-4403-9FCB-3CB993FEA261}" type="slidenum">
              <a:rPr lang="en-US" smtClean="0"/>
              <a:t>‹#›</a:t>
            </a:fld>
            <a:endParaRPr lang="en-US"/>
          </a:p>
        </p:txBody>
      </p:sp>
    </p:spTree>
    <p:extLst>
      <p:ext uri="{BB962C8B-B14F-4D97-AF65-F5344CB8AC3E}">
        <p14:creationId xmlns:p14="http://schemas.microsoft.com/office/powerpoint/2010/main" val="3707660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5103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2"/>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6/10/2024</a:t>
            </a:fld>
            <a:endParaRPr lang="en-US"/>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2101859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a:prstGeom prst="rect">
            <a:avLst/>
          </a:prstGeo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6/10/2024</a:t>
            </a:fld>
            <a:endParaRPr lang="en-US"/>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12093385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6/10/2024</a:t>
            </a:fld>
            <a:endParaRPr lang="en-US"/>
          </a:p>
        </p:txBody>
      </p:sp>
      <p:sp>
        <p:nvSpPr>
          <p:cNvPr id="6" name="Footer Placeholder 5"/>
          <p:cNvSpPr>
            <a:spLocks noGrp="1"/>
          </p:cNvSpPr>
          <p:nvPr>
            <p:ph type="ftr" sz="quarter" idx="11"/>
          </p:nvPr>
        </p:nvSpPr>
        <p:spPr>
          <a:xfrm>
            <a:off x="3124200" y="6356352"/>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22010469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6/10/2024</a:t>
            </a:fld>
            <a:endParaRPr lang="en-US"/>
          </a:p>
        </p:txBody>
      </p:sp>
      <p:sp>
        <p:nvSpPr>
          <p:cNvPr id="8" name="Footer Placeholder 7"/>
          <p:cNvSpPr>
            <a:spLocks noGrp="1"/>
          </p:cNvSpPr>
          <p:nvPr>
            <p:ph type="ftr" sz="quarter" idx="11"/>
          </p:nvPr>
        </p:nvSpPr>
        <p:spPr>
          <a:xfrm>
            <a:off x="3124200" y="6356352"/>
            <a:ext cx="28956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17032302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6/10/2024</a:t>
            </a:fld>
            <a:endParaRPr lang="en-US"/>
          </a:p>
        </p:txBody>
      </p:sp>
      <p:sp>
        <p:nvSpPr>
          <p:cNvPr id="4" name="Footer Placeholder 3"/>
          <p:cNvSpPr>
            <a:spLocks noGrp="1"/>
          </p:cNvSpPr>
          <p:nvPr>
            <p:ph type="ftr" sz="quarter" idx="11"/>
          </p:nvPr>
        </p:nvSpPr>
        <p:spPr>
          <a:xfrm>
            <a:off x="3124200" y="6356352"/>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14939752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6/10/2024</a:t>
            </a:fld>
            <a:endParaRPr lang="en-US"/>
          </a:p>
        </p:txBody>
      </p:sp>
      <p:sp>
        <p:nvSpPr>
          <p:cNvPr id="3" name="Footer Placeholder 2"/>
          <p:cNvSpPr>
            <a:spLocks noGrp="1"/>
          </p:cNvSpPr>
          <p:nvPr>
            <p:ph type="ftr" sz="quarter" idx="11"/>
          </p:nvPr>
        </p:nvSpPr>
        <p:spPr>
          <a:xfrm>
            <a:off x="3124200" y="6356352"/>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27869609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a:prstGeom prst="rect">
            <a:avLst/>
          </a:prstGeo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6/10/2024</a:t>
            </a:fld>
            <a:endParaRPr lang="en-US"/>
          </a:p>
        </p:txBody>
      </p:sp>
      <p:sp>
        <p:nvSpPr>
          <p:cNvPr id="6" name="Footer Placeholder 5"/>
          <p:cNvSpPr>
            <a:spLocks noGrp="1"/>
          </p:cNvSpPr>
          <p:nvPr>
            <p:ph type="ftr" sz="quarter" idx="11"/>
          </p:nvPr>
        </p:nvSpPr>
        <p:spPr>
          <a:xfrm>
            <a:off x="3124200" y="6356352"/>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2090367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6/10/2024</a:t>
            </a:fld>
            <a:endParaRPr lang="en-US"/>
          </a:p>
        </p:txBody>
      </p:sp>
      <p:sp>
        <p:nvSpPr>
          <p:cNvPr id="6" name="Footer Placeholder 5"/>
          <p:cNvSpPr>
            <a:spLocks noGrp="1"/>
          </p:cNvSpPr>
          <p:nvPr>
            <p:ph type="ftr" sz="quarter" idx="11"/>
          </p:nvPr>
        </p:nvSpPr>
        <p:spPr>
          <a:xfrm>
            <a:off x="3124200" y="6356352"/>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26412387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2"/>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6/10/2024</a:t>
            </a:fld>
            <a:endParaRPr lang="en-US"/>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31671591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6/10/2024</a:t>
            </a:fld>
            <a:endParaRPr lang="en-US"/>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1821208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image" Target="../media/image2.png"/><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8" name="Picture 4" descr="D:\2014\FCC\Slide FPT for Global\Line ngang.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0" y="6625612"/>
            <a:ext cx="9144000" cy="232388"/>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4"/>
          <p:cNvSpPr>
            <a:spLocks noGrp="1"/>
          </p:cNvSpPr>
          <p:nvPr>
            <p:ph type="sldNum" sz="quarter" idx="4"/>
          </p:nvPr>
        </p:nvSpPr>
        <p:spPr>
          <a:xfrm>
            <a:off x="304800" y="6629400"/>
            <a:ext cx="762000" cy="228600"/>
          </a:xfrm>
          <a:prstGeom prst="rect">
            <a:avLst/>
          </a:prstGeom>
        </p:spPr>
        <p:txBody>
          <a:bodyPr/>
          <a:lstStyle>
            <a:lvl1pPr algn="l">
              <a:defRPr sz="825">
                <a:solidFill>
                  <a:schemeClr val="bg1"/>
                </a:solidFill>
              </a:defRPr>
            </a:lvl1pPr>
          </a:lstStyle>
          <a:p>
            <a:fld id="{A21C2B06-E5AC-4403-9FCB-3CB993FEA261}" type="slidenum">
              <a:rPr lang="en-US" smtClean="0"/>
              <a:t>‹#›</a:t>
            </a:fld>
            <a:endParaRPr lang="en-US"/>
          </a:p>
        </p:txBody>
      </p:sp>
      <p:pic>
        <p:nvPicPr>
          <p:cNvPr id="5" name="Picture 2" descr="E:\Kienlh\2018\Thuong-Hieu\Đại hôi cổ đông\logo-en.pn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6890" t="14734" r="56162" b="23129"/>
          <a:stretch/>
        </p:blipFill>
        <p:spPr bwMode="auto">
          <a:xfrm>
            <a:off x="232300" y="237876"/>
            <a:ext cx="834500" cy="525546"/>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p:cNvCxnSpPr>
            <a:cxnSpLocks/>
          </p:cNvCxnSpPr>
          <p:nvPr/>
        </p:nvCxnSpPr>
        <p:spPr>
          <a:xfrm>
            <a:off x="304800" y="997155"/>
            <a:ext cx="855511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683441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Lst>
  <p:txStyles>
    <p:titleStyle>
      <a:lvl1pPr algn="ctr" defTabSz="685800" rtl="0" eaLnBrk="1" latinLnBrk="0" hangingPunct="1">
        <a:spcBef>
          <a:spcPct val="0"/>
        </a:spcBef>
        <a:buNone/>
        <a:defRPr sz="1500" b="1" kern="1200">
          <a:solidFill>
            <a:srgbClr val="0066B2"/>
          </a:solidFill>
          <a:latin typeface="Myriad Pro" pitchFamily="34" charset="0"/>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2" descr="E:\Kienlh\2018\Thuong-Hieu\Đại hôi cổ đông\logo-en.pn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76428" y="184834"/>
            <a:ext cx="2214339" cy="829215"/>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0" y="0"/>
            <a:ext cx="9144000" cy="6858000"/>
          </a:xfrm>
          <a:prstGeom prst="rect">
            <a:avLst/>
          </a:prstGeom>
          <a:solidFill>
            <a:srgbClr val="F68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 name="Picture 2"/>
          <p:cNvPicPr>
            <a:picLocks noChangeAspect="1" noChangeArrowheads="1"/>
          </p:cNvPicPr>
          <p:nvPr/>
        </p:nvPicPr>
        <p:blipFill>
          <a:blip r:embed="rId14">
            <a:extLst>
              <a:ext uri="{28A0092B-C50C-407E-A947-70E740481C1C}">
                <a14:useLocalDpi xmlns:a14="http://schemas.microsoft.com/office/drawing/2010/main" val="0"/>
              </a:ext>
            </a:extLst>
          </a:blip>
          <a:stretch>
            <a:fillRect/>
          </a:stretch>
        </p:blipFill>
        <p:spPr bwMode="auto">
          <a:xfrm>
            <a:off x="-1295400" y="304800"/>
            <a:ext cx="7781904" cy="6904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8019645"/>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txBox="1">
            <a:spLocks/>
          </p:cNvSpPr>
          <p:nvPr/>
        </p:nvSpPr>
        <p:spPr>
          <a:xfrm>
            <a:off x="-1" y="1016000"/>
            <a:ext cx="9134743" cy="5588000"/>
          </a:xfrm>
          <a:prstGeom prst="rect">
            <a:avLst/>
          </a:prstGeom>
        </p:spPr>
        <p:txBody>
          <a:bodyPr anchor="t"/>
          <a:lstStyle>
            <a:lvl1pPr marL="0" indent="0" algn="l" defTabSz="514350" rtl="0" eaLnBrk="1" latinLnBrk="0" hangingPunct="1">
              <a:spcBef>
                <a:spcPct val="20000"/>
              </a:spcBef>
              <a:buFont typeface="Arial" pitchFamily="34" charset="0"/>
              <a:buNone/>
              <a:defRPr sz="1800" kern="1200">
                <a:solidFill>
                  <a:schemeClr val="tx1">
                    <a:lumMod val="65000"/>
                    <a:lumOff val="35000"/>
                  </a:schemeClr>
                </a:solidFill>
                <a:latin typeface="+mn-lt"/>
                <a:ea typeface="+mn-ea"/>
                <a:cs typeface="+mn-cs"/>
              </a:defRPr>
            </a:lvl1pPr>
            <a:lvl2pPr marL="257175" indent="0" algn="ctr" defTabSz="514350" rtl="0" eaLnBrk="1" latinLnBrk="0" hangingPunct="1">
              <a:spcBef>
                <a:spcPct val="20000"/>
              </a:spcBef>
              <a:buFont typeface="Arial" pitchFamily="34" charset="0"/>
              <a:buNone/>
              <a:defRPr sz="1575" kern="1200">
                <a:solidFill>
                  <a:schemeClr val="tx1">
                    <a:tint val="75000"/>
                  </a:schemeClr>
                </a:solidFill>
                <a:latin typeface="+mn-lt"/>
                <a:ea typeface="+mn-ea"/>
                <a:cs typeface="+mn-cs"/>
              </a:defRPr>
            </a:lvl2pPr>
            <a:lvl3pPr marL="514350" indent="0" algn="ctr" defTabSz="514350" rtl="0" eaLnBrk="1" latinLnBrk="0" hangingPunct="1">
              <a:spcBef>
                <a:spcPct val="20000"/>
              </a:spcBef>
              <a:buFont typeface="Arial" pitchFamily="34" charset="0"/>
              <a:buNone/>
              <a:defRPr sz="1350" kern="1200">
                <a:solidFill>
                  <a:schemeClr val="tx1">
                    <a:tint val="75000"/>
                  </a:schemeClr>
                </a:solidFill>
                <a:latin typeface="+mn-lt"/>
                <a:ea typeface="+mn-ea"/>
                <a:cs typeface="+mn-cs"/>
              </a:defRPr>
            </a:lvl3pPr>
            <a:lvl4pPr marL="771525" indent="0" algn="ctr" defTabSz="514350" rtl="0" eaLnBrk="1" latinLnBrk="0" hangingPunct="1">
              <a:spcBef>
                <a:spcPct val="20000"/>
              </a:spcBef>
              <a:buFont typeface="Arial" pitchFamily="34" charset="0"/>
              <a:buNone/>
              <a:defRPr sz="1125" kern="1200">
                <a:solidFill>
                  <a:schemeClr val="tx1">
                    <a:tint val="75000"/>
                  </a:schemeClr>
                </a:solidFill>
                <a:latin typeface="+mn-lt"/>
                <a:ea typeface="+mn-ea"/>
                <a:cs typeface="+mn-cs"/>
              </a:defRPr>
            </a:lvl4pPr>
            <a:lvl5pPr marL="1028700" indent="0" algn="ctr" defTabSz="514350" rtl="0" eaLnBrk="1" latinLnBrk="0" hangingPunct="1">
              <a:spcBef>
                <a:spcPct val="20000"/>
              </a:spcBef>
              <a:buFont typeface="Arial" pitchFamily="34" charset="0"/>
              <a:buNone/>
              <a:defRPr sz="1125" kern="1200">
                <a:solidFill>
                  <a:schemeClr val="tx1">
                    <a:tint val="75000"/>
                  </a:schemeClr>
                </a:solidFill>
                <a:latin typeface="+mn-lt"/>
                <a:ea typeface="+mn-ea"/>
                <a:cs typeface="+mn-cs"/>
              </a:defRPr>
            </a:lvl5pPr>
            <a:lvl6pPr marL="1285875" indent="0" algn="ctr" defTabSz="514350" rtl="0" eaLnBrk="1" latinLnBrk="0" hangingPunct="1">
              <a:spcBef>
                <a:spcPct val="20000"/>
              </a:spcBef>
              <a:buFont typeface="Arial" pitchFamily="34" charset="0"/>
              <a:buNone/>
              <a:defRPr sz="1125" kern="1200">
                <a:solidFill>
                  <a:schemeClr val="tx1">
                    <a:tint val="75000"/>
                  </a:schemeClr>
                </a:solidFill>
                <a:latin typeface="+mn-lt"/>
                <a:ea typeface="+mn-ea"/>
                <a:cs typeface="+mn-cs"/>
              </a:defRPr>
            </a:lvl6pPr>
            <a:lvl7pPr marL="1543050" indent="0" algn="ctr" defTabSz="514350" rtl="0" eaLnBrk="1" latinLnBrk="0" hangingPunct="1">
              <a:spcBef>
                <a:spcPct val="20000"/>
              </a:spcBef>
              <a:buFont typeface="Arial" pitchFamily="34" charset="0"/>
              <a:buNone/>
              <a:defRPr sz="1125" kern="1200">
                <a:solidFill>
                  <a:schemeClr val="tx1">
                    <a:tint val="75000"/>
                  </a:schemeClr>
                </a:solidFill>
                <a:latin typeface="+mn-lt"/>
                <a:ea typeface="+mn-ea"/>
                <a:cs typeface="+mn-cs"/>
              </a:defRPr>
            </a:lvl7pPr>
            <a:lvl8pPr marL="1800225" indent="0" algn="ctr" defTabSz="514350" rtl="0" eaLnBrk="1" latinLnBrk="0" hangingPunct="1">
              <a:spcBef>
                <a:spcPct val="20000"/>
              </a:spcBef>
              <a:buFont typeface="Arial" pitchFamily="34" charset="0"/>
              <a:buNone/>
              <a:defRPr sz="1125" kern="1200">
                <a:solidFill>
                  <a:schemeClr val="tx1">
                    <a:tint val="75000"/>
                  </a:schemeClr>
                </a:solidFill>
                <a:latin typeface="+mn-lt"/>
                <a:ea typeface="+mn-ea"/>
                <a:cs typeface="+mn-cs"/>
              </a:defRPr>
            </a:lvl8pPr>
            <a:lvl9pPr marL="2057400" indent="0" algn="ctr" defTabSz="514350" rtl="0" eaLnBrk="1" latinLnBrk="0" hangingPunct="1">
              <a:spcBef>
                <a:spcPct val="20000"/>
              </a:spcBef>
              <a:buFont typeface="Arial" pitchFamily="34" charset="0"/>
              <a:buNone/>
              <a:defRPr sz="1125" kern="1200">
                <a:solidFill>
                  <a:schemeClr val="tx1">
                    <a:tint val="75000"/>
                  </a:schemeClr>
                </a:solidFill>
                <a:latin typeface="+mn-lt"/>
                <a:ea typeface="+mn-ea"/>
                <a:cs typeface="+mn-cs"/>
              </a:defRPr>
            </a:lvl9pPr>
          </a:lstStyle>
          <a:p>
            <a:pPr algn="ctr"/>
            <a:endParaRPr lang="en-US" sz="2400" b="1" dirty="0"/>
          </a:p>
        </p:txBody>
      </p:sp>
      <p:sp>
        <p:nvSpPr>
          <p:cNvPr id="6" name="Title 5">
            <a:extLst>
              <a:ext uri="{FF2B5EF4-FFF2-40B4-BE49-F238E27FC236}">
                <a16:creationId xmlns:a16="http://schemas.microsoft.com/office/drawing/2014/main" id="{236AECC9-B1C3-CBF9-39D0-7F92E0A57372}"/>
              </a:ext>
            </a:extLst>
          </p:cNvPr>
          <p:cNvSpPr>
            <a:spLocks noGrp="1"/>
          </p:cNvSpPr>
          <p:nvPr>
            <p:ph type="title"/>
          </p:nvPr>
        </p:nvSpPr>
        <p:spPr/>
        <p:txBody>
          <a:bodyPr/>
          <a:lstStyle/>
          <a:p>
            <a:r>
              <a:rPr lang="vi-VN" dirty="0" err="1"/>
              <a:t>Review</a:t>
            </a:r>
            <a:r>
              <a:rPr lang="vi-VN" dirty="0"/>
              <a:t> the </a:t>
            </a:r>
            <a:r>
              <a:rPr lang="vi-VN" dirty="0" err="1"/>
              <a:t>last</a:t>
            </a:r>
            <a:r>
              <a:rPr lang="vi-VN" dirty="0"/>
              <a:t> </a:t>
            </a:r>
            <a:r>
              <a:rPr lang="vi-VN" dirty="0" err="1"/>
              <a:t>lesson</a:t>
            </a:r>
            <a:endParaRPr lang="vi-VN" dirty="0"/>
          </a:p>
        </p:txBody>
      </p:sp>
      <p:sp>
        <p:nvSpPr>
          <p:cNvPr id="5" name="Content Placeholder 4">
            <a:extLst>
              <a:ext uri="{FF2B5EF4-FFF2-40B4-BE49-F238E27FC236}">
                <a16:creationId xmlns:a16="http://schemas.microsoft.com/office/drawing/2014/main" id="{223D35B2-6C3B-BE42-BC76-66F015FCB6E9}"/>
              </a:ext>
            </a:extLst>
          </p:cNvPr>
          <p:cNvSpPr>
            <a:spLocks noGrp="1"/>
          </p:cNvSpPr>
          <p:nvPr>
            <p:ph idx="1"/>
          </p:nvPr>
        </p:nvSpPr>
        <p:spPr/>
        <p:txBody>
          <a:bodyPr/>
          <a:lstStyle/>
          <a:p>
            <a:r>
              <a:rPr lang="en-US" sz="2400" b="1" dirty="0"/>
              <a:t>What did we learn from the last lesson?</a:t>
            </a:r>
          </a:p>
          <a:p>
            <a:pPr marL="0" indent="0">
              <a:buNone/>
            </a:pPr>
            <a:endParaRPr lang="vi-VN" dirty="0"/>
          </a:p>
        </p:txBody>
      </p:sp>
    </p:spTree>
    <p:extLst>
      <p:ext uri="{BB962C8B-B14F-4D97-AF65-F5344CB8AC3E}">
        <p14:creationId xmlns:p14="http://schemas.microsoft.com/office/powerpoint/2010/main" val="3307541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37387" y="1867903"/>
            <a:ext cx="4950338" cy="2237873"/>
          </a:xfrm>
        </p:spPr>
        <p:txBody>
          <a:bodyPr>
            <a:normAutofit fontScale="90000"/>
          </a:bodyPr>
          <a:lstStyle/>
          <a:p>
            <a:pPr algn="ctr"/>
            <a:r>
              <a:rPr lang="en-US"/>
              <a:t>CHAPTER 14</a:t>
            </a:r>
            <a:br>
              <a:rPr lang="en-US"/>
            </a:br>
            <a:r>
              <a:rPr lang="en-US"/>
              <a:t>Beyond functionality</a:t>
            </a:r>
            <a:br>
              <a:rPr lang="en-US"/>
            </a:br>
            <a:endParaRPr lang="en-US" sz="3000" i="1"/>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24148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Objectives</a:t>
            </a:r>
          </a:p>
        </p:txBody>
      </p:sp>
      <p:graphicFrame>
        <p:nvGraphicFramePr>
          <p:cNvPr id="5" name="Content Placeholder 2">
            <a:extLst>
              <a:ext uri="{FF2B5EF4-FFF2-40B4-BE49-F238E27FC236}">
                <a16:creationId xmlns:a16="http://schemas.microsoft.com/office/drawing/2014/main" id="{7518F98A-5433-4CAB-8A52-EBCBAF5144DB}"/>
              </a:ext>
            </a:extLst>
          </p:cNvPr>
          <p:cNvGraphicFramePr>
            <a:graphicFrameLocks noGrp="1"/>
          </p:cNvGraphicFramePr>
          <p:nvPr>
            <p:ph idx="1"/>
            <p:extLst>
              <p:ext uri="{D42A27DB-BD31-4B8C-83A1-F6EECF244321}">
                <p14:modId xmlns:p14="http://schemas.microsoft.com/office/powerpoint/2010/main" val="78335599"/>
              </p:ext>
            </p:extLst>
          </p:nvPr>
        </p:nvGraphicFramePr>
        <p:xfrm>
          <a:off x="304800" y="1090613"/>
          <a:ext cx="8589963" cy="54165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14104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Contents</a:t>
            </a:r>
          </a:p>
        </p:txBody>
      </p:sp>
      <p:sp>
        <p:nvSpPr>
          <p:cNvPr id="3" name="Content Placeholder 2"/>
          <p:cNvSpPr>
            <a:spLocks noGrp="1"/>
          </p:cNvSpPr>
          <p:nvPr>
            <p:ph idx="1"/>
          </p:nvPr>
        </p:nvSpPr>
        <p:spPr/>
        <p:txBody>
          <a:bodyPr>
            <a:normAutofit/>
          </a:bodyPr>
          <a:lstStyle/>
          <a:p>
            <a:pPr marL="342900" indent="-342900">
              <a:buFont typeface="+mj-lt"/>
              <a:buAutoNum type="arabicPeriod"/>
            </a:pPr>
            <a:r>
              <a:rPr lang="en-US" dirty="0"/>
              <a:t>Nonfunctional requirements</a:t>
            </a:r>
          </a:p>
          <a:p>
            <a:pPr marL="342900" indent="-342900">
              <a:buFont typeface="+mj-lt"/>
              <a:buAutoNum type="arabicPeriod"/>
            </a:pPr>
            <a:r>
              <a:rPr lang="en-US" dirty="0"/>
              <a:t>Software quality attributes</a:t>
            </a:r>
          </a:p>
          <a:p>
            <a:pPr marL="342900" indent="-342900">
              <a:buFont typeface="+mj-lt"/>
              <a:buAutoNum type="arabicPeriod"/>
            </a:pPr>
            <a:r>
              <a:rPr lang="en-US" dirty="0"/>
              <a:t>Defining quality requirements</a:t>
            </a:r>
          </a:p>
          <a:p>
            <a:pPr marL="342900" indent="-342900">
              <a:buFont typeface="+mj-lt"/>
              <a:buAutoNum type="arabicPeriod"/>
            </a:pPr>
            <a:r>
              <a:rPr lang="en-US" dirty="0"/>
              <a:t>Exploring quality attributes</a:t>
            </a:r>
          </a:p>
          <a:p>
            <a:pPr marL="342900" indent="-342900">
              <a:buFont typeface="+mj-lt"/>
              <a:buAutoNum type="arabicPeriod"/>
            </a:pPr>
            <a:r>
              <a:rPr lang="en-US" dirty="0"/>
              <a:t>Constraints</a:t>
            </a:r>
          </a:p>
          <a:p>
            <a:pPr marL="342900" indent="-342900">
              <a:buFont typeface="+mj-lt"/>
              <a:buAutoNum type="arabicPeriod"/>
            </a:pPr>
            <a:r>
              <a:rPr lang="en-US" dirty="0"/>
              <a:t>Quality attribute trade-offs</a:t>
            </a:r>
          </a:p>
          <a:p>
            <a:pPr marL="342900" indent="-342900">
              <a:buFont typeface="+mj-lt"/>
              <a:buAutoNum type="arabicPeriod"/>
            </a:pPr>
            <a:r>
              <a:rPr lang="en-US" dirty="0"/>
              <a:t>Implementing quality attribute requirements</a:t>
            </a:r>
          </a:p>
          <a:p>
            <a:pPr marL="342900" indent="-342900">
              <a:buFont typeface="+mj-lt"/>
              <a:buAutoNum type="arabicPeriod"/>
            </a:pPr>
            <a:r>
              <a:rPr lang="en-US" dirty="0"/>
              <a:t>Specifying quality requirements with </a:t>
            </a:r>
            <a:r>
              <a:rPr lang="en-US" dirty="0" err="1"/>
              <a:t>Planguage</a:t>
            </a:r>
            <a:endParaRPr lang="en-US" dirty="0"/>
          </a:p>
          <a:p>
            <a:pPr marL="342900" indent="-342900">
              <a:buFont typeface="+mj-lt"/>
              <a:buAutoNum type="arabicPeriod"/>
            </a:pPr>
            <a:r>
              <a:rPr lang="en-US" dirty="0"/>
              <a:t>Handling quality attributes on agile projects</a:t>
            </a:r>
          </a:p>
          <a:p>
            <a:pPr marL="342900" indent="-342900">
              <a:buFont typeface="+mj-lt"/>
              <a:buAutoNum type="arabicPeriod"/>
            </a:pPr>
            <a:endParaRPr lang="en-US" dirty="0"/>
          </a:p>
        </p:txBody>
      </p:sp>
    </p:spTree>
    <p:extLst>
      <p:ext uri="{BB962C8B-B14F-4D97-AF65-F5344CB8AC3E}">
        <p14:creationId xmlns:p14="http://schemas.microsoft.com/office/powerpoint/2010/main" val="68438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1. Nonfunctional requirements</a:t>
            </a:r>
          </a:p>
        </p:txBody>
      </p:sp>
      <p:graphicFrame>
        <p:nvGraphicFramePr>
          <p:cNvPr id="5" name="Content Placeholder 2">
            <a:extLst>
              <a:ext uri="{FF2B5EF4-FFF2-40B4-BE49-F238E27FC236}">
                <a16:creationId xmlns:a16="http://schemas.microsoft.com/office/drawing/2014/main" id="{F1CB8AF4-33B3-4C12-A056-1BA6E2029DFC}"/>
              </a:ext>
            </a:extLst>
          </p:cNvPr>
          <p:cNvGraphicFramePr>
            <a:graphicFrameLocks noGrp="1"/>
          </p:cNvGraphicFramePr>
          <p:nvPr>
            <p:ph idx="1"/>
            <p:extLst>
              <p:ext uri="{D42A27DB-BD31-4B8C-83A1-F6EECF244321}">
                <p14:modId xmlns:p14="http://schemas.microsoft.com/office/powerpoint/2010/main" val="4009089283"/>
              </p:ext>
            </p:extLst>
          </p:nvPr>
        </p:nvGraphicFramePr>
        <p:xfrm>
          <a:off x="304800" y="1090613"/>
          <a:ext cx="8589963" cy="54165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398700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2. Software quality attributes</a:t>
            </a:r>
          </a:p>
        </p:txBody>
      </p:sp>
      <p:pic>
        <p:nvPicPr>
          <p:cNvPr id="6" name="Picture 5">
            <a:extLst>
              <a:ext uri="{FF2B5EF4-FFF2-40B4-BE49-F238E27FC236}">
                <a16:creationId xmlns:a16="http://schemas.microsoft.com/office/drawing/2014/main" id="{0D185320-3D98-5EEF-E383-DF7BB68934A9}"/>
              </a:ext>
            </a:extLst>
          </p:cNvPr>
          <p:cNvPicPr>
            <a:picLocks noChangeAspect="1"/>
          </p:cNvPicPr>
          <p:nvPr/>
        </p:nvPicPr>
        <p:blipFill>
          <a:blip r:embed="rId3"/>
          <a:stretch>
            <a:fillRect/>
          </a:stretch>
        </p:blipFill>
        <p:spPr>
          <a:xfrm>
            <a:off x="204787" y="1909359"/>
            <a:ext cx="8734425" cy="4248150"/>
          </a:xfrm>
          <a:prstGeom prst="rect">
            <a:avLst/>
          </a:prstGeom>
        </p:spPr>
      </p:pic>
      <p:sp>
        <p:nvSpPr>
          <p:cNvPr id="8" name="TextBox 7">
            <a:extLst>
              <a:ext uri="{FF2B5EF4-FFF2-40B4-BE49-F238E27FC236}">
                <a16:creationId xmlns:a16="http://schemas.microsoft.com/office/drawing/2014/main" id="{A4CD1691-538B-BE7D-5A93-77BD60CB1F50}"/>
              </a:ext>
            </a:extLst>
          </p:cNvPr>
          <p:cNvSpPr txBox="1"/>
          <p:nvPr/>
        </p:nvSpPr>
        <p:spPr>
          <a:xfrm>
            <a:off x="139485" y="1485783"/>
            <a:ext cx="4572000" cy="307777"/>
          </a:xfrm>
          <a:prstGeom prst="rect">
            <a:avLst/>
          </a:prstGeom>
          <a:noFill/>
        </p:spPr>
        <p:txBody>
          <a:bodyPr wrap="square">
            <a:spAutoFit/>
          </a:bodyPr>
          <a:lstStyle/>
          <a:p>
            <a:r>
              <a:rPr lang="en-US" sz="1400" b="1" dirty="0"/>
              <a:t>TABLE 14-1 </a:t>
            </a:r>
            <a:r>
              <a:rPr lang="en-US" sz="1400" dirty="0"/>
              <a:t>Some software quality attributes</a:t>
            </a:r>
            <a:endParaRPr lang="vi-VN" sz="1400" dirty="0"/>
          </a:p>
        </p:txBody>
      </p:sp>
    </p:spTree>
    <p:extLst>
      <p:ext uri="{BB962C8B-B14F-4D97-AF65-F5344CB8AC3E}">
        <p14:creationId xmlns:p14="http://schemas.microsoft.com/office/powerpoint/2010/main" val="3509674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89222-B965-D021-50DA-81FD96DBE9DF}"/>
              </a:ext>
            </a:extLst>
          </p:cNvPr>
          <p:cNvSpPr>
            <a:spLocks noGrp="1"/>
          </p:cNvSpPr>
          <p:nvPr>
            <p:ph type="title"/>
          </p:nvPr>
        </p:nvSpPr>
        <p:spPr/>
        <p:txBody>
          <a:bodyPr/>
          <a:lstStyle/>
          <a:p>
            <a:r>
              <a:rPr lang="en-US" dirty="0"/>
              <a:t>3. </a:t>
            </a:r>
            <a:r>
              <a:rPr lang="vi-VN" dirty="0" err="1"/>
              <a:t>Defining</a:t>
            </a:r>
            <a:r>
              <a:rPr lang="vi-VN" dirty="0"/>
              <a:t> </a:t>
            </a:r>
            <a:r>
              <a:rPr lang="vi-VN" dirty="0" err="1"/>
              <a:t>quality</a:t>
            </a:r>
            <a:r>
              <a:rPr lang="vi-VN" dirty="0"/>
              <a:t> </a:t>
            </a:r>
            <a:r>
              <a:rPr lang="vi-VN" dirty="0" err="1"/>
              <a:t>requirements</a:t>
            </a:r>
            <a:br>
              <a:rPr lang="en-US" dirty="0"/>
            </a:br>
            <a:r>
              <a:rPr lang="en-US" i="1" dirty="0"/>
              <a:t>External quality attributes</a:t>
            </a:r>
            <a:endParaRPr lang="vi-VN" i="1" dirty="0"/>
          </a:p>
        </p:txBody>
      </p:sp>
      <p:sp>
        <p:nvSpPr>
          <p:cNvPr id="3" name="Content Placeholder 2">
            <a:extLst>
              <a:ext uri="{FF2B5EF4-FFF2-40B4-BE49-F238E27FC236}">
                <a16:creationId xmlns:a16="http://schemas.microsoft.com/office/drawing/2014/main" id="{FE1CA91C-8CF9-4475-3205-6FC63A4F02CA}"/>
              </a:ext>
            </a:extLst>
          </p:cNvPr>
          <p:cNvSpPr>
            <a:spLocks noGrp="1"/>
          </p:cNvSpPr>
          <p:nvPr>
            <p:ph idx="1"/>
          </p:nvPr>
        </p:nvSpPr>
        <p:spPr/>
        <p:txBody>
          <a:bodyPr/>
          <a:lstStyle/>
          <a:p>
            <a:r>
              <a:rPr lang="en-US" dirty="0"/>
              <a:t>External quality attributes describe characteristics that are observed when the software is executing.</a:t>
            </a:r>
          </a:p>
          <a:p>
            <a:r>
              <a:rPr lang="en-US" dirty="0"/>
              <a:t>They profoundly influence the user experience and the user’s perception of system quality.</a:t>
            </a:r>
          </a:p>
          <a:p>
            <a:r>
              <a:rPr lang="en-US" dirty="0"/>
              <a:t>The external quality attributes described in this chapter are availability, </a:t>
            </a:r>
            <a:r>
              <a:rPr lang="en-US" dirty="0" err="1"/>
              <a:t>installability</a:t>
            </a:r>
            <a:r>
              <a:rPr lang="en-US" dirty="0"/>
              <a:t>, integrity, interoperability, performance, reliability, robustness, safety, security, and usability.</a:t>
            </a:r>
            <a:endParaRPr lang="vi-VN" dirty="0"/>
          </a:p>
        </p:txBody>
      </p:sp>
    </p:spTree>
    <p:extLst>
      <p:ext uri="{BB962C8B-B14F-4D97-AF65-F5344CB8AC3E}">
        <p14:creationId xmlns:p14="http://schemas.microsoft.com/office/powerpoint/2010/main" val="3468510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 quality attributes</a:t>
            </a:r>
            <a:br>
              <a:rPr lang="en-US" dirty="0"/>
            </a:br>
            <a:r>
              <a:rPr lang="en-US" i="1" dirty="0"/>
              <a:t>Availability</a:t>
            </a:r>
          </a:p>
        </p:txBody>
      </p:sp>
      <p:sp>
        <p:nvSpPr>
          <p:cNvPr id="3" name="Content Placeholder 2"/>
          <p:cNvSpPr>
            <a:spLocks noGrp="1"/>
          </p:cNvSpPr>
          <p:nvPr>
            <p:ph idx="1"/>
          </p:nvPr>
        </p:nvSpPr>
        <p:spPr>
          <a:xfrm>
            <a:off x="304800" y="1090992"/>
            <a:ext cx="8590625" cy="2861076"/>
          </a:xfrm>
        </p:spPr>
        <p:txBody>
          <a:bodyPr/>
          <a:lstStyle/>
          <a:p>
            <a:pPr algn="just"/>
            <a:r>
              <a:rPr lang="en-US" dirty="0"/>
              <a:t>A measure of the planned-up time during which the system’s services are available for use and fully operational. </a:t>
            </a:r>
          </a:p>
          <a:p>
            <a:pPr algn="just"/>
            <a:r>
              <a:rPr lang="en-US" dirty="0"/>
              <a:t>Formally, availability equals the ratio of up time to the sum of up time and down time. </a:t>
            </a:r>
          </a:p>
          <a:p>
            <a:pPr algn="just"/>
            <a:r>
              <a:rPr lang="en-US" dirty="0"/>
              <a:t>Samples:</a:t>
            </a:r>
          </a:p>
          <a:p>
            <a:pPr lvl="3" algn="just"/>
            <a:r>
              <a:rPr lang="en-US" b="0" i="1" u="none" strike="noStrike" baseline="0" dirty="0">
                <a:solidFill>
                  <a:srgbClr val="000000"/>
                </a:solidFill>
              </a:rPr>
              <a:t>AVL-1. The system shall be at least 95 percent available on weekdays between 6:00 A.M. and midnight Eastern Time, and at least 99 percent available on weekdays between 3:00 P.M. and 5:00 P.M. Eastern Time.</a:t>
            </a:r>
          </a:p>
          <a:p>
            <a:pPr lvl="3" algn="just"/>
            <a:r>
              <a:rPr lang="en-US" b="0" i="1" u="none" strike="noStrike" baseline="0" dirty="0">
                <a:solidFill>
                  <a:srgbClr val="000000"/>
                </a:solidFill>
              </a:rPr>
              <a:t>AVL-2. Down time that is excluded from the calculation of availability consists of maintenance scheduled during the hours from 6:00 P.M. Sunday Pacific Time, through 3:00 A.M. Monday Pacific Time.</a:t>
            </a:r>
            <a:endParaRPr lang="en-US" dirty="0"/>
          </a:p>
        </p:txBody>
      </p:sp>
      <p:sp>
        <p:nvSpPr>
          <p:cNvPr id="5" name="TextBox 4">
            <a:extLst>
              <a:ext uri="{FF2B5EF4-FFF2-40B4-BE49-F238E27FC236}">
                <a16:creationId xmlns:a16="http://schemas.microsoft.com/office/drawing/2014/main" id="{A7BAAF54-EA50-C083-2C85-DA122C120366}"/>
              </a:ext>
            </a:extLst>
          </p:cNvPr>
          <p:cNvSpPr txBox="1"/>
          <p:nvPr/>
        </p:nvSpPr>
        <p:spPr>
          <a:xfrm>
            <a:off x="304800" y="4238786"/>
            <a:ext cx="8590625" cy="198907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80000"/>
              </a:lnSpc>
              <a:spcBef>
                <a:spcPts val="300"/>
              </a:spcBef>
            </a:pPr>
            <a:r>
              <a:rPr lang="en-US" b="1" dirty="0"/>
              <a:t>When eliciting availability requirements, ask questions to explore the following issues:</a:t>
            </a:r>
          </a:p>
          <a:p>
            <a:pPr>
              <a:lnSpc>
                <a:spcPct val="80000"/>
              </a:lnSpc>
              <a:spcBef>
                <a:spcPts val="300"/>
              </a:spcBef>
            </a:pPr>
            <a:r>
              <a:rPr lang="en-US" dirty="0"/>
              <a:t>■ What portions of the system are most critical for being available?</a:t>
            </a:r>
          </a:p>
          <a:p>
            <a:pPr>
              <a:lnSpc>
                <a:spcPct val="80000"/>
              </a:lnSpc>
              <a:spcBef>
                <a:spcPts val="300"/>
              </a:spcBef>
            </a:pPr>
            <a:r>
              <a:rPr lang="en-US" dirty="0"/>
              <a:t>■ What are the business consequences of the system being unavailable to its users?</a:t>
            </a:r>
          </a:p>
          <a:p>
            <a:pPr>
              <a:lnSpc>
                <a:spcPct val="80000"/>
              </a:lnSpc>
              <a:spcBef>
                <a:spcPts val="300"/>
              </a:spcBef>
            </a:pPr>
            <a:r>
              <a:rPr lang="en-US" dirty="0"/>
              <a:t>■ If scheduled maintenance must be performed periodically, when should it be scheduled? What is the impact on system availability? What are the minimum and maximum durations of the maintenance periods? How are user access attempts to be managed during the maintenance periods?</a:t>
            </a:r>
            <a:endParaRPr lang="vi-VN" dirty="0"/>
          </a:p>
        </p:txBody>
      </p:sp>
    </p:spTree>
    <p:extLst>
      <p:ext uri="{BB962C8B-B14F-4D97-AF65-F5344CB8AC3E}">
        <p14:creationId xmlns:p14="http://schemas.microsoft.com/office/powerpoint/2010/main" val="1605618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 quality attributes</a:t>
            </a:r>
            <a:br>
              <a:rPr lang="en-US" dirty="0"/>
            </a:br>
            <a:r>
              <a:rPr lang="en-US" i="1" dirty="0" err="1"/>
              <a:t>Installability</a:t>
            </a:r>
            <a:endParaRPr lang="en-US" i="1" dirty="0"/>
          </a:p>
        </p:txBody>
      </p:sp>
      <p:sp>
        <p:nvSpPr>
          <p:cNvPr id="4" name="Content Placeholder 3">
            <a:extLst>
              <a:ext uri="{FF2B5EF4-FFF2-40B4-BE49-F238E27FC236}">
                <a16:creationId xmlns:a16="http://schemas.microsoft.com/office/drawing/2014/main" id="{EA1A39E0-1CAF-C11C-A3D3-F73761F69340}"/>
              </a:ext>
            </a:extLst>
          </p:cNvPr>
          <p:cNvSpPr>
            <a:spLocks noGrp="1"/>
          </p:cNvSpPr>
          <p:nvPr>
            <p:ph idx="1"/>
          </p:nvPr>
        </p:nvSpPr>
        <p:spPr>
          <a:xfrm>
            <a:off x="304800" y="1090992"/>
            <a:ext cx="8590625" cy="2729340"/>
          </a:xfrm>
        </p:spPr>
        <p:txBody>
          <a:bodyPr/>
          <a:lstStyle/>
          <a:p>
            <a:r>
              <a:rPr lang="en-US" dirty="0"/>
              <a:t>A measure of a system’s </a:t>
            </a:r>
            <a:r>
              <a:rPr lang="en-US" dirty="0" err="1"/>
              <a:t>installability</a:t>
            </a:r>
            <a:r>
              <a:rPr lang="en-US" dirty="0"/>
              <a:t> is the mean time to install the system. </a:t>
            </a:r>
          </a:p>
          <a:p>
            <a:r>
              <a:rPr lang="en-US" dirty="0"/>
              <a:t>Samples:</a:t>
            </a:r>
          </a:p>
          <a:p>
            <a:pPr lvl="3"/>
            <a:r>
              <a:rPr lang="en-US" i="1" dirty="0"/>
              <a:t>INS-1. An untrained user shall be able to successfully perform an initial installation of the application in an average of 10 minutes.</a:t>
            </a:r>
          </a:p>
          <a:p>
            <a:pPr lvl="3"/>
            <a:r>
              <a:rPr lang="en-US" i="1" dirty="0"/>
              <a:t>INS-2. When installing an upgraded version of the application, all customizations in the user’s profile shall be retained and converted to the new version’s data format if needed.</a:t>
            </a:r>
          </a:p>
          <a:p>
            <a:pPr lvl="3"/>
            <a:r>
              <a:rPr lang="en-US" i="1" dirty="0"/>
              <a:t>INS-3. The installation program shall verify the correctness of the download before beginning the installation process.</a:t>
            </a:r>
          </a:p>
          <a:p>
            <a:pPr lvl="3"/>
            <a:r>
              <a:rPr lang="en-US" i="1" dirty="0"/>
              <a:t>INS-4. Installing this software on a server requires administrator privileges.</a:t>
            </a:r>
          </a:p>
          <a:p>
            <a:pPr lvl="3"/>
            <a:r>
              <a:rPr lang="en-US" i="1" dirty="0"/>
              <a:t>INS-5. Following successful installation, the installation program shall delete all temporary, backup, obsolete, and unneeded files associated with the application.</a:t>
            </a:r>
          </a:p>
        </p:txBody>
      </p:sp>
      <p:sp>
        <p:nvSpPr>
          <p:cNvPr id="6" name="TextBox 5">
            <a:extLst>
              <a:ext uri="{FF2B5EF4-FFF2-40B4-BE49-F238E27FC236}">
                <a16:creationId xmlns:a16="http://schemas.microsoft.com/office/drawing/2014/main" id="{46F916F8-A2EB-85E0-B297-E7E599E3D4CB}"/>
              </a:ext>
            </a:extLst>
          </p:cNvPr>
          <p:cNvSpPr txBox="1"/>
          <p:nvPr/>
        </p:nvSpPr>
        <p:spPr>
          <a:xfrm>
            <a:off x="304800" y="4077794"/>
            <a:ext cx="3391546" cy="226222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80000"/>
              </a:lnSpc>
              <a:spcBef>
                <a:spcPts val="300"/>
              </a:spcBef>
            </a:pPr>
            <a:r>
              <a:rPr lang="en-US" sz="1400" b="1" dirty="0" err="1"/>
              <a:t>Installability</a:t>
            </a:r>
            <a:r>
              <a:rPr lang="en-US" sz="1400" b="1" dirty="0"/>
              <a:t> addresses the following activities:</a:t>
            </a:r>
          </a:p>
          <a:p>
            <a:pPr>
              <a:lnSpc>
                <a:spcPct val="80000"/>
              </a:lnSpc>
              <a:spcBef>
                <a:spcPts val="300"/>
              </a:spcBef>
            </a:pPr>
            <a:r>
              <a:rPr lang="en-US" sz="1400" dirty="0"/>
              <a:t>■ Initial installation</a:t>
            </a:r>
          </a:p>
          <a:p>
            <a:pPr>
              <a:lnSpc>
                <a:spcPct val="80000"/>
              </a:lnSpc>
              <a:spcBef>
                <a:spcPts val="300"/>
              </a:spcBef>
            </a:pPr>
            <a:r>
              <a:rPr lang="en-US" sz="1400" dirty="0"/>
              <a:t>■ Recovery from an incomplete, incorrect, or user-aborted installation</a:t>
            </a:r>
          </a:p>
          <a:p>
            <a:pPr>
              <a:lnSpc>
                <a:spcPct val="80000"/>
              </a:lnSpc>
              <a:spcBef>
                <a:spcPts val="300"/>
              </a:spcBef>
            </a:pPr>
            <a:r>
              <a:rPr lang="en-US" sz="1400" dirty="0"/>
              <a:t>■ Reinstallation of the same version</a:t>
            </a:r>
          </a:p>
          <a:p>
            <a:pPr>
              <a:lnSpc>
                <a:spcPct val="80000"/>
              </a:lnSpc>
              <a:spcBef>
                <a:spcPts val="300"/>
              </a:spcBef>
            </a:pPr>
            <a:r>
              <a:rPr lang="en-US" sz="1400" dirty="0"/>
              <a:t>■ Installation of a new version</a:t>
            </a:r>
          </a:p>
          <a:p>
            <a:pPr>
              <a:lnSpc>
                <a:spcPct val="80000"/>
              </a:lnSpc>
              <a:spcBef>
                <a:spcPts val="300"/>
              </a:spcBef>
            </a:pPr>
            <a:r>
              <a:rPr lang="en-US" sz="1400" dirty="0"/>
              <a:t>■ Reverting to a previous version</a:t>
            </a:r>
          </a:p>
          <a:p>
            <a:pPr>
              <a:lnSpc>
                <a:spcPct val="80000"/>
              </a:lnSpc>
              <a:spcBef>
                <a:spcPts val="300"/>
              </a:spcBef>
            </a:pPr>
            <a:r>
              <a:rPr lang="en-US" sz="1400" dirty="0"/>
              <a:t>■ Installation of additional components or updates</a:t>
            </a:r>
          </a:p>
          <a:p>
            <a:pPr>
              <a:lnSpc>
                <a:spcPct val="80000"/>
              </a:lnSpc>
              <a:spcBef>
                <a:spcPts val="300"/>
              </a:spcBef>
            </a:pPr>
            <a:r>
              <a:rPr lang="en-US" sz="1400" dirty="0"/>
              <a:t>■ Uninstallation</a:t>
            </a:r>
            <a:endParaRPr lang="vi-VN" sz="1400" dirty="0"/>
          </a:p>
        </p:txBody>
      </p:sp>
      <p:sp>
        <p:nvSpPr>
          <p:cNvPr id="8" name="TextBox 7">
            <a:extLst>
              <a:ext uri="{FF2B5EF4-FFF2-40B4-BE49-F238E27FC236}">
                <a16:creationId xmlns:a16="http://schemas.microsoft.com/office/drawing/2014/main" id="{371E4171-E7A7-A8CB-2EEB-FDDBA0ABD8F4}"/>
              </a:ext>
            </a:extLst>
          </p:cNvPr>
          <p:cNvSpPr txBox="1"/>
          <p:nvPr/>
        </p:nvSpPr>
        <p:spPr>
          <a:xfrm>
            <a:off x="3975314" y="4077794"/>
            <a:ext cx="4920111" cy="257044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80000"/>
              </a:lnSpc>
              <a:spcBef>
                <a:spcPts val="300"/>
              </a:spcBef>
            </a:pPr>
            <a:r>
              <a:rPr lang="en-US" sz="1400" b="1" dirty="0"/>
              <a:t>Following are examples of some questions to explore when eliciting </a:t>
            </a:r>
            <a:r>
              <a:rPr lang="en-US" sz="1400" b="1" dirty="0" err="1"/>
              <a:t>installability</a:t>
            </a:r>
            <a:r>
              <a:rPr lang="en-US" sz="1400" b="1" dirty="0"/>
              <a:t> requirements:</a:t>
            </a:r>
          </a:p>
          <a:p>
            <a:pPr>
              <a:lnSpc>
                <a:spcPct val="80000"/>
              </a:lnSpc>
              <a:spcBef>
                <a:spcPts val="300"/>
              </a:spcBef>
            </a:pPr>
            <a:r>
              <a:rPr lang="en-US" sz="1400" dirty="0"/>
              <a:t>■ What installation operations must be performed without disturbing the user’s session?</a:t>
            </a:r>
          </a:p>
          <a:p>
            <a:pPr>
              <a:lnSpc>
                <a:spcPct val="80000"/>
              </a:lnSpc>
              <a:spcBef>
                <a:spcPts val="300"/>
              </a:spcBef>
            </a:pPr>
            <a:r>
              <a:rPr lang="en-US" sz="1400" dirty="0"/>
              <a:t>■ What installation operations will require a restart of the application? Of the computer or device?</a:t>
            </a:r>
          </a:p>
          <a:p>
            <a:pPr>
              <a:lnSpc>
                <a:spcPct val="80000"/>
              </a:lnSpc>
              <a:spcBef>
                <a:spcPts val="300"/>
              </a:spcBef>
            </a:pPr>
            <a:r>
              <a:rPr lang="en-US" sz="1400" dirty="0"/>
              <a:t>■ What should the application do upon successful, or unsuccessful, installation?</a:t>
            </a:r>
          </a:p>
          <a:p>
            <a:pPr>
              <a:lnSpc>
                <a:spcPct val="80000"/>
              </a:lnSpc>
              <a:spcBef>
                <a:spcPts val="300"/>
              </a:spcBef>
            </a:pPr>
            <a:r>
              <a:rPr lang="en-US" sz="1400" dirty="0"/>
              <a:t>■ What operations should be performed to confirm the validity of an installation?</a:t>
            </a:r>
          </a:p>
          <a:p>
            <a:pPr>
              <a:lnSpc>
                <a:spcPct val="80000"/>
              </a:lnSpc>
              <a:spcBef>
                <a:spcPts val="300"/>
              </a:spcBef>
            </a:pPr>
            <a:r>
              <a:rPr lang="en-US" sz="1400" dirty="0"/>
              <a:t>■ Does the user need the capability to install, uninstall, reinstall, or repair just selected portions of the application? If so, which portions?</a:t>
            </a:r>
            <a:endParaRPr lang="vi-VN" sz="1400" dirty="0"/>
          </a:p>
        </p:txBody>
      </p:sp>
    </p:spTree>
    <p:extLst>
      <p:ext uri="{BB962C8B-B14F-4D97-AF65-F5344CB8AC3E}">
        <p14:creationId xmlns:p14="http://schemas.microsoft.com/office/powerpoint/2010/main" val="1051691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 quality attributes</a:t>
            </a:r>
            <a:br>
              <a:rPr lang="en-US" dirty="0"/>
            </a:br>
            <a:r>
              <a:rPr lang="en-US" i="1" dirty="0"/>
              <a:t>Integrity</a:t>
            </a:r>
          </a:p>
        </p:txBody>
      </p:sp>
      <p:sp>
        <p:nvSpPr>
          <p:cNvPr id="4" name="Content Placeholder 3">
            <a:extLst>
              <a:ext uri="{FF2B5EF4-FFF2-40B4-BE49-F238E27FC236}">
                <a16:creationId xmlns:a16="http://schemas.microsoft.com/office/drawing/2014/main" id="{343F28B9-1362-C567-9EF8-13122D322BE0}"/>
              </a:ext>
            </a:extLst>
          </p:cNvPr>
          <p:cNvSpPr>
            <a:spLocks noGrp="1"/>
          </p:cNvSpPr>
          <p:nvPr>
            <p:ph idx="1"/>
          </p:nvPr>
        </p:nvSpPr>
        <p:spPr>
          <a:xfrm>
            <a:off x="304800" y="1090993"/>
            <a:ext cx="8590625" cy="2992106"/>
          </a:xfrm>
        </p:spPr>
        <p:txBody>
          <a:bodyPr/>
          <a:lstStyle/>
          <a:p>
            <a:r>
              <a:rPr lang="en-US" dirty="0"/>
              <a:t>Integrity deals with preventing information loss and preserving the correctness of data entered into the system. </a:t>
            </a:r>
          </a:p>
          <a:p>
            <a:r>
              <a:rPr lang="en-US" dirty="0"/>
              <a:t>Integrity requirements have no tolerance for error: the data is either in good shape and protected, or it is not. Samples:</a:t>
            </a:r>
          </a:p>
          <a:p>
            <a:pPr lvl="3"/>
            <a:r>
              <a:rPr lang="en-US" i="1" dirty="0"/>
              <a:t>INT-1. After performing a file backup, the system shall verify the backup copy against the original and report any discrepancies.</a:t>
            </a:r>
          </a:p>
          <a:p>
            <a:pPr lvl="3"/>
            <a:r>
              <a:rPr lang="en-US" i="1" dirty="0"/>
              <a:t>INT-2. The system shall protect against the unauthorized addition, deletion, or modification of data.</a:t>
            </a:r>
          </a:p>
          <a:p>
            <a:pPr lvl="3"/>
            <a:r>
              <a:rPr lang="en-US" i="1" dirty="0"/>
              <a:t>INT-3. The Chemical Tracking System shall confirm that an encoded chemical structure imported from third-party structure-drawing tools represents a valid chemical structure.</a:t>
            </a:r>
          </a:p>
          <a:p>
            <a:pPr lvl="3"/>
            <a:r>
              <a:rPr lang="en-US" i="1" dirty="0"/>
              <a:t>INT-4. The system shall confirm daily that the application executables have not been modified by the addition of unauthorized code.</a:t>
            </a:r>
          </a:p>
          <a:p>
            <a:endParaRPr lang="vi-VN" dirty="0"/>
          </a:p>
        </p:txBody>
      </p:sp>
      <p:sp>
        <p:nvSpPr>
          <p:cNvPr id="6" name="TextBox 5">
            <a:extLst>
              <a:ext uri="{FF2B5EF4-FFF2-40B4-BE49-F238E27FC236}">
                <a16:creationId xmlns:a16="http://schemas.microsoft.com/office/drawing/2014/main" id="{E4383F8B-E2EA-7A51-4DC9-EFAEC484080D}"/>
              </a:ext>
            </a:extLst>
          </p:cNvPr>
          <p:cNvSpPr txBox="1"/>
          <p:nvPr/>
        </p:nvSpPr>
        <p:spPr>
          <a:xfrm>
            <a:off x="265753" y="4083098"/>
            <a:ext cx="8668718" cy="264540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80000"/>
              </a:lnSpc>
              <a:spcBef>
                <a:spcPts val="300"/>
              </a:spcBef>
            </a:pPr>
            <a:r>
              <a:rPr lang="en-US" sz="1400" b="1" dirty="0"/>
              <a:t>Some factors to consider when discussing integrity requirements include the following:</a:t>
            </a:r>
          </a:p>
          <a:p>
            <a:pPr>
              <a:lnSpc>
                <a:spcPct val="80000"/>
              </a:lnSpc>
              <a:spcBef>
                <a:spcPts val="300"/>
              </a:spcBef>
            </a:pPr>
            <a:r>
              <a:rPr lang="en-US" sz="1400" dirty="0"/>
              <a:t>■ Ensuring that changes in the data are made either entirely or not at all. This might mean backing out of a data change if a failure is encountered partway through the operation.</a:t>
            </a:r>
          </a:p>
          <a:p>
            <a:pPr>
              <a:lnSpc>
                <a:spcPct val="80000"/>
              </a:lnSpc>
              <a:spcBef>
                <a:spcPts val="300"/>
              </a:spcBef>
            </a:pPr>
            <a:r>
              <a:rPr lang="en-US" sz="1400" dirty="0"/>
              <a:t>■ Ensuring the persistence of changes that are made in the data.</a:t>
            </a:r>
          </a:p>
          <a:p>
            <a:pPr>
              <a:lnSpc>
                <a:spcPct val="80000"/>
              </a:lnSpc>
              <a:spcBef>
                <a:spcPts val="300"/>
              </a:spcBef>
            </a:pPr>
            <a:r>
              <a:rPr lang="en-US" sz="1400" dirty="0"/>
              <a:t>■ Coordinating changes made in multiple data stores, particularly when changes have to be made simultaneously (say, on multiple servers) and at a specific time (say, at 12:00 A.M. GMT on January 1 in several locations).</a:t>
            </a:r>
          </a:p>
          <a:p>
            <a:pPr>
              <a:lnSpc>
                <a:spcPct val="80000"/>
              </a:lnSpc>
              <a:spcBef>
                <a:spcPts val="300"/>
              </a:spcBef>
            </a:pPr>
            <a:r>
              <a:rPr lang="en-US" sz="1400" dirty="0"/>
              <a:t>■ Ensuring the physical security of computers and external storage devices.</a:t>
            </a:r>
          </a:p>
          <a:p>
            <a:pPr>
              <a:lnSpc>
                <a:spcPct val="80000"/>
              </a:lnSpc>
              <a:spcBef>
                <a:spcPts val="300"/>
              </a:spcBef>
            </a:pPr>
            <a:r>
              <a:rPr lang="en-US" sz="1400" dirty="0"/>
              <a:t>■ Performing data backups. (At what frequency? Automatically and/or on demand? Of what files or databases? To what media? With or without compression and verification?)</a:t>
            </a:r>
          </a:p>
          <a:p>
            <a:pPr>
              <a:lnSpc>
                <a:spcPct val="80000"/>
              </a:lnSpc>
              <a:spcBef>
                <a:spcPts val="300"/>
              </a:spcBef>
            </a:pPr>
            <a:r>
              <a:rPr lang="en-US" sz="1400" dirty="0"/>
              <a:t>■ Restoring data from a backup.</a:t>
            </a:r>
          </a:p>
          <a:p>
            <a:pPr>
              <a:lnSpc>
                <a:spcPct val="80000"/>
              </a:lnSpc>
              <a:spcBef>
                <a:spcPts val="300"/>
              </a:spcBef>
            </a:pPr>
            <a:r>
              <a:rPr lang="en-US" sz="1400" dirty="0"/>
              <a:t>■ Archiving of data: what data, when to archive, for how long, with what deletion requirements.</a:t>
            </a:r>
          </a:p>
          <a:p>
            <a:pPr>
              <a:lnSpc>
                <a:spcPct val="80000"/>
              </a:lnSpc>
              <a:spcBef>
                <a:spcPts val="300"/>
              </a:spcBef>
            </a:pPr>
            <a:r>
              <a:rPr lang="en-US" sz="1400" dirty="0"/>
              <a:t>■ Protecting data stored or backed up in the cloud from people who aren’t supposed to access it.</a:t>
            </a:r>
            <a:endParaRPr lang="vi-VN" sz="1400" dirty="0"/>
          </a:p>
        </p:txBody>
      </p:sp>
    </p:spTree>
    <p:extLst>
      <p:ext uri="{BB962C8B-B14F-4D97-AF65-F5344CB8AC3E}">
        <p14:creationId xmlns:p14="http://schemas.microsoft.com/office/powerpoint/2010/main" val="36326191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 quality attributes</a:t>
            </a:r>
            <a:br>
              <a:rPr lang="en-US" dirty="0"/>
            </a:br>
            <a:r>
              <a:rPr lang="en-US" i="1" dirty="0"/>
              <a:t>Interoperability</a:t>
            </a:r>
          </a:p>
        </p:txBody>
      </p:sp>
      <p:sp>
        <p:nvSpPr>
          <p:cNvPr id="4" name="Content Placeholder 3">
            <a:extLst>
              <a:ext uri="{FF2B5EF4-FFF2-40B4-BE49-F238E27FC236}">
                <a16:creationId xmlns:a16="http://schemas.microsoft.com/office/drawing/2014/main" id="{94D0A8F8-D8CF-804B-52C2-51E7D42396C1}"/>
              </a:ext>
            </a:extLst>
          </p:cNvPr>
          <p:cNvSpPr>
            <a:spLocks noGrp="1"/>
          </p:cNvSpPr>
          <p:nvPr>
            <p:ph idx="1"/>
          </p:nvPr>
        </p:nvSpPr>
        <p:spPr>
          <a:xfrm>
            <a:off x="304800" y="1090992"/>
            <a:ext cx="8590625" cy="2338008"/>
          </a:xfrm>
        </p:spPr>
        <p:txBody>
          <a:bodyPr/>
          <a:lstStyle/>
          <a:p>
            <a:r>
              <a:rPr lang="en-US" dirty="0"/>
              <a:t>Interoperability indicates how readily the system can exchange data and services with other software systems and how easily it can integrate with external hardware devices. </a:t>
            </a:r>
          </a:p>
          <a:p>
            <a:r>
              <a:rPr lang="en-US" dirty="0"/>
              <a:t>Samples:</a:t>
            </a:r>
          </a:p>
          <a:p>
            <a:pPr lvl="3"/>
            <a:r>
              <a:rPr lang="en-US" i="1" dirty="0"/>
              <a:t>IOP-1. The Chemical Tracking System shall be able to import any valid chemical structure from the </a:t>
            </a:r>
            <a:r>
              <a:rPr lang="en-US" i="1" dirty="0" err="1"/>
              <a:t>ChemDraw</a:t>
            </a:r>
            <a:r>
              <a:rPr lang="en-US" i="1" dirty="0"/>
              <a:t> (version 13.0 or earlier) and </a:t>
            </a:r>
            <a:r>
              <a:rPr lang="en-US" i="1" dirty="0" err="1"/>
              <a:t>MarvinSketch</a:t>
            </a:r>
            <a:r>
              <a:rPr lang="en-US" i="1" dirty="0"/>
              <a:t> (version 5.0 or earlier) tools.</a:t>
            </a:r>
          </a:p>
          <a:p>
            <a:pPr lvl="3"/>
            <a:r>
              <a:rPr lang="en-US" i="1" dirty="0"/>
              <a:t>IOP-2. The Chemical Tracking System shall be able to import any chemical structure encoded using the SMILES (simplified molecular-input line-entry system) notation.</a:t>
            </a:r>
          </a:p>
          <a:p>
            <a:pPr marL="0" indent="0">
              <a:buNone/>
            </a:pPr>
            <a:endParaRPr lang="vi-VN" dirty="0"/>
          </a:p>
        </p:txBody>
      </p:sp>
      <p:sp>
        <p:nvSpPr>
          <p:cNvPr id="6" name="TextBox 5">
            <a:extLst>
              <a:ext uri="{FF2B5EF4-FFF2-40B4-BE49-F238E27FC236}">
                <a16:creationId xmlns:a16="http://schemas.microsoft.com/office/drawing/2014/main" id="{CE83AAB2-DBEC-6F9E-7DB8-3753EBBC50FA}"/>
              </a:ext>
            </a:extLst>
          </p:cNvPr>
          <p:cNvSpPr txBox="1"/>
          <p:nvPr/>
        </p:nvSpPr>
        <p:spPr>
          <a:xfrm>
            <a:off x="409112" y="3662079"/>
            <a:ext cx="8486313" cy="2151230"/>
          </a:xfrm>
          <a:prstGeom prst="rect">
            <a:avLst/>
          </a:prstGeom>
          <a:noFill/>
        </p:spPr>
        <p:txBody>
          <a:bodyPr wrap="square">
            <a:spAutoFit/>
          </a:bodyPr>
          <a:lstStyle/>
          <a:p>
            <a:pPr>
              <a:lnSpc>
                <a:spcPct val="80000"/>
              </a:lnSpc>
              <a:spcBef>
                <a:spcPts val="300"/>
              </a:spcBef>
            </a:pPr>
            <a:r>
              <a:rPr lang="en-US" sz="1600" b="1" dirty="0"/>
              <a:t>Following are some questions you can use when exploring interoperability requirements:</a:t>
            </a:r>
          </a:p>
          <a:p>
            <a:pPr>
              <a:lnSpc>
                <a:spcPct val="80000"/>
              </a:lnSpc>
              <a:spcBef>
                <a:spcPts val="300"/>
              </a:spcBef>
            </a:pPr>
            <a:r>
              <a:rPr lang="en-US" sz="1600" dirty="0"/>
              <a:t>■ To what other systems must this one interface? What services or data must they exchange?</a:t>
            </a:r>
          </a:p>
          <a:p>
            <a:pPr>
              <a:lnSpc>
                <a:spcPct val="80000"/>
              </a:lnSpc>
              <a:spcBef>
                <a:spcPts val="300"/>
              </a:spcBef>
            </a:pPr>
            <a:r>
              <a:rPr lang="en-US" sz="1600" dirty="0"/>
              <a:t>■ What standard data formats are necessary for data that needs to be exchanged with other systems?</a:t>
            </a:r>
          </a:p>
          <a:p>
            <a:pPr>
              <a:lnSpc>
                <a:spcPct val="80000"/>
              </a:lnSpc>
              <a:spcBef>
                <a:spcPts val="300"/>
              </a:spcBef>
            </a:pPr>
            <a:r>
              <a:rPr lang="en-US" sz="1600" dirty="0"/>
              <a:t>■ What specific hardware components must interconnect with the system?</a:t>
            </a:r>
          </a:p>
          <a:p>
            <a:pPr>
              <a:lnSpc>
                <a:spcPct val="80000"/>
              </a:lnSpc>
              <a:spcBef>
                <a:spcPts val="300"/>
              </a:spcBef>
            </a:pPr>
            <a:r>
              <a:rPr lang="en-US" sz="1600" dirty="0"/>
              <a:t>■ What messages or codes must the system receive and process from other systems or devices?</a:t>
            </a:r>
          </a:p>
          <a:p>
            <a:pPr>
              <a:lnSpc>
                <a:spcPct val="80000"/>
              </a:lnSpc>
              <a:spcBef>
                <a:spcPts val="300"/>
              </a:spcBef>
            </a:pPr>
            <a:r>
              <a:rPr lang="en-US" sz="1600" dirty="0"/>
              <a:t>■ What standard communication protocols are necessary to enable interoperability?</a:t>
            </a:r>
          </a:p>
          <a:p>
            <a:pPr>
              <a:lnSpc>
                <a:spcPct val="80000"/>
              </a:lnSpc>
              <a:spcBef>
                <a:spcPts val="300"/>
              </a:spcBef>
            </a:pPr>
            <a:r>
              <a:rPr lang="en-US" sz="1600" dirty="0"/>
              <a:t>■ What externally mandated interoperability requirements must the system satisfy?</a:t>
            </a:r>
            <a:endParaRPr lang="vi-VN" sz="1600" dirty="0"/>
          </a:p>
        </p:txBody>
      </p:sp>
    </p:spTree>
    <p:extLst>
      <p:ext uri="{BB962C8B-B14F-4D97-AF65-F5344CB8AC3E}">
        <p14:creationId xmlns:p14="http://schemas.microsoft.com/office/powerpoint/2010/main" val="3628687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 quality attributes</a:t>
            </a:r>
            <a:br>
              <a:rPr lang="en-US" dirty="0"/>
            </a:br>
            <a:r>
              <a:rPr lang="en-US" i="1" dirty="0"/>
              <a:t>Performance</a:t>
            </a:r>
          </a:p>
        </p:txBody>
      </p:sp>
      <p:sp>
        <p:nvSpPr>
          <p:cNvPr id="5" name="Content Placeholder 4">
            <a:extLst>
              <a:ext uri="{FF2B5EF4-FFF2-40B4-BE49-F238E27FC236}">
                <a16:creationId xmlns:a16="http://schemas.microsoft.com/office/drawing/2014/main" id="{8495E641-F4FE-E52F-B135-97A91C5D0EA9}"/>
              </a:ext>
            </a:extLst>
          </p:cNvPr>
          <p:cNvSpPr>
            <a:spLocks noGrp="1"/>
          </p:cNvSpPr>
          <p:nvPr>
            <p:ph idx="1"/>
          </p:nvPr>
        </p:nvSpPr>
        <p:spPr>
          <a:xfrm>
            <a:off x="304800" y="1090992"/>
            <a:ext cx="8590625" cy="2217896"/>
          </a:xfrm>
        </p:spPr>
        <p:txBody>
          <a:bodyPr/>
          <a:lstStyle/>
          <a:p>
            <a:r>
              <a:rPr lang="en-US" dirty="0"/>
              <a:t>Performance represents the responsiveness of the system to various user inquiries and actions. Samples:</a:t>
            </a:r>
          </a:p>
          <a:p>
            <a:pPr marR="10000" lvl="3" algn="just"/>
            <a:r>
              <a:rPr lang="en-US" i="1" dirty="0">
                <a:latin typeface="+mj-lt"/>
              </a:rPr>
              <a:t>PER-1. Authorization of an ATM withdrawal request shall take no more than 2.0 seconds.</a:t>
            </a:r>
          </a:p>
          <a:p>
            <a:pPr marR="10000" lvl="3" algn="just"/>
            <a:r>
              <a:rPr lang="en-US" i="1" dirty="0">
                <a:latin typeface="+mj-lt"/>
              </a:rPr>
              <a:t>PER-2. The anti-lock braking system speed sensors shall report wheel speeds every 2 milliseconds with a variation not to exceed 0.1 millisecond.</a:t>
            </a:r>
          </a:p>
          <a:p>
            <a:pPr marR="10000" lvl="3" algn="just"/>
            <a:r>
              <a:rPr lang="en-US" i="1" dirty="0">
                <a:latin typeface="+mj-lt"/>
              </a:rPr>
              <a:t>PER-3. Webpages shall fully download in an average of 3 seconds or less over a 30 megabits/second Internet connection.</a:t>
            </a:r>
          </a:p>
          <a:p>
            <a:pPr marR="10000" lvl="3" algn="just"/>
            <a:r>
              <a:rPr lang="en-US" i="1" dirty="0">
                <a:latin typeface="+mj-lt"/>
              </a:rPr>
              <a:t>PER-4. At least 98 percent of the time, the trading system shall update the transaction status display within 1 second after the completion of each trade.</a:t>
            </a:r>
          </a:p>
        </p:txBody>
      </p:sp>
      <p:pic>
        <p:nvPicPr>
          <p:cNvPr id="10" name="Picture 9">
            <a:extLst>
              <a:ext uri="{FF2B5EF4-FFF2-40B4-BE49-F238E27FC236}">
                <a16:creationId xmlns:a16="http://schemas.microsoft.com/office/drawing/2014/main" id="{93B64164-F99A-DBBA-E482-F2E737812221}"/>
              </a:ext>
            </a:extLst>
          </p:cNvPr>
          <p:cNvPicPr>
            <a:picLocks noChangeAspect="1"/>
          </p:cNvPicPr>
          <p:nvPr/>
        </p:nvPicPr>
        <p:blipFill>
          <a:blip r:embed="rId3"/>
          <a:stretch>
            <a:fillRect/>
          </a:stretch>
        </p:blipFill>
        <p:spPr>
          <a:xfrm>
            <a:off x="559715" y="3565820"/>
            <a:ext cx="8210550" cy="3038475"/>
          </a:xfrm>
          <a:prstGeom prst="rect">
            <a:avLst/>
          </a:prstGeom>
        </p:spPr>
      </p:pic>
      <p:sp>
        <p:nvSpPr>
          <p:cNvPr id="11" name="TextBox 10">
            <a:extLst>
              <a:ext uri="{FF2B5EF4-FFF2-40B4-BE49-F238E27FC236}">
                <a16:creationId xmlns:a16="http://schemas.microsoft.com/office/drawing/2014/main" id="{988CB356-681F-84B3-2C5E-54A5178D6F58}"/>
              </a:ext>
            </a:extLst>
          </p:cNvPr>
          <p:cNvSpPr txBox="1"/>
          <p:nvPr/>
        </p:nvSpPr>
        <p:spPr>
          <a:xfrm>
            <a:off x="489973" y="3258043"/>
            <a:ext cx="4572000" cy="307777"/>
          </a:xfrm>
          <a:prstGeom prst="rect">
            <a:avLst/>
          </a:prstGeom>
          <a:noFill/>
        </p:spPr>
        <p:txBody>
          <a:bodyPr wrap="square">
            <a:spAutoFit/>
          </a:bodyPr>
          <a:lstStyle/>
          <a:p>
            <a:r>
              <a:rPr lang="en-US" sz="1400" b="1" dirty="0"/>
              <a:t>TABLE 14-2</a:t>
            </a:r>
            <a:r>
              <a:rPr lang="en-US" sz="1400" dirty="0"/>
              <a:t> Some aspects of performance</a:t>
            </a:r>
            <a:endParaRPr lang="vi-VN" sz="1400" dirty="0"/>
          </a:p>
        </p:txBody>
      </p:sp>
    </p:spTree>
    <p:extLst>
      <p:ext uri="{BB962C8B-B14F-4D97-AF65-F5344CB8AC3E}">
        <p14:creationId xmlns:p14="http://schemas.microsoft.com/office/powerpoint/2010/main" val="977584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 quality attributes</a:t>
            </a:r>
            <a:br>
              <a:rPr lang="en-US" dirty="0"/>
            </a:br>
            <a:r>
              <a:rPr lang="en-US" i="1" dirty="0"/>
              <a:t>Reliability</a:t>
            </a:r>
          </a:p>
        </p:txBody>
      </p:sp>
      <p:sp>
        <p:nvSpPr>
          <p:cNvPr id="3" name="Content Placeholder 2"/>
          <p:cNvSpPr>
            <a:spLocks noGrp="1"/>
          </p:cNvSpPr>
          <p:nvPr>
            <p:ph idx="1"/>
          </p:nvPr>
        </p:nvSpPr>
        <p:spPr/>
        <p:txBody>
          <a:bodyPr/>
          <a:lstStyle/>
          <a:p>
            <a:pPr marR="10000" algn="just"/>
            <a:r>
              <a:rPr lang="en-US" dirty="0">
                <a:latin typeface="+mj-lt"/>
              </a:rPr>
              <a:t>Reliability: The probability of the software executing without failure for a specific period of time is known as reliability. </a:t>
            </a:r>
          </a:p>
          <a:p>
            <a:pPr marR="10000" algn="just"/>
            <a:r>
              <a:rPr lang="en-US" dirty="0">
                <a:latin typeface="+mj-lt"/>
              </a:rPr>
              <a:t>Samples:</a:t>
            </a:r>
          </a:p>
          <a:p>
            <a:pPr marR="10000" lvl="2" algn="just"/>
            <a:r>
              <a:rPr lang="en-US" i="1" dirty="0">
                <a:latin typeface="+mj-lt"/>
              </a:rPr>
              <a:t>REL-1. No more than 5 experimental runs out of 1,000 can be lost because of software failures.</a:t>
            </a:r>
          </a:p>
          <a:p>
            <a:pPr marR="10000" lvl="2" algn="just"/>
            <a:r>
              <a:rPr lang="en-US" i="1" dirty="0">
                <a:latin typeface="+mj-lt"/>
              </a:rPr>
              <a:t>REL-2. The mean time between failures of the card reader component shall be at least 90 days.</a:t>
            </a:r>
          </a:p>
          <a:p>
            <a:pPr marR="10000" algn="just"/>
            <a:r>
              <a:rPr lang="en-US" dirty="0">
                <a:latin typeface="+mj-lt"/>
              </a:rPr>
              <a:t>Following are some questions to ask user representatives when you’re eliciting reliability requirements:</a:t>
            </a:r>
          </a:p>
          <a:p>
            <a:pPr marL="274320" marR="10000" lvl="1" indent="0" algn="just">
              <a:buNone/>
            </a:pPr>
            <a:r>
              <a:rPr lang="en-US" dirty="0">
                <a:latin typeface="+mj-lt"/>
              </a:rPr>
              <a:t>■ How would you judge whether this system was reliable enough?</a:t>
            </a:r>
          </a:p>
          <a:p>
            <a:pPr marL="274320" marR="10000" lvl="1" indent="0" algn="just">
              <a:buNone/>
            </a:pPr>
            <a:r>
              <a:rPr lang="en-US" dirty="0">
                <a:latin typeface="+mj-lt"/>
              </a:rPr>
              <a:t>■ What would be the consequences of experiencing a failure when performing certain operations with the system?</a:t>
            </a:r>
          </a:p>
          <a:p>
            <a:pPr marL="274320" marR="10000" lvl="1" indent="0" algn="just">
              <a:buNone/>
            </a:pPr>
            <a:r>
              <a:rPr lang="en-US" dirty="0">
                <a:latin typeface="+mj-lt"/>
              </a:rPr>
              <a:t>■ What would you consider to be a critical failure, as opposed to a nuisance?</a:t>
            </a:r>
          </a:p>
          <a:p>
            <a:pPr marL="274320" marR="10000" lvl="1" indent="0" algn="just">
              <a:buNone/>
            </a:pPr>
            <a:r>
              <a:rPr lang="en-US" dirty="0">
                <a:latin typeface="+mj-lt"/>
              </a:rPr>
              <a:t>■ Under what conditions could a failure have severe repercussions on your business operations?</a:t>
            </a:r>
          </a:p>
          <a:p>
            <a:pPr marR="10000" algn="just"/>
            <a:endParaRPr lang="en-US" dirty="0">
              <a:latin typeface="+mj-lt"/>
            </a:endParaRPr>
          </a:p>
        </p:txBody>
      </p:sp>
    </p:spTree>
    <p:extLst>
      <p:ext uri="{BB962C8B-B14F-4D97-AF65-F5344CB8AC3E}">
        <p14:creationId xmlns:p14="http://schemas.microsoft.com/office/powerpoint/2010/main" val="40299832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 quality attributes</a:t>
            </a:r>
            <a:br>
              <a:rPr lang="en-US" dirty="0"/>
            </a:br>
            <a:r>
              <a:rPr lang="en-US" i="1" dirty="0"/>
              <a:t>Robustness</a:t>
            </a:r>
          </a:p>
        </p:txBody>
      </p:sp>
      <p:sp>
        <p:nvSpPr>
          <p:cNvPr id="4" name="Content Placeholder 3">
            <a:extLst>
              <a:ext uri="{FF2B5EF4-FFF2-40B4-BE49-F238E27FC236}">
                <a16:creationId xmlns:a16="http://schemas.microsoft.com/office/drawing/2014/main" id="{9DD971D5-334C-EA3E-A3F9-28920CD91719}"/>
              </a:ext>
            </a:extLst>
          </p:cNvPr>
          <p:cNvSpPr>
            <a:spLocks noGrp="1"/>
          </p:cNvSpPr>
          <p:nvPr>
            <p:ph idx="1"/>
          </p:nvPr>
        </p:nvSpPr>
        <p:spPr/>
        <p:txBody>
          <a:bodyPr/>
          <a:lstStyle/>
          <a:p>
            <a:r>
              <a:rPr lang="en-US" dirty="0"/>
              <a:t>Robustness is the degree to which a system continues to function properly when confronted with invalid inputs, defects in connected software or hardware components, external attack, or unexpected operating conditions. </a:t>
            </a:r>
          </a:p>
          <a:p>
            <a:r>
              <a:rPr lang="en-US" dirty="0"/>
              <a:t>Samples:</a:t>
            </a:r>
          </a:p>
          <a:p>
            <a:pPr lvl="2"/>
            <a:r>
              <a:rPr lang="en-US" i="1" dirty="0"/>
              <a:t>ROB-1. If the text editor fails before the user saves the file, it shall recover the contents of the file being edited as of, at most, one minute prior to the failure the next time the same user launches the application.</a:t>
            </a:r>
          </a:p>
          <a:p>
            <a:pPr lvl="2"/>
            <a:r>
              <a:rPr lang="en-US" i="1" dirty="0"/>
              <a:t>ROB-2. All plot description parameters shall have default values specified, which the Graphics Engine shall use if a parameter’s input data is missing or invalid.</a:t>
            </a:r>
          </a:p>
          <a:p>
            <a:pPr lvl="1"/>
            <a:endParaRPr lang="en-US" i="1" dirty="0"/>
          </a:p>
        </p:txBody>
      </p:sp>
    </p:spTree>
    <p:extLst>
      <p:ext uri="{BB962C8B-B14F-4D97-AF65-F5344CB8AC3E}">
        <p14:creationId xmlns:p14="http://schemas.microsoft.com/office/powerpoint/2010/main" val="16630672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 quality attributes</a:t>
            </a:r>
            <a:br>
              <a:rPr lang="en-US" dirty="0"/>
            </a:br>
            <a:r>
              <a:rPr lang="en-US" i="1" dirty="0"/>
              <a:t>Safety</a:t>
            </a:r>
          </a:p>
        </p:txBody>
      </p:sp>
      <p:sp>
        <p:nvSpPr>
          <p:cNvPr id="4" name="Content Placeholder 3">
            <a:extLst>
              <a:ext uri="{FF2B5EF4-FFF2-40B4-BE49-F238E27FC236}">
                <a16:creationId xmlns:a16="http://schemas.microsoft.com/office/drawing/2014/main" id="{D25424A3-000D-7127-FF7B-034AA3D7E9C1}"/>
              </a:ext>
            </a:extLst>
          </p:cNvPr>
          <p:cNvSpPr>
            <a:spLocks noGrp="1"/>
          </p:cNvSpPr>
          <p:nvPr>
            <p:ph idx="1"/>
          </p:nvPr>
        </p:nvSpPr>
        <p:spPr/>
        <p:txBody>
          <a:bodyPr/>
          <a:lstStyle/>
          <a:p>
            <a:r>
              <a:rPr lang="en-US" dirty="0"/>
              <a:t>Safety requirements deal with the need to prevent a system from doing any injury to people or damage to property. </a:t>
            </a:r>
          </a:p>
          <a:p>
            <a:r>
              <a:rPr lang="en-US" dirty="0"/>
              <a:t>Samples:</a:t>
            </a:r>
          </a:p>
          <a:p>
            <a:pPr lvl="3"/>
            <a:r>
              <a:rPr lang="en-US" dirty="0"/>
              <a:t>SAF-1. The user shall be able to see a list of all ingredients in any menu items, with ingredients highlighted that are known to cause allergic reactions in more than 0.5 percent of the North American population.</a:t>
            </a:r>
          </a:p>
          <a:p>
            <a:pPr lvl="3"/>
            <a:r>
              <a:rPr lang="en-US" dirty="0"/>
              <a:t>SAF-2. If the reactor vessel’s temperature is rising faster than 5°C per minute, the Chemical Reactor Control System shall turn off the heat source and signal a warning to the operator.</a:t>
            </a:r>
          </a:p>
          <a:p>
            <a:pPr lvl="3"/>
            <a:r>
              <a:rPr lang="en-US" dirty="0"/>
              <a:t>SAF-3. The therapeutic radiation machine shall allow irradiation only if the proper filter is in place.</a:t>
            </a:r>
          </a:p>
          <a:p>
            <a:pPr lvl="3"/>
            <a:r>
              <a:rPr lang="en-US" dirty="0"/>
              <a:t>SAF-4. The system shall terminate any operation within 1 second if the measured tank pressure exceeds 90 percent of the specified maximum pressure.</a:t>
            </a:r>
          </a:p>
        </p:txBody>
      </p:sp>
    </p:spTree>
    <p:extLst>
      <p:ext uri="{BB962C8B-B14F-4D97-AF65-F5344CB8AC3E}">
        <p14:creationId xmlns:p14="http://schemas.microsoft.com/office/powerpoint/2010/main" val="2781423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 quality attributes</a:t>
            </a:r>
            <a:br>
              <a:rPr lang="en-US" dirty="0"/>
            </a:br>
            <a:r>
              <a:rPr lang="en-US" i="1" dirty="0"/>
              <a:t>Security</a:t>
            </a:r>
          </a:p>
        </p:txBody>
      </p:sp>
      <p:sp>
        <p:nvSpPr>
          <p:cNvPr id="4" name="Content Placeholder 3">
            <a:extLst>
              <a:ext uri="{FF2B5EF4-FFF2-40B4-BE49-F238E27FC236}">
                <a16:creationId xmlns:a16="http://schemas.microsoft.com/office/drawing/2014/main" id="{9D2A09D4-7B64-2AE9-9B94-B36A152CFA49}"/>
              </a:ext>
            </a:extLst>
          </p:cNvPr>
          <p:cNvSpPr>
            <a:spLocks noGrp="1"/>
          </p:cNvSpPr>
          <p:nvPr>
            <p:ph idx="1"/>
          </p:nvPr>
        </p:nvSpPr>
        <p:spPr/>
        <p:txBody>
          <a:bodyPr/>
          <a:lstStyle/>
          <a:p>
            <a:r>
              <a:rPr lang="en-US" dirty="0"/>
              <a:t>Security deals with blocking unauthorized access to system functions or data, ensuring that the software is protected from malware attacks, and so on. </a:t>
            </a:r>
          </a:p>
          <a:p>
            <a:r>
              <a:rPr lang="en-US" dirty="0"/>
              <a:t>Following are some considerations to examine when eliciting security requirements:</a:t>
            </a:r>
          </a:p>
          <a:p>
            <a:pPr lvl="1"/>
            <a:r>
              <a:rPr lang="en-US" dirty="0"/>
              <a:t>User authorization or privilege levels (ordinary user, guest user, administrator) and user access controls</a:t>
            </a:r>
          </a:p>
          <a:p>
            <a:pPr lvl="1"/>
            <a:r>
              <a:rPr lang="en-US" dirty="0"/>
              <a:t>User identification and authentication (password construction rules, password change frequency, security questions, forgotten logon name or password procedures, biometric identification, account locking after unsuccessful access attempts, unrecognized computer)</a:t>
            </a:r>
          </a:p>
          <a:p>
            <a:pPr lvl="1"/>
            <a:r>
              <a:rPr lang="en-US" dirty="0"/>
              <a:t>Data privacy (who can create, see, change, copy, print, and delete what information)</a:t>
            </a:r>
          </a:p>
          <a:p>
            <a:pPr lvl="1"/>
            <a:r>
              <a:rPr lang="en-US" dirty="0"/>
              <a:t>Deliberate data destruction, corruption, or theft</a:t>
            </a:r>
          </a:p>
          <a:p>
            <a:pPr lvl="1"/>
            <a:r>
              <a:rPr lang="en-US" dirty="0"/>
              <a:t>Protection against viruses, worms, Trojan horses, spyware, rootkits, and other malware</a:t>
            </a:r>
          </a:p>
          <a:p>
            <a:pPr lvl="1"/>
            <a:r>
              <a:rPr lang="en-US" dirty="0"/>
              <a:t>Firewall and other network security issues</a:t>
            </a:r>
          </a:p>
          <a:p>
            <a:pPr lvl="1"/>
            <a:r>
              <a:rPr lang="en-US" dirty="0"/>
              <a:t>Encryption of secure data</a:t>
            </a:r>
          </a:p>
          <a:p>
            <a:pPr lvl="1"/>
            <a:r>
              <a:rPr lang="en-US" dirty="0"/>
              <a:t>Building audit trails of operations performed and access attempts.</a:t>
            </a:r>
          </a:p>
        </p:txBody>
      </p:sp>
    </p:spTree>
    <p:extLst>
      <p:ext uri="{BB962C8B-B14F-4D97-AF65-F5344CB8AC3E}">
        <p14:creationId xmlns:p14="http://schemas.microsoft.com/office/powerpoint/2010/main" val="27062679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Security (cont.)</a:t>
            </a:r>
          </a:p>
        </p:txBody>
      </p:sp>
      <p:sp>
        <p:nvSpPr>
          <p:cNvPr id="4" name="Content Placeholder 3">
            <a:extLst>
              <a:ext uri="{FF2B5EF4-FFF2-40B4-BE49-F238E27FC236}">
                <a16:creationId xmlns:a16="http://schemas.microsoft.com/office/drawing/2014/main" id="{8E37AA29-211F-4C52-ADBA-9C9B12A10C3F}"/>
              </a:ext>
            </a:extLst>
          </p:cNvPr>
          <p:cNvSpPr>
            <a:spLocks noGrp="1"/>
          </p:cNvSpPr>
          <p:nvPr>
            <p:ph idx="1"/>
          </p:nvPr>
        </p:nvSpPr>
        <p:spPr/>
        <p:txBody>
          <a:bodyPr/>
          <a:lstStyle/>
          <a:p>
            <a:r>
              <a:rPr lang="en-US" dirty="0"/>
              <a:t>Samples:</a:t>
            </a:r>
          </a:p>
          <a:p>
            <a:pPr lvl="2"/>
            <a:r>
              <a:rPr lang="en-US" i="1" dirty="0"/>
              <a:t>SEC-1. The system shall lock a user’s account after four consecutive unsuccessful logon attempts within a period of five minutes.</a:t>
            </a:r>
          </a:p>
          <a:p>
            <a:pPr lvl="2"/>
            <a:r>
              <a:rPr lang="en-US" i="1" dirty="0"/>
              <a:t>SEC-2. The system shall log all attempts to access secure data by users having insufficient privilege levels.</a:t>
            </a:r>
          </a:p>
          <a:p>
            <a:pPr lvl="2"/>
            <a:r>
              <a:rPr lang="en-US" i="1" dirty="0"/>
              <a:t>SEC-3. A user shall have to change the temporary password assigned by the security officer to a previously unused password immediately following the first successful logon with the temporary password.</a:t>
            </a:r>
          </a:p>
          <a:p>
            <a:pPr lvl="2"/>
            <a:r>
              <a:rPr lang="en-US" i="1" dirty="0"/>
              <a:t>SEC-4. A door unlock that results from a successful security badge read shall keep the door unlocked for 8.0 seconds, with a tolerance of 0.5 second.</a:t>
            </a:r>
          </a:p>
          <a:p>
            <a:pPr lvl="2"/>
            <a:r>
              <a:rPr lang="en-US" i="1" dirty="0"/>
              <a:t>SEC-5. The resident antimalware software shall quarantine any incoming Internet traffic that exhibits characteristics of known or suspected virus signatures.</a:t>
            </a:r>
          </a:p>
          <a:p>
            <a:pPr lvl="2"/>
            <a:r>
              <a:rPr lang="en-US" i="1" dirty="0"/>
              <a:t>SEC-6. The magnetometer shall detect at least 99.9 percent of prohibited objects, with a false positive rate not to exceed 1 percent.</a:t>
            </a:r>
          </a:p>
          <a:p>
            <a:pPr lvl="2"/>
            <a:r>
              <a:rPr lang="en-US" i="1" dirty="0"/>
              <a:t>SEC-7. Only users who have Auditor access privileges shall be able to view customer transaction histories.</a:t>
            </a:r>
          </a:p>
        </p:txBody>
      </p:sp>
    </p:spTree>
    <p:extLst>
      <p:ext uri="{BB962C8B-B14F-4D97-AF65-F5344CB8AC3E}">
        <p14:creationId xmlns:p14="http://schemas.microsoft.com/office/powerpoint/2010/main" val="2273362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 quality attributes</a:t>
            </a:r>
            <a:br>
              <a:rPr lang="en-US" dirty="0"/>
            </a:br>
            <a:r>
              <a:rPr lang="en-US" i="1" dirty="0"/>
              <a:t>Usability</a:t>
            </a:r>
          </a:p>
        </p:txBody>
      </p:sp>
      <p:sp>
        <p:nvSpPr>
          <p:cNvPr id="5" name="Content Placeholder 4">
            <a:extLst>
              <a:ext uri="{FF2B5EF4-FFF2-40B4-BE49-F238E27FC236}">
                <a16:creationId xmlns:a16="http://schemas.microsoft.com/office/drawing/2014/main" id="{6396CDB3-3DD3-96F5-81D4-73F07579D84E}"/>
              </a:ext>
            </a:extLst>
          </p:cNvPr>
          <p:cNvSpPr>
            <a:spLocks noGrp="1"/>
          </p:cNvSpPr>
          <p:nvPr>
            <p:ph idx="1"/>
          </p:nvPr>
        </p:nvSpPr>
        <p:spPr>
          <a:xfrm>
            <a:off x="304800" y="1090992"/>
            <a:ext cx="8590625" cy="2737089"/>
          </a:xfrm>
        </p:spPr>
        <p:txBody>
          <a:bodyPr/>
          <a:lstStyle/>
          <a:p>
            <a:r>
              <a:rPr lang="en-US" dirty="0"/>
              <a:t>Usability addresses the myriad factors that constitute what people describe colloquially as user-friendliness, ease of use, and human engineering. Samples:</a:t>
            </a:r>
          </a:p>
          <a:p>
            <a:pPr lvl="3"/>
            <a:r>
              <a:rPr lang="en-US" i="1" dirty="0"/>
              <a:t>USE-1. A trained user shall be able to submit a request for a chemical from a vendor catalog in an average of three minutes, and in a maximum of five minutes, 95 percent of the time.</a:t>
            </a:r>
          </a:p>
          <a:p>
            <a:pPr lvl="3"/>
            <a:r>
              <a:rPr lang="en-US" i="1" dirty="0"/>
              <a:t>USE-2. All functions on the File menu shall have shortcut keys defined that use the Control key pressed simultaneously with one other key. Menu commands that also appear in Microsoft Word shall use the same default shortcut keys that Word uses.</a:t>
            </a:r>
          </a:p>
          <a:p>
            <a:pPr lvl="3"/>
            <a:r>
              <a:rPr lang="en-US" i="1" dirty="0"/>
              <a:t>USE-3. 95 percent of chemists who have never used the Chemical Tracking System before shall be able to place a request for a chemical correctly with no more than 15 minutes of orientation.</a:t>
            </a:r>
          </a:p>
          <a:p>
            <a:endParaRPr lang="en-US" dirty="0"/>
          </a:p>
        </p:txBody>
      </p:sp>
      <p:grpSp>
        <p:nvGrpSpPr>
          <p:cNvPr id="12" name="Group 11">
            <a:extLst>
              <a:ext uri="{FF2B5EF4-FFF2-40B4-BE49-F238E27FC236}">
                <a16:creationId xmlns:a16="http://schemas.microsoft.com/office/drawing/2014/main" id="{B593313C-3DEA-93AE-A451-5E11DA114182}"/>
              </a:ext>
            </a:extLst>
          </p:cNvPr>
          <p:cNvGrpSpPr/>
          <p:nvPr/>
        </p:nvGrpSpPr>
        <p:grpSpPr>
          <a:xfrm>
            <a:off x="981559" y="3766334"/>
            <a:ext cx="7291952" cy="3081167"/>
            <a:chOff x="1547248" y="3686113"/>
            <a:chExt cx="7291952" cy="3081167"/>
          </a:xfrm>
        </p:grpSpPr>
        <p:pic>
          <p:nvPicPr>
            <p:cNvPr id="9" name="Picture 8">
              <a:extLst>
                <a:ext uri="{FF2B5EF4-FFF2-40B4-BE49-F238E27FC236}">
                  <a16:creationId xmlns:a16="http://schemas.microsoft.com/office/drawing/2014/main" id="{C17E4E3F-9B3A-5DDA-3229-44035612431C}"/>
                </a:ext>
              </a:extLst>
            </p:cNvPr>
            <p:cNvPicPr>
              <a:picLocks noChangeAspect="1"/>
            </p:cNvPicPr>
            <p:nvPr/>
          </p:nvPicPr>
          <p:blipFill>
            <a:blip r:embed="rId3"/>
            <a:stretch>
              <a:fillRect/>
            </a:stretch>
          </p:blipFill>
          <p:spPr>
            <a:xfrm>
              <a:off x="4869349" y="3686113"/>
              <a:ext cx="3969851" cy="3063157"/>
            </a:xfrm>
            <a:prstGeom prst="rect">
              <a:avLst/>
            </a:prstGeom>
          </p:spPr>
        </p:pic>
        <p:pic>
          <p:nvPicPr>
            <p:cNvPr id="11" name="Picture 10">
              <a:extLst>
                <a:ext uri="{FF2B5EF4-FFF2-40B4-BE49-F238E27FC236}">
                  <a16:creationId xmlns:a16="http://schemas.microsoft.com/office/drawing/2014/main" id="{53BA09DE-36FC-35FD-BFD7-0B69024F59B4}"/>
                </a:ext>
              </a:extLst>
            </p:cNvPr>
            <p:cNvPicPr>
              <a:picLocks noChangeAspect="1"/>
            </p:cNvPicPr>
            <p:nvPr/>
          </p:nvPicPr>
          <p:blipFill>
            <a:blip r:embed="rId4"/>
            <a:stretch>
              <a:fillRect/>
            </a:stretch>
          </p:blipFill>
          <p:spPr>
            <a:xfrm>
              <a:off x="1547248" y="4310395"/>
              <a:ext cx="3322101" cy="2456885"/>
            </a:xfrm>
            <a:prstGeom prst="rect">
              <a:avLst/>
            </a:prstGeom>
          </p:spPr>
        </p:pic>
      </p:grpSp>
      <p:sp>
        <p:nvSpPr>
          <p:cNvPr id="14" name="TextBox 13">
            <a:extLst>
              <a:ext uri="{FF2B5EF4-FFF2-40B4-BE49-F238E27FC236}">
                <a16:creationId xmlns:a16="http://schemas.microsoft.com/office/drawing/2014/main" id="{B5807A4A-24FB-9C75-0291-49AD3DFDBB5A}"/>
              </a:ext>
            </a:extLst>
          </p:cNvPr>
          <p:cNvSpPr txBox="1"/>
          <p:nvPr/>
        </p:nvSpPr>
        <p:spPr>
          <a:xfrm>
            <a:off x="981559" y="3794924"/>
            <a:ext cx="3264329" cy="523220"/>
          </a:xfrm>
          <a:prstGeom prst="rect">
            <a:avLst/>
          </a:prstGeom>
          <a:noFill/>
        </p:spPr>
        <p:txBody>
          <a:bodyPr wrap="square">
            <a:spAutoFit/>
          </a:bodyPr>
          <a:lstStyle/>
          <a:p>
            <a:r>
              <a:rPr lang="en-US" sz="1400" b="1" dirty="0"/>
              <a:t>TABLE 14-3 </a:t>
            </a:r>
            <a:r>
              <a:rPr lang="en-US" sz="1400" dirty="0"/>
              <a:t>Possible design approaches for ease of learning and ease of use</a:t>
            </a:r>
            <a:endParaRPr lang="vi-VN" sz="1400" dirty="0"/>
          </a:p>
        </p:txBody>
      </p:sp>
    </p:spTree>
    <p:extLst>
      <p:ext uri="{BB962C8B-B14F-4D97-AF65-F5344CB8AC3E}">
        <p14:creationId xmlns:p14="http://schemas.microsoft.com/office/powerpoint/2010/main" val="19027851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Internal quality attributes</a:t>
            </a:r>
            <a:br>
              <a:rPr lang="en-US" dirty="0"/>
            </a:br>
            <a:r>
              <a:rPr lang="en-US" i="1" dirty="0"/>
              <a:t>Efficiency</a:t>
            </a:r>
          </a:p>
        </p:txBody>
      </p:sp>
      <p:sp>
        <p:nvSpPr>
          <p:cNvPr id="4" name="Content Placeholder 3">
            <a:extLst>
              <a:ext uri="{FF2B5EF4-FFF2-40B4-BE49-F238E27FC236}">
                <a16:creationId xmlns:a16="http://schemas.microsoft.com/office/drawing/2014/main" id="{13284FA1-C37C-51F1-A7A7-1BEEEC4D6DF7}"/>
              </a:ext>
            </a:extLst>
          </p:cNvPr>
          <p:cNvSpPr>
            <a:spLocks noGrp="1"/>
          </p:cNvSpPr>
          <p:nvPr>
            <p:ph idx="1"/>
          </p:nvPr>
        </p:nvSpPr>
        <p:spPr>
          <a:xfrm>
            <a:off x="304800" y="1090992"/>
            <a:ext cx="8590625" cy="2698344"/>
          </a:xfrm>
        </p:spPr>
        <p:txBody>
          <a:bodyPr/>
          <a:lstStyle/>
          <a:p>
            <a:r>
              <a:rPr lang="en-US" dirty="0"/>
              <a:t>Efficiency is closely related to the external quality attribute of performance. Efficiency is a measure of how well the system utilizes processor capacity, disk space, memory, or communication bandwidth. </a:t>
            </a:r>
          </a:p>
          <a:p>
            <a:r>
              <a:rPr lang="en-US" dirty="0"/>
              <a:t>Samples:</a:t>
            </a:r>
          </a:p>
          <a:p>
            <a:pPr lvl="2"/>
            <a:r>
              <a:rPr lang="en-US" i="1" dirty="0"/>
              <a:t>EFF-1. At least 30 percent of the processor capacity and memory available to the application shall be unused at the planned peak load conditions.</a:t>
            </a:r>
          </a:p>
          <a:p>
            <a:pPr lvl="2"/>
            <a:r>
              <a:rPr lang="en-US" i="1" dirty="0"/>
              <a:t>EFF-2. The system shall provide the operator with a warning message when the usage load exceeds 80 percent of the maximum planned capacity.</a:t>
            </a:r>
          </a:p>
        </p:txBody>
      </p:sp>
    </p:spTree>
    <p:extLst>
      <p:ext uri="{BB962C8B-B14F-4D97-AF65-F5344CB8AC3E}">
        <p14:creationId xmlns:p14="http://schemas.microsoft.com/office/powerpoint/2010/main" val="8415065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Internal quality attributes</a:t>
            </a:r>
            <a:br>
              <a:rPr lang="en-US" dirty="0"/>
            </a:br>
            <a:r>
              <a:rPr lang="en-US" i="1" dirty="0"/>
              <a:t>Modifiability</a:t>
            </a:r>
          </a:p>
        </p:txBody>
      </p:sp>
      <p:sp>
        <p:nvSpPr>
          <p:cNvPr id="5" name="Content Placeholder 4">
            <a:extLst>
              <a:ext uri="{FF2B5EF4-FFF2-40B4-BE49-F238E27FC236}">
                <a16:creationId xmlns:a16="http://schemas.microsoft.com/office/drawing/2014/main" id="{3B364C88-DD93-77BD-E4BD-67AFA7D1C539}"/>
              </a:ext>
            </a:extLst>
          </p:cNvPr>
          <p:cNvSpPr>
            <a:spLocks noGrp="1"/>
          </p:cNvSpPr>
          <p:nvPr>
            <p:ph idx="1"/>
          </p:nvPr>
        </p:nvSpPr>
        <p:spPr>
          <a:xfrm>
            <a:off x="304800" y="1090992"/>
            <a:ext cx="8590625" cy="2403876"/>
          </a:xfrm>
        </p:spPr>
        <p:txBody>
          <a:bodyPr/>
          <a:lstStyle/>
          <a:p>
            <a:r>
              <a:rPr lang="en-US" dirty="0"/>
              <a:t>Modifiability addresses how easily the software designs and code can be understood, changed, and extended. Samples:</a:t>
            </a:r>
          </a:p>
          <a:p>
            <a:pPr lvl="3"/>
            <a:r>
              <a:rPr lang="en-US" i="1" dirty="0"/>
              <a:t>MOD-1. A maintenance programmer experienced with the system shall be able to modify existing reports to conform to revised chemical-reporting regulations from the federal government with 10 hours or less of development effort.</a:t>
            </a:r>
          </a:p>
          <a:p>
            <a:pPr lvl="3"/>
            <a:r>
              <a:rPr lang="en-US" i="1" dirty="0"/>
              <a:t>MOD-2. Function calls shall not be nested more than two levels deep</a:t>
            </a:r>
          </a:p>
          <a:p>
            <a:pPr lvl="3"/>
            <a:r>
              <a:rPr lang="en-US" i="1" dirty="0"/>
              <a:t>SUP-1. A certified repair technician shall be able to replace the scanner module in no more than 10 minutes.</a:t>
            </a:r>
          </a:p>
          <a:p>
            <a:pPr lvl="3"/>
            <a:r>
              <a:rPr lang="en-US" i="1" dirty="0"/>
              <a:t>SUP-2. The printer shall display an error message if replacement ink cartridges were not inserted in the proper slots.</a:t>
            </a:r>
          </a:p>
          <a:p>
            <a:endParaRPr lang="en-US" dirty="0"/>
          </a:p>
        </p:txBody>
      </p:sp>
      <p:pic>
        <p:nvPicPr>
          <p:cNvPr id="7" name="Picture 6">
            <a:extLst>
              <a:ext uri="{FF2B5EF4-FFF2-40B4-BE49-F238E27FC236}">
                <a16:creationId xmlns:a16="http://schemas.microsoft.com/office/drawing/2014/main" id="{05C2551D-EC47-BF5D-6107-E60041341838}"/>
              </a:ext>
            </a:extLst>
          </p:cNvPr>
          <p:cNvPicPr>
            <a:picLocks noChangeAspect="1"/>
          </p:cNvPicPr>
          <p:nvPr/>
        </p:nvPicPr>
        <p:blipFill>
          <a:blip r:embed="rId3"/>
          <a:stretch>
            <a:fillRect/>
          </a:stretch>
        </p:blipFill>
        <p:spPr>
          <a:xfrm>
            <a:off x="147174" y="4055747"/>
            <a:ext cx="8905875" cy="2466975"/>
          </a:xfrm>
          <a:prstGeom prst="rect">
            <a:avLst/>
          </a:prstGeom>
        </p:spPr>
      </p:pic>
      <p:sp>
        <p:nvSpPr>
          <p:cNvPr id="9" name="TextBox 8">
            <a:extLst>
              <a:ext uri="{FF2B5EF4-FFF2-40B4-BE49-F238E27FC236}">
                <a16:creationId xmlns:a16="http://schemas.microsoft.com/office/drawing/2014/main" id="{A93AD26E-443D-415B-03E6-7652FF1E5C32}"/>
              </a:ext>
            </a:extLst>
          </p:cNvPr>
          <p:cNvSpPr txBox="1"/>
          <p:nvPr/>
        </p:nvSpPr>
        <p:spPr>
          <a:xfrm>
            <a:off x="82355" y="3747970"/>
            <a:ext cx="4572000" cy="307777"/>
          </a:xfrm>
          <a:prstGeom prst="rect">
            <a:avLst/>
          </a:prstGeom>
          <a:noFill/>
        </p:spPr>
        <p:txBody>
          <a:bodyPr wrap="square">
            <a:spAutoFit/>
          </a:bodyPr>
          <a:lstStyle/>
          <a:p>
            <a:r>
              <a:rPr lang="en-US" sz="1400" b="1" dirty="0"/>
              <a:t>TABLE 14-4 </a:t>
            </a:r>
            <a:r>
              <a:rPr lang="en-US" sz="1400" dirty="0"/>
              <a:t>Some aspects of modifiability</a:t>
            </a:r>
            <a:endParaRPr lang="vi-VN" sz="1400" dirty="0"/>
          </a:p>
        </p:txBody>
      </p:sp>
    </p:spTree>
    <p:extLst>
      <p:ext uri="{BB962C8B-B14F-4D97-AF65-F5344CB8AC3E}">
        <p14:creationId xmlns:p14="http://schemas.microsoft.com/office/powerpoint/2010/main" val="1050872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Internal quality attributes </a:t>
            </a:r>
            <a:br>
              <a:rPr lang="en-US" dirty="0"/>
            </a:br>
            <a:r>
              <a:rPr lang="en-US" i="1" dirty="0"/>
              <a:t>Portability</a:t>
            </a:r>
          </a:p>
        </p:txBody>
      </p:sp>
      <p:sp>
        <p:nvSpPr>
          <p:cNvPr id="4" name="Content Placeholder 3">
            <a:extLst>
              <a:ext uri="{FF2B5EF4-FFF2-40B4-BE49-F238E27FC236}">
                <a16:creationId xmlns:a16="http://schemas.microsoft.com/office/drawing/2014/main" id="{2D907256-87FB-CC9E-C8E7-5178747B8C67}"/>
              </a:ext>
            </a:extLst>
          </p:cNvPr>
          <p:cNvSpPr>
            <a:spLocks noGrp="1"/>
          </p:cNvSpPr>
          <p:nvPr>
            <p:ph idx="1"/>
          </p:nvPr>
        </p:nvSpPr>
        <p:spPr/>
        <p:txBody>
          <a:bodyPr/>
          <a:lstStyle/>
          <a:p>
            <a:r>
              <a:rPr lang="en-US" dirty="0"/>
              <a:t>Portability: The effort needed to migrate software from one operating environment to another is a measure of portability.</a:t>
            </a:r>
          </a:p>
          <a:p>
            <a:r>
              <a:rPr lang="en-US" dirty="0"/>
              <a:t>Samples: </a:t>
            </a:r>
          </a:p>
          <a:p>
            <a:pPr lvl="2"/>
            <a:r>
              <a:rPr lang="en-US" i="1" dirty="0"/>
              <a:t>POR-1. Modifying the iOS version of the application to run on Android devices shall require changing no more than 10 percent of the source code.</a:t>
            </a:r>
          </a:p>
          <a:p>
            <a:pPr lvl="2"/>
            <a:r>
              <a:rPr lang="en-US" i="1" dirty="0"/>
              <a:t>POR-2. The user shall be able to port browser bookmarks to and from Firefox, Internet Explorer, Opera, Chrome, and Safari.</a:t>
            </a:r>
          </a:p>
          <a:p>
            <a:pPr lvl="2"/>
            <a:r>
              <a:rPr lang="en-US" i="1" dirty="0"/>
              <a:t>POR-3. The platform migration tool shall transfer customized user profiles to the new installation with no user action needed.</a:t>
            </a:r>
          </a:p>
          <a:p>
            <a:r>
              <a:rPr lang="en-US" dirty="0"/>
              <a:t>When you are exploring portability, questions like the following might be helpful:</a:t>
            </a:r>
          </a:p>
          <a:p>
            <a:pPr lvl="2"/>
            <a:r>
              <a:rPr lang="en-US" dirty="0"/>
              <a:t>What different platforms will this software need to run on, both now and in the future?</a:t>
            </a:r>
          </a:p>
          <a:p>
            <a:pPr lvl="2"/>
            <a:r>
              <a:rPr lang="en-US" dirty="0"/>
              <a:t>What portions of the product need to be designed for greater portability than other portions?</a:t>
            </a:r>
          </a:p>
          <a:p>
            <a:pPr lvl="2"/>
            <a:r>
              <a:rPr lang="en-US" dirty="0"/>
              <a:t>What data files, program components, or other elements of the system need to be portable?</a:t>
            </a:r>
          </a:p>
          <a:p>
            <a:pPr lvl="2"/>
            <a:r>
              <a:rPr lang="en-US" dirty="0"/>
              <a:t>By making the software more portable, what other quality attributes might be compromised?</a:t>
            </a:r>
          </a:p>
        </p:txBody>
      </p:sp>
    </p:spTree>
    <p:extLst>
      <p:ext uri="{BB962C8B-B14F-4D97-AF65-F5344CB8AC3E}">
        <p14:creationId xmlns:p14="http://schemas.microsoft.com/office/powerpoint/2010/main" val="37488943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Internal quality attributes</a:t>
            </a:r>
            <a:br>
              <a:rPr lang="en-US" dirty="0"/>
            </a:br>
            <a:r>
              <a:rPr lang="en-US" i="1" dirty="0"/>
              <a:t>Reusability</a:t>
            </a:r>
          </a:p>
        </p:txBody>
      </p:sp>
      <p:sp>
        <p:nvSpPr>
          <p:cNvPr id="4" name="Content Placeholder 3">
            <a:extLst>
              <a:ext uri="{FF2B5EF4-FFF2-40B4-BE49-F238E27FC236}">
                <a16:creationId xmlns:a16="http://schemas.microsoft.com/office/drawing/2014/main" id="{2AE3E8AA-11DE-AC38-2B66-E5C2A2F69289}"/>
              </a:ext>
            </a:extLst>
          </p:cNvPr>
          <p:cNvSpPr>
            <a:spLocks noGrp="1"/>
          </p:cNvSpPr>
          <p:nvPr>
            <p:ph idx="1"/>
          </p:nvPr>
        </p:nvSpPr>
        <p:spPr/>
        <p:txBody>
          <a:bodyPr/>
          <a:lstStyle/>
          <a:p>
            <a:r>
              <a:rPr lang="en-US" dirty="0"/>
              <a:t>Reusability indicates the relative effort required to convert a software component for use in other applications. Reusable software must be modular, well documented, independent of a specific application and operating environment, and somewhat generic in capability. </a:t>
            </a:r>
          </a:p>
          <a:p>
            <a:r>
              <a:rPr lang="en-US" dirty="0"/>
              <a:t>Samples:</a:t>
            </a:r>
          </a:p>
          <a:p>
            <a:pPr lvl="3"/>
            <a:r>
              <a:rPr lang="en-US" i="1" dirty="0"/>
              <a:t>REU-1. The chemical structure input functions shall be reusable at the object code level in other applications.</a:t>
            </a:r>
          </a:p>
          <a:p>
            <a:pPr lvl="3"/>
            <a:r>
              <a:rPr lang="en-US" i="1" dirty="0"/>
              <a:t>REU-2. At least 30 percent of the application architecture shall be reused from the approved reference architectures.</a:t>
            </a:r>
          </a:p>
          <a:p>
            <a:pPr lvl="3"/>
            <a:r>
              <a:rPr lang="en-US" i="1" dirty="0"/>
              <a:t>REU-3. The pricing algorithms shall be reusable by future store-management applications.</a:t>
            </a:r>
          </a:p>
          <a:p>
            <a:r>
              <a:rPr lang="en-US" dirty="0"/>
              <a:t>Consider discussing the following questions when you are trying to learn about reusability requirements for your project:</a:t>
            </a:r>
          </a:p>
          <a:p>
            <a:pPr lvl="3"/>
            <a:r>
              <a:rPr lang="en-US" dirty="0"/>
              <a:t>What existing requirements, models, design components, data, or tests could be reused in this application?</a:t>
            </a:r>
          </a:p>
          <a:p>
            <a:pPr lvl="3"/>
            <a:r>
              <a:rPr lang="en-US" dirty="0"/>
              <a:t>What functionality available in related applications might meet certain requirements for this application?</a:t>
            </a:r>
          </a:p>
          <a:p>
            <a:pPr lvl="3"/>
            <a:r>
              <a:rPr lang="en-US" dirty="0"/>
              <a:t>What portions of this application offer good potential for being reused elsewhere?</a:t>
            </a:r>
          </a:p>
          <a:p>
            <a:pPr lvl="3"/>
            <a:r>
              <a:rPr lang="en-US" dirty="0"/>
              <a:t>What special actions should be taken to facilitate making portions of this application reusable?</a:t>
            </a:r>
          </a:p>
        </p:txBody>
      </p:sp>
    </p:spTree>
    <p:extLst>
      <p:ext uri="{BB962C8B-B14F-4D97-AF65-F5344CB8AC3E}">
        <p14:creationId xmlns:p14="http://schemas.microsoft.com/office/powerpoint/2010/main" val="41828856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Internal quality attributes</a:t>
            </a:r>
            <a:br>
              <a:rPr lang="en-US" dirty="0"/>
            </a:br>
            <a:r>
              <a:rPr lang="en-US" i="1" dirty="0"/>
              <a:t>Scalability</a:t>
            </a:r>
          </a:p>
        </p:txBody>
      </p:sp>
      <p:sp>
        <p:nvSpPr>
          <p:cNvPr id="4" name="Content Placeholder 3">
            <a:extLst>
              <a:ext uri="{FF2B5EF4-FFF2-40B4-BE49-F238E27FC236}">
                <a16:creationId xmlns:a16="http://schemas.microsoft.com/office/drawing/2014/main" id="{4A6F0AC8-7E9B-13B0-2C55-FD681290AE41}"/>
              </a:ext>
            </a:extLst>
          </p:cNvPr>
          <p:cNvSpPr>
            <a:spLocks noGrp="1"/>
          </p:cNvSpPr>
          <p:nvPr>
            <p:ph idx="1"/>
          </p:nvPr>
        </p:nvSpPr>
        <p:spPr/>
        <p:txBody>
          <a:bodyPr/>
          <a:lstStyle/>
          <a:p>
            <a:r>
              <a:rPr lang="en-US" dirty="0"/>
              <a:t>Scalability requirements address the ability of the application to grow to accommodate more users, data, servers, geographic locations, transactions, network traffic, searches, and other services without compromising performance or correctness.</a:t>
            </a:r>
          </a:p>
          <a:p>
            <a:pPr lvl="3"/>
            <a:r>
              <a:rPr lang="en-US" i="1" dirty="0"/>
              <a:t>SCA-1. The capacity of the emergency telephone system must be able to be increased from 500 calls per day to 2,500 calls per day within 12 hours.</a:t>
            </a:r>
          </a:p>
          <a:p>
            <a:pPr lvl="3"/>
            <a:r>
              <a:rPr lang="en-US" i="1" dirty="0"/>
              <a:t>SCA-2. The website shall be able to handle a page-view growth rate of 30 percent per quarter for at least two years without user-perceptible performance degradation.</a:t>
            </a:r>
          </a:p>
          <a:p>
            <a:pPr lvl="3"/>
            <a:r>
              <a:rPr lang="en-US" i="1" dirty="0"/>
              <a:t>SCA-3. The distribution system shall be able to accommodate up to 20 new warehouse centers.</a:t>
            </a:r>
          </a:p>
          <a:p>
            <a:r>
              <a:rPr lang="en-US" dirty="0"/>
              <a:t> The following questions could be helpful during those discussions:</a:t>
            </a:r>
          </a:p>
          <a:p>
            <a:pPr lvl="3"/>
            <a:r>
              <a:rPr lang="en-US" dirty="0"/>
              <a:t>What are your estimates for the number of total and concurrent users the system must be able to handle over the next several months, quarters, or years?</a:t>
            </a:r>
          </a:p>
          <a:p>
            <a:pPr lvl="3"/>
            <a:r>
              <a:rPr lang="en-US" dirty="0"/>
              <a:t>Can you describe how and why data capacity demands of the system might grow in the future?</a:t>
            </a:r>
          </a:p>
          <a:p>
            <a:pPr lvl="3"/>
            <a:r>
              <a:rPr lang="en-US" dirty="0"/>
              <a:t>What are the minimum acceptable performance criteria that must be satisfied regardless of the number of users?</a:t>
            </a:r>
          </a:p>
          <a:p>
            <a:pPr lvl="3"/>
            <a:r>
              <a:rPr lang="en-US" dirty="0"/>
              <a:t>What growth plans are available regarding how many servers, data centers, or individual installations the system might be expected to run on?</a:t>
            </a:r>
          </a:p>
        </p:txBody>
      </p:sp>
    </p:spTree>
    <p:extLst>
      <p:ext uri="{BB962C8B-B14F-4D97-AF65-F5344CB8AC3E}">
        <p14:creationId xmlns:p14="http://schemas.microsoft.com/office/powerpoint/2010/main" val="14122265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Internal quality attributes</a:t>
            </a:r>
            <a:br>
              <a:rPr lang="en-US" dirty="0"/>
            </a:br>
            <a:r>
              <a:rPr lang="en-US" i="1" dirty="0"/>
              <a:t>Verifiability</a:t>
            </a:r>
          </a:p>
        </p:txBody>
      </p:sp>
      <p:sp>
        <p:nvSpPr>
          <p:cNvPr id="4" name="Content Placeholder 3">
            <a:extLst>
              <a:ext uri="{FF2B5EF4-FFF2-40B4-BE49-F238E27FC236}">
                <a16:creationId xmlns:a16="http://schemas.microsoft.com/office/drawing/2014/main" id="{E23AE3EB-CAB8-0760-514F-2C0218B974C6}"/>
              </a:ext>
            </a:extLst>
          </p:cNvPr>
          <p:cNvSpPr>
            <a:spLocks noGrp="1"/>
          </p:cNvSpPr>
          <p:nvPr>
            <p:ph idx="1"/>
          </p:nvPr>
        </p:nvSpPr>
        <p:spPr/>
        <p:txBody>
          <a:bodyPr/>
          <a:lstStyle/>
          <a:p>
            <a:r>
              <a:rPr lang="en-US" dirty="0"/>
              <a:t>Verifiability: More narrowly referred to as testability, verifiability refers to how well software components or the integrated product can be evaluated to demonstrate whether the system functions as expected.</a:t>
            </a:r>
          </a:p>
          <a:p>
            <a:pPr lvl="2"/>
            <a:r>
              <a:rPr lang="en-US" dirty="0"/>
              <a:t>VER-1. The development environment configuration shall be identical to the test configuration environment to avoid irreproducible testing failures.</a:t>
            </a:r>
          </a:p>
          <a:p>
            <a:pPr lvl="2"/>
            <a:r>
              <a:rPr lang="en-US" dirty="0"/>
              <a:t>VER-2. A tester shall be able to configure which execution results are logged during testing.</a:t>
            </a:r>
          </a:p>
          <a:p>
            <a:pPr lvl="2"/>
            <a:r>
              <a:rPr lang="en-US" dirty="0"/>
              <a:t>VER-3. The developer shall be able to set the computational module to show the interim results of any specified algorithm group for debugging purposes.</a:t>
            </a:r>
          </a:p>
          <a:p>
            <a:pPr lvl="2"/>
            <a:r>
              <a:rPr lang="en-US" dirty="0"/>
              <a:t>VER-4. The maximum cyclomatic complexity of a module shall not exceed 20.</a:t>
            </a:r>
          </a:p>
          <a:p>
            <a:r>
              <a:rPr lang="en-US" dirty="0"/>
              <a:t>Defining verifiability requirements can be difficult. Explore questions like the following:</a:t>
            </a:r>
          </a:p>
          <a:p>
            <a:pPr lvl="2"/>
            <a:r>
              <a:rPr lang="en-US" dirty="0"/>
              <a:t>How can we confirm that specific calculations are giving the expected results?</a:t>
            </a:r>
          </a:p>
          <a:p>
            <a:pPr lvl="2"/>
            <a:r>
              <a:rPr lang="en-US" dirty="0"/>
              <a:t>Are there any portions of the system that do not yield deterministic outputs, such that it could be difficult to determine if they were working correctly?</a:t>
            </a:r>
          </a:p>
          <a:p>
            <a:pPr lvl="2"/>
            <a:r>
              <a:rPr lang="en-US" dirty="0"/>
              <a:t>Is it possible to come up with test data sets that have a high probability of revealing any errors in the requirements or in their implementation?</a:t>
            </a:r>
          </a:p>
          <a:p>
            <a:pPr lvl="2"/>
            <a:r>
              <a:rPr lang="en-US" dirty="0"/>
              <a:t>What reference reports or other outputs can we use to verify that the system is producing its outputs correctly?</a:t>
            </a:r>
            <a:endParaRPr lang="vi-VN" dirty="0"/>
          </a:p>
        </p:txBody>
      </p:sp>
    </p:spTree>
    <p:extLst>
      <p:ext uri="{BB962C8B-B14F-4D97-AF65-F5344CB8AC3E}">
        <p14:creationId xmlns:p14="http://schemas.microsoft.com/office/powerpoint/2010/main" val="18135428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4. Exploring quality attributes</a:t>
            </a:r>
          </a:p>
        </p:txBody>
      </p:sp>
      <p:graphicFrame>
        <p:nvGraphicFramePr>
          <p:cNvPr id="5" name="Content Placeholder 2">
            <a:extLst>
              <a:ext uri="{FF2B5EF4-FFF2-40B4-BE49-F238E27FC236}">
                <a16:creationId xmlns:a16="http://schemas.microsoft.com/office/drawing/2014/main" id="{2D04DA7D-FB13-40EA-8C48-BC51229F3CEC}"/>
              </a:ext>
            </a:extLst>
          </p:cNvPr>
          <p:cNvGraphicFramePr>
            <a:graphicFrameLocks noGrp="1"/>
          </p:cNvGraphicFramePr>
          <p:nvPr>
            <p:ph idx="1"/>
            <p:extLst>
              <p:ext uri="{D42A27DB-BD31-4B8C-83A1-F6EECF244321}">
                <p14:modId xmlns:p14="http://schemas.microsoft.com/office/powerpoint/2010/main" val="3523026184"/>
              </p:ext>
            </p:extLst>
          </p:nvPr>
        </p:nvGraphicFramePr>
        <p:xfrm>
          <a:off x="304800" y="1090613"/>
          <a:ext cx="8589963" cy="54165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51281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43613-C584-796D-A772-D63FD84217F2}"/>
              </a:ext>
            </a:extLst>
          </p:cNvPr>
          <p:cNvSpPr>
            <a:spLocks noGrp="1"/>
          </p:cNvSpPr>
          <p:nvPr>
            <p:ph type="title"/>
          </p:nvPr>
        </p:nvSpPr>
        <p:spPr/>
        <p:txBody>
          <a:bodyPr/>
          <a:lstStyle/>
          <a:p>
            <a:r>
              <a:rPr lang="en-US" dirty="0"/>
              <a:t>Step 1&amp;2: Taxonomy and Reduce the List </a:t>
            </a:r>
            <a:endParaRPr lang="vi-VN" dirty="0"/>
          </a:p>
        </p:txBody>
      </p:sp>
      <p:sp>
        <p:nvSpPr>
          <p:cNvPr id="3" name="Content Placeholder 2">
            <a:extLst>
              <a:ext uri="{FF2B5EF4-FFF2-40B4-BE49-F238E27FC236}">
                <a16:creationId xmlns:a16="http://schemas.microsoft.com/office/drawing/2014/main" id="{2AF1389A-35A5-4545-01BA-17664E0B553A}"/>
              </a:ext>
            </a:extLst>
          </p:cNvPr>
          <p:cNvSpPr>
            <a:spLocks noGrp="1"/>
          </p:cNvSpPr>
          <p:nvPr>
            <p:ph idx="1"/>
          </p:nvPr>
        </p:nvSpPr>
        <p:spPr/>
        <p:txBody>
          <a:bodyPr/>
          <a:lstStyle/>
          <a:p>
            <a:r>
              <a:rPr lang="en-US" dirty="0"/>
              <a:t>Step 1: Start with a broad taxonomy</a:t>
            </a:r>
          </a:p>
          <a:p>
            <a:pPr lvl="1"/>
            <a:r>
              <a:rPr lang="en-US" dirty="0"/>
              <a:t>Begin with a rich set of quality attributes to consider, such as those listed in Table 14-1. This broad starting point reduces the likelihood of overlooking an important quality dimension.</a:t>
            </a:r>
          </a:p>
          <a:p>
            <a:r>
              <a:rPr lang="en-US" dirty="0"/>
              <a:t>Step 2: Reduce the list </a:t>
            </a:r>
          </a:p>
          <a:p>
            <a:pPr lvl="1"/>
            <a:r>
              <a:rPr lang="en-US" dirty="0"/>
              <a:t>Engage a cross-section of stakeholders to assess which of the attributes are likely to be important to the project. </a:t>
            </a:r>
          </a:p>
          <a:p>
            <a:pPr lvl="2"/>
            <a:r>
              <a:rPr lang="en-US" dirty="0"/>
              <a:t>An airport check-in kiosk needs to emphasize usability (because most users will encounter it infrequently) and security (because it has to handle payments).</a:t>
            </a:r>
          </a:p>
          <a:p>
            <a:pPr lvl="1"/>
            <a:r>
              <a:rPr lang="en-US" dirty="0"/>
              <a:t>Attributes that don’t apply to your project need not be considered further. Record the rationale for deciding that a particular quality attribute is either in or out of consideration.</a:t>
            </a:r>
          </a:p>
        </p:txBody>
      </p:sp>
    </p:spTree>
    <p:extLst>
      <p:ext uri="{BB962C8B-B14F-4D97-AF65-F5344CB8AC3E}">
        <p14:creationId xmlns:p14="http://schemas.microsoft.com/office/powerpoint/2010/main" val="12422384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Step 3: Prioritize the attributes</a:t>
            </a:r>
          </a:p>
        </p:txBody>
      </p:sp>
      <p:sp>
        <p:nvSpPr>
          <p:cNvPr id="5" name="Content Placeholder 4">
            <a:extLst>
              <a:ext uri="{FF2B5EF4-FFF2-40B4-BE49-F238E27FC236}">
                <a16:creationId xmlns:a16="http://schemas.microsoft.com/office/drawing/2014/main" id="{ECDAA416-67C4-2127-D578-9F065A927855}"/>
              </a:ext>
            </a:extLst>
          </p:cNvPr>
          <p:cNvSpPr>
            <a:spLocks noGrp="1"/>
          </p:cNvSpPr>
          <p:nvPr>
            <p:ph idx="1"/>
          </p:nvPr>
        </p:nvSpPr>
        <p:spPr>
          <a:xfrm>
            <a:off x="304800" y="1090992"/>
            <a:ext cx="8590625" cy="2155903"/>
          </a:xfrm>
        </p:spPr>
        <p:txBody>
          <a:bodyPr/>
          <a:lstStyle/>
          <a:p>
            <a:r>
              <a:rPr lang="en-US" sz="2000" dirty="0"/>
              <a:t>Figure 14-1 illustrates how to </a:t>
            </a:r>
            <a:r>
              <a:rPr lang="en-US" sz="2000" dirty="0" err="1"/>
              <a:t>to</a:t>
            </a:r>
            <a:r>
              <a:rPr lang="en-US" sz="2000" dirty="0"/>
              <a:t> assess the quality attributes for an airport check-in kiosk. For each cell at the intersection of two attributes, ask yourself, “If I could have only one of these attributes, which would I take?” Entering a sign &lt; in the cell indicates that the attribute in the row is more important; a caret symbol (^) points to the attribute at the top of the column as being more important.</a:t>
            </a:r>
            <a:endParaRPr lang="vi-VN" sz="2000" dirty="0"/>
          </a:p>
        </p:txBody>
      </p:sp>
      <p:pic>
        <p:nvPicPr>
          <p:cNvPr id="6" name="Picture 5">
            <a:extLst>
              <a:ext uri="{FF2B5EF4-FFF2-40B4-BE49-F238E27FC236}">
                <a16:creationId xmlns:a16="http://schemas.microsoft.com/office/drawing/2014/main" id="{FE80B2C7-C7A9-8C3A-2948-C73CC588FB2F}"/>
              </a:ext>
            </a:extLst>
          </p:cNvPr>
          <p:cNvPicPr>
            <a:picLocks noChangeAspect="1"/>
          </p:cNvPicPr>
          <p:nvPr/>
        </p:nvPicPr>
        <p:blipFill>
          <a:blip r:embed="rId2"/>
          <a:stretch>
            <a:fillRect/>
          </a:stretch>
        </p:blipFill>
        <p:spPr>
          <a:xfrm>
            <a:off x="677001" y="2890030"/>
            <a:ext cx="7991475" cy="3495675"/>
          </a:xfrm>
          <a:prstGeom prst="rect">
            <a:avLst/>
          </a:prstGeom>
        </p:spPr>
      </p:pic>
      <p:sp>
        <p:nvSpPr>
          <p:cNvPr id="8" name="TextBox 7">
            <a:extLst>
              <a:ext uri="{FF2B5EF4-FFF2-40B4-BE49-F238E27FC236}">
                <a16:creationId xmlns:a16="http://schemas.microsoft.com/office/drawing/2014/main" id="{66776CCC-B73A-45B1-1ACD-9C3C908BEE7C}"/>
              </a:ext>
            </a:extLst>
          </p:cNvPr>
          <p:cNvSpPr txBox="1"/>
          <p:nvPr/>
        </p:nvSpPr>
        <p:spPr>
          <a:xfrm>
            <a:off x="576262" y="6326274"/>
            <a:ext cx="7991475" cy="307777"/>
          </a:xfrm>
          <a:prstGeom prst="rect">
            <a:avLst/>
          </a:prstGeom>
          <a:noFill/>
        </p:spPr>
        <p:txBody>
          <a:bodyPr wrap="square">
            <a:spAutoFit/>
          </a:bodyPr>
          <a:lstStyle/>
          <a:p>
            <a:r>
              <a:rPr lang="en-US" sz="1400" b="1" dirty="0"/>
              <a:t>FIGURE 14-1 </a:t>
            </a:r>
            <a:r>
              <a:rPr lang="en-US" sz="1400" dirty="0"/>
              <a:t>Sample quality attribute prioritization for an airport check-in kiosk.</a:t>
            </a:r>
            <a:endParaRPr lang="vi-VN" sz="1400" dirty="0"/>
          </a:p>
        </p:txBody>
      </p:sp>
    </p:spTree>
    <p:extLst>
      <p:ext uri="{BB962C8B-B14F-4D97-AF65-F5344CB8AC3E}">
        <p14:creationId xmlns:p14="http://schemas.microsoft.com/office/powerpoint/2010/main" val="14028975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8978B-F5F2-EFF4-D90C-6266C917E671}"/>
              </a:ext>
            </a:extLst>
          </p:cNvPr>
          <p:cNvSpPr>
            <a:spLocks noGrp="1"/>
          </p:cNvSpPr>
          <p:nvPr>
            <p:ph type="title"/>
          </p:nvPr>
        </p:nvSpPr>
        <p:spPr/>
        <p:txBody>
          <a:bodyPr/>
          <a:lstStyle/>
          <a:p>
            <a:r>
              <a:rPr lang="en-US" dirty="0"/>
              <a:t> Step 4: Elicit specific expectations for each attribute</a:t>
            </a:r>
            <a:endParaRPr lang="vi-VN" dirty="0"/>
          </a:p>
        </p:txBody>
      </p:sp>
      <p:sp>
        <p:nvSpPr>
          <p:cNvPr id="3" name="Content Placeholder 2">
            <a:extLst>
              <a:ext uri="{FF2B5EF4-FFF2-40B4-BE49-F238E27FC236}">
                <a16:creationId xmlns:a16="http://schemas.microsoft.com/office/drawing/2014/main" id="{1088014F-C53D-8816-7540-944654CF6328}"/>
              </a:ext>
            </a:extLst>
          </p:cNvPr>
          <p:cNvSpPr>
            <a:spLocks noGrp="1"/>
          </p:cNvSpPr>
          <p:nvPr>
            <p:ph idx="1"/>
          </p:nvPr>
        </p:nvSpPr>
        <p:spPr/>
        <p:txBody>
          <a:bodyPr/>
          <a:lstStyle/>
          <a:p>
            <a:r>
              <a:rPr lang="en-US" dirty="0"/>
              <a:t>Following are a few questions a BA might ask to understand user expectations about the performance of a system that manages applications for patents that inventors have submitted:</a:t>
            </a:r>
          </a:p>
          <a:p>
            <a:pPr lvl="1"/>
            <a:r>
              <a:rPr lang="en-US" i="1" dirty="0"/>
              <a:t>1. What would be a reasonable or acceptable response time for retrieval of a typical patent application in response to a query?</a:t>
            </a:r>
          </a:p>
          <a:p>
            <a:pPr lvl="1"/>
            <a:r>
              <a:rPr lang="en-US" i="1" dirty="0"/>
              <a:t>2. What would users consider an unacceptable response time for a typical query?</a:t>
            </a:r>
          </a:p>
          <a:p>
            <a:pPr lvl="1"/>
            <a:r>
              <a:rPr lang="en-US" i="1" dirty="0"/>
              <a:t>3. How many simultaneous users do you expect on average?</a:t>
            </a:r>
          </a:p>
          <a:p>
            <a:pPr lvl="1"/>
            <a:r>
              <a:rPr lang="en-US" i="1" dirty="0"/>
              <a:t>4. What’s the maximum number of simultaneous users that you would anticipate?</a:t>
            </a:r>
          </a:p>
          <a:p>
            <a:pPr lvl="1"/>
            <a:r>
              <a:rPr lang="en-US" i="1" dirty="0"/>
              <a:t>5. What times of the day, week, month, or year have much heavier usage than usual?</a:t>
            </a:r>
            <a:endParaRPr lang="vi-VN" i="1" dirty="0"/>
          </a:p>
        </p:txBody>
      </p:sp>
    </p:spTree>
    <p:extLst>
      <p:ext uri="{BB962C8B-B14F-4D97-AF65-F5344CB8AC3E}">
        <p14:creationId xmlns:p14="http://schemas.microsoft.com/office/powerpoint/2010/main" val="13729624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C5997-12B0-F58C-B8CA-5F8C32585D31}"/>
              </a:ext>
            </a:extLst>
          </p:cNvPr>
          <p:cNvSpPr>
            <a:spLocks noGrp="1"/>
          </p:cNvSpPr>
          <p:nvPr>
            <p:ph type="title"/>
          </p:nvPr>
        </p:nvSpPr>
        <p:spPr/>
        <p:txBody>
          <a:bodyPr/>
          <a:lstStyle/>
          <a:p>
            <a:r>
              <a:rPr lang="vi-VN" dirty="0"/>
              <a:t> </a:t>
            </a:r>
            <a:r>
              <a:rPr lang="vi-VN" dirty="0" err="1"/>
              <a:t>Step</a:t>
            </a:r>
            <a:r>
              <a:rPr lang="vi-VN" dirty="0"/>
              <a:t> 5: </a:t>
            </a:r>
            <a:r>
              <a:rPr lang="vi-VN" dirty="0" err="1"/>
              <a:t>Specify</a:t>
            </a:r>
            <a:r>
              <a:rPr lang="vi-VN" dirty="0"/>
              <a:t> </a:t>
            </a:r>
            <a:r>
              <a:rPr lang="vi-VN" dirty="0" err="1"/>
              <a:t>well-structured</a:t>
            </a:r>
            <a:r>
              <a:rPr lang="vi-VN" dirty="0"/>
              <a:t> </a:t>
            </a:r>
            <a:r>
              <a:rPr lang="vi-VN" dirty="0" err="1"/>
              <a:t>quality</a:t>
            </a:r>
            <a:r>
              <a:rPr lang="vi-VN" dirty="0"/>
              <a:t> </a:t>
            </a:r>
            <a:r>
              <a:rPr lang="vi-VN" dirty="0" err="1"/>
              <a:t>requirements</a:t>
            </a:r>
            <a:endParaRPr lang="vi-VN" dirty="0"/>
          </a:p>
        </p:txBody>
      </p:sp>
      <p:sp>
        <p:nvSpPr>
          <p:cNvPr id="3" name="Content Placeholder 2">
            <a:extLst>
              <a:ext uri="{FF2B5EF4-FFF2-40B4-BE49-F238E27FC236}">
                <a16:creationId xmlns:a16="http://schemas.microsoft.com/office/drawing/2014/main" id="{911ABFF0-86A6-1A3C-AA37-DB27428E2C5A}"/>
              </a:ext>
            </a:extLst>
          </p:cNvPr>
          <p:cNvSpPr>
            <a:spLocks noGrp="1"/>
          </p:cNvSpPr>
          <p:nvPr>
            <p:ph idx="1"/>
          </p:nvPr>
        </p:nvSpPr>
        <p:spPr/>
        <p:txBody>
          <a:bodyPr/>
          <a:lstStyle/>
          <a:p>
            <a:r>
              <a:rPr lang="en-US" dirty="0"/>
              <a:t>When writing quality requirements, keep in mind the useful SMART mnemonic—make them Specific, Measurable, Attainable, Relevant, and Time-sensitive.</a:t>
            </a:r>
            <a:endParaRPr lang="vi-VN" dirty="0"/>
          </a:p>
        </p:txBody>
      </p:sp>
    </p:spTree>
    <p:extLst>
      <p:ext uri="{BB962C8B-B14F-4D97-AF65-F5344CB8AC3E}">
        <p14:creationId xmlns:p14="http://schemas.microsoft.com/office/powerpoint/2010/main" val="13253904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5. Quality attribute trade-offs</a:t>
            </a:r>
          </a:p>
        </p:txBody>
      </p:sp>
      <p:pic>
        <p:nvPicPr>
          <p:cNvPr id="5" name="Picture 4">
            <a:extLst>
              <a:ext uri="{FF2B5EF4-FFF2-40B4-BE49-F238E27FC236}">
                <a16:creationId xmlns:a16="http://schemas.microsoft.com/office/drawing/2014/main" id="{F795DD9E-F2FA-984F-A49C-AFD7094F0BAB}"/>
              </a:ext>
            </a:extLst>
          </p:cNvPr>
          <p:cNvPicPr>
            <a:picLocks noChangeAspect="1"/>
          </p:cNvPicPr>
          <p:nvPr/>
        </p:nvPicPr>
        <p:blipFill>
          <a:blip r:embed="rId3"/>
          <a:stretch>
            <a:fillRect/>
          </a:stretch>
        </p:blipFill>
        <p:spPr>
          <a:xfrm>
            <a:off x="132786" y="1006790"/>
            <a:ext cx="6508238" cy="4844420"/>
          </a:xfrm>
          <a:prstGeom prst="rect">
            <a:avLst/>
          </a:prstGeom>
        </p:spPr>
      </p:pic>
      <p:sp>
        <p:nvSpPr>
          <p:cNvPr id="4" name="Content Placeholder 3">
            <a:extLst>
              <a:ext uri="{FF2B5EF4-FFF2-40B4-BE49-F238E27FC236}">
                <a16:creationId xmlns:a16="http://schemas.microsoft.com/office/drawing/2014/main" id="{DEFAFF90-742A-C0FF-EDE3-FFCD9ECC1D76}"/>
              </a:ext>
            </a:extLst>
          </p:cNvPr>
          <p:cNvSpPr>
            <a:spLocks noGrp="1"/>
          </p:cNvSpPr>
          <p:nvPr>
            <p:ph idx="1"/>
          </p:nvPr>
        </p:nvSpPr>
        <p:spPr>
          <a:xfrm>
            <a:off x="5889357" y="1650569"/>
            <a:ext cx="3254644" cy="4951709"/>
          </a:xfrm>
        </p:spPr>
        <p:txBody>
          <a:bodyPr/>
          <a:lstStyle/>
          <a:p>
            <a:r>
              <a:rPr lang="en-US" sz="1600" dirty="0"/>
              <a:t>Certain attribute combinations have inescapable trade-offs. Users and developers must decide which attributes are more important than others, and they must respect those priorities when they make decisions. </a:t>
            </a:r>
          </a:p>
          <a:p>
            <a:r>
              <a:rPr lang="en-US" sz="1600" dirty="0"/>
              <a:t>The technique described earlier in “Step 3: Prioritize the attributes” can help with this analysis.</a:t>
            </a:r>
          </a:p>
          <a:p>
            <a:r>
              <a:rPr lang="en-US" sz="1600" dirty="0"/>
              <a:t>A plus sign in a cell indicates that increasing the attribute in the corresponding row usually has a positive effect on the attribute in the column.</a:t>
            </a:r>
          </a:p>
          <a:p>
            <a:r>
              <a:rPr lang="en-US" sz="1600" dirty="0"/>
              <a:t>A minus sign in a cell means that increasing the attribute in that row generally adversely affects the attribute in the column. </a:t>
            </a:r>
          </a:p>
          <a:p>
            <a:r>
              <a:rPr lang="en-US" sz="1600" dirty="0"/>
              <a:t>An empty cell indicates that the attribute in the row has little effect on the attribute in the column.</a:t>
            </a:r>
          </a:p>
          <a:p>
            <a:endParaRPr lang="vi-VN" sz="1600" dirty="0"/>
          </a:p>
        </p:txBody>
      </p:sp>
      <p:sp>
        <p:nvSpPr>
          <p:cNvPr id="9" name="TextBox 8">
            <a:extLst>
              <a:ext uri="{FF2B5EF4-FFF2-40B4-BE49-F238E27FC236}">
                <a16:creationId xmlns:a16="http://schemas.microsoft.com/office/drawing/2014/main" id="{8006EA26-FBC5-CBD7-5B1D-1F54C0F749AE}"/>
              </a:ext>
            </a:extLst>
          </p:cNvPr>
          <p:cNvSpPr txBox="1"/>
          <p:nvPr/>
        </p:nvSpPr>
        <p:spPr>
          <a:xfrm>
            <a:off x="61991" y="5934670"/>
            <a:ext cx="5827365" cy="523220"/>
          </a:xfrm>
          <a:prstGeom prst="rect">
            <a:avLst/>
          </a:prstGeom>
          <a:noFill/>
        </p:spPr>
        <p:txBody>
          <a:bodyPr wrap="square">
            <a:spAutoFit/>
          </a:bodyPr>
          <a:lstStyle/>
          <a:p>
            <a:r>
              <a:rPr lang="en-US" sz="1400" b="1" dirty="0"/>
              <a:t>FIGURE 14-2 </a:t>
            </a:r>
            <a:r>
              <a:rPr lang="en-US" sz="1400" dirty="0"/>
              <a:t>Positive and negative relationships among selected quality attributes.</a:t>
            </a:r>
            <a:endParaRPr lang="vi-VN" sz="1400" dirty="0"/>
          </a:p>
        </p:txBody>
      </p:sp>
    </p:spTree>
    <p:extLst>
      <p:ext uri="{BB962C8B-B14F-4D97-AF65-F5344CB8AC3E}">
        <p14:creationId xmlns:p14="http://schemas.microsoft.com/office/powerpoint/2010/main" val="9072408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6. Implementing quality attribute requirements</a:t>
            </a:r>
          </a:p>
        </p:txBody>
      </p:sp>
      <p:sp>
        <p:nvSpPr>
          <p:cNvPr id="4" name="Content Placeholder 3">
            <a:extLst>
              <a:ext uri="{FF2B5EF4-FFF2-40B4-BE49-F238E27FC236}">
                <a16:creationId xmlns:a16="http://schemas.microsoft.com/office/drawing/2014/main" id="{A0350BAA-8064-B958-3E79-88D2CDBD055A}"/>
              </a:ext>
            </a:extLst>
          </p:cNvPr>
          <p:cNvSpPr>
            <a:spLocks noGrp="1"/>
          </p:cNvSpPr>
          <p:nvPr>
            <p:ph idx="1"/>
          </p:nvPr>
        </p:nvSpPr>
        <p:spPr>
          <a:xfrm>
            <a:off x="304800" y="1090992"/>
            <a:ext cx="8590625" cy="2706093"/>
          </a:xfrm>
        </p:spPr>
        <p:txBody>
          <a:bodyPr/>
          <a:lstStyle/>
          <a:p>
            <a:r>
              <a:rPr lang="en-US" dirty="0"/>
              <a:t>Designers and programmers will have to determine the best way to satisfy each quality requirement.</a:t>
            </a:r>
          </a:p>
          <a:p>
            <a:r>
              <a:rPr lang="en-US" dirty="0"/>
              <a:t>Although these are nonfunctional requirements, they can lead to derived functional requirements, design guidelines, or other types of technical information that will produce the desired product characteristics. </a:t>
            </a:r>
          </a:p>
          <a:p>
            <a:r>
              <a:rPr lang="en-US" dirty="0"/>
              <a:t>Table 14-5 indicates the likely categories of technical information that different types of quality attributes will generate. </a:t>
            </a:r>
          </a:p>
        </p:txBody>
      </p:sp>
      <p:pic>
        <p:nvPicPr>
          <p:cNvPr id="5" name="Picture 4">
            <a:extLst>
              <a:ext uri="{FF2B5EF4-FFF2-40B4-BE49-F238E27FC236}">
                <a16:creationId xmlns:a16="http://schemas.microsoft.com/office/drawing/2014/main" id="{B4C63972-3428-1532-4F74-754C34A715B9}"/>
              </a:ext>
            </a:extLst>
          </p:cNvPr>
          <p:cNvPicPr>
            <a:picLocks noChangeAspect="1"/>
          </p:cNvPicPr>
          <p:nvPr/>
        </p:nvPicPr>
        <p:blipFill>
          <a:blip r:embed="rId3"/>
          <a:stretch>
            <a:fillRect/>
          </a:stretch>
        </p:blipFill>
        <p:spPr>
          <a:xfrm>
            <a:off x="266237" y="4012746"/>
            <a:ext cx="8667750" cy="2552700"/>
          </a:xfrm>
          <a:prstGeom prst="rect">
            <a:avLst/>
          </a:prstGeom>
        </p:spPr>
      </p:pic>
      <p:sp>
        <p:nvSpPr>
          <p:cNvPr id="7" name="TextBox 6">
            <a:extLst>
              <a:ext uri="{FF2B5EF4-FFF2-40B4-BE49-F238E27FC236}">
                <a16:creationId xmlns:a16="http://schemas.microsoft.com/office/drawing/2014/main" id="{BFCD0D9B-D353-67FA-A46D-AB5676CBDA63}"/>
              </a:ext>
            </a:extLst>
          </p:cNvPr>
          <p:cNvSpPr txBox="1"/>
          <p:nvPr/>
        </p:nvSpPr>
        <p:spPr>
          <a:xfrm>
            <a:off x="3357547" y="3643196"/>
            <a:ext cx="5576440" cy="307777"/>
          </a:xfrm>
          <a:prstGeom prst="rect">
            <a:avLst/>
          </a:prstGeom>
          <a:noFill/>
        </p:spPr>
        <p:txBody>
          <a:bodyPr wrap="square">
            <a:spAutoFit/>
          </a:bodyPr>
          <a:lstStyle/>
          <a:p>
            <a:r>
              <a:rPr lang="en-US" sz="1400" b="1" dirty="0"/>
              <a:t>TABLE 14-5 </a:t>
            </a:r>
            <a:r>
              <a:rPr lang="en-US" sz="1400" dirty="0"/>
              <a:t>Translating quality attributes into technical specifications</a:t>
            </a:r>
            <a:endParaRPr lang="vi-VN" sz="1400" dirty="0"/>
          </a:p>
        </p:txBody>
      </p:sp>
    </p:spTree>
    <p:extLst>
      <p:ext uri="{BB962C8B-B14F-4D97-AF65-F5344CB8AC3E}">
        <p14:creationId xmlns:p14="http://schemas.microsoft.com/office/powerpoint/2010/main" val="2823494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 Constraints</a:t>
            </a:r>
          </a:p>
        </p:txBody>
      </p:sp>
      <p:sp>
        <p:nvSpPr>
          <p:cNvPr id="4" name="Content Placeholder 3">
            <a:extLst>
              <a:ext uri="{FF2B5EF4-FFF2-40B4-BE49-F238E27FC236}">
                <a16:creationId xmlns:a16="http://schemas.microsoft.com/office/drawing/2014/main" id="{8D7DFAE0-7255-09C9-F0E4-38FBB6A35357}"/>
              </a:ext>
            </a:extLst>
          </p:cNvPr>
          <p:cNvSpPr>
            <a:spLocks noGrp="1"/>
          </p:cNvSpPr>
          <p:nvPr>
            <p:ph idx="1"/>
          </p:nvPr>
        </p:nvSpPr>
        <p:spPr>
          <a:xfrm>
            <a:off x="304800" y="1090992"/>
            <a:ext cx="8590625" cy="3860716"/>
          </a:xfrm>
        </p:spPr>
        <p:txBody>
          <a:bodyPr/>
          <a:lstStyle/>
          <a:p>
            <a:r>
              <a:rPr lang="en-US" dirty="0"/>
              <a:t>Constraint places restrictions on the design or implementation choices available to development team.</a:t>
            </a:r>
          </a:p>
          <a:p>
            <a:pPr lvl="2"/>
            <a:r>
              <a:rPr lang="en-US" i="1" dirty="0"/>
              <a:t>CON-1. The user clicks at the top of the project list to change the sort sequence. [specific user interface control imposed as a design constraint on a functional requirement]</a:t>
            </a:r>
          </a:p>
          <a:p>
            <a:pPr lvl="2"/>
            <a:r>
              <a:rPr lang="en-US" i="1" dirty="0"/>
              <a:t>CON-2. Only open-source software available under the GNU General Public License may be used to implement the product. [implementation constraint] </a:t>
            </a:r>
          </a:p>
          <a:p>
            <a:pPr lvl="2"/>
            <a:r>
              <a:rPr lang="en-US" i="1" dirty="0"/>
              <a:t>CON-3. The application must use Microsoft .NET framework 4.5. [architecture constraint]</a:t>
            </a:r>
          </a:p>
          <a:p>
            <a:pPr lvl="2"/>
            <a:r>
              <a:rPr lang="en-US" i="1" dirty="0"/>
              <a:t>CON-4. ATMs contain only $20 bills. [physical constraint] </a:t>
            </a:r>
          </a:p>
          <a:p>
            <a:pPr lvl="2"/>
            <a:r>
              <a:rPr lang="en-US" i="1" dirty="0"/>
              <a:t>CON-5. Online payments may be made only through PayPal. [design constraint]</a:t>
            </a:r>
          </a:p>
          <a:p>
            <a:pPr lvl="2"/>
            <a:r>
              <a:rPr lang="en-US" i="1" dirty="0"/>
              <a:t>CON-6. All textual data used by the application shall be stored in the form of XML files. [data constraint]</a:t>
            </a:r>
          </a:p>
        </p:txBody>
      </p:sp>
    </p:spTree>
    <p:extLst>
      <p:ext uri="{BB962C8B-B14F-4D97-AF65-F5344CB8AC3E}">
        <p14:creationId xmlns:p14="http://schemas.microsoft.com/office/powerpoint/2010/main" val="19136808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8. Specifying quality requirements with </a:t>
            </a:r>
            <a:r>
              <a:rPr lang="en-US" dirty="0" err="1"/>
              <a:t>Planguage</a:t>
            </a:r>
            <a:endParaRPr lang="en-US" dirty="0"/>
          </a:p>
        </p:txBody>
      </p:sp>
      <p:sp>
        <p:nvSpPr>
          <p:cNvPr id="3" name="Content Placeholder 2"/>
          <p:cNvSpPr>
            <a:spLocks noGrp="1"/>
          </p:cNvSpPr>
          <p:nvPr>
            <p:ph idx="1"/>
          </p:nvPr>
        </p:nvSpPr>
        <p:spPr/>
        <p:txBody>
          <a:bodyPr>
            <a:normAutofit/>
          </a:bodyPr>
          <a:lstStyle/>
          <a:p>
            <a:pPr algn="just"/>
            <a:r>
              <a:rPr lang="en-US" sz="2800" b="1" dirty="0" err="1"/>
              <a:t>Planguage</a:t>
            </a:r>
            <a:r>
              <a:rPr lang="en-US" sz="2800" b="1" dirty="0"/>
              <a:t>:</a:t>
            </a:r>
            <a:r>
              <a:rPr lang="en-US" sz="2800" dirty="0"/>
              <a:t> a language with a rich set of keywords that permits precise  statements of quality attributes and other project goals.</a:t>
            </a:r>
          </a:p>
          <a:p>
            <a:pPr algn="just"/>
            <a:r>
              <a:rPr lang="en-US" sz="2800" b="1" dirty="0"/>
              <a:t>Purpose: </a:t>
            </a:r>
            <a:r>
              <a:rPr lang="en-US" sz="2800" dirty="0"/>
              <a:t>address the problem of ambiguous and incomplete nonfunctional requirements.</a:t>
            </a:r>
          </a:p>
        </p:txBody>
      </p:sp>
    </p:spTree>
    <p:extLst>
      <p:ext uri="{BB962C8B-B14F-4D97-AF65-F5344CB8AC3E}">
        <p14:creationId xmlns:p14="http://schemas.microsoft.com/office/powerpoint/2010/main" val="1242266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Specifying quality requirements with </a:t>
            </a:r>
            <a:r>
              <a:rPr lang="en-US" dirty="0" err="1"/>
              <a:t>Planguage</a:t>
            </a:r>
            <a:endParaRPr lang="en-US" dirty="0"/>
          </a:p>
        </p:txBody>
      </p:sp>
      <p:sp>
        <p:nvSpPr>
          <p:cNvPr id="3" name="Content Placeholder 2"/>
          <p:cNvSpPr>
            <a:spLocks noGrp="1"/>
          </p:cNvSpPr>
          <p:nvPr>
            <p:ph idx="1"/>
          </p:nvPr>
        </p:nvSpPr>
        <p:spPr/>
        <p:txBody>
          <a:bodyPr>
            <a:normAutofit lnSpcReduction="10000"/>
          </a:bodyPr>
          <a:lstStyle/>
          <a:p>
            <a:pPr marL="0" indent="0" algn="just">
              <a:buNone/>
            </a:pPr>
            <a:r>
              <a:rPr lang="en-US" b="1" dirty="0"/>
              <a:t>Example: </a:t>
            </a:r>
            <a:r>
              <a:rPr lang="en-US" dirty="0"/>
              <a:t>At least 95 percent of the time, the  system shall take no more than 8 seconds to display any of the predefined accounting reports.</a:t>
            </a:r>
          </a:p>
          <a:p>
            <a:pPr algn="just"/>
            <a:r>
              <a:rPr lang="en-US" sz="2200" b="1" i="1" dirty="0"/>
              <a:t>TAG</a:t>
            </a:r>
            <a:r>
              <a:rPr lang="en-US" sz="2200" i="1" dirty="0"/>
              <a:t> </a:t>
            </a:r>
            <a:r>
              <a:rPr lang="en-US" sz="2200" i="1" dirty="0" err="1"/>
              <a:t>Performance.Report.ResponseTime</a:t>
            </a:r>
            <a:r>
              <a:rPr lang="en-US" sz="2200" i="1" dirty="0"/>
              <a:t> </a:t>
            </a:r>
          </a:p>
          <a:p>
            <a:pPr algn="just"/>
            <a:r>
              <a:rPr lang="en-US" sz="2200" b="1" i="1" dirty="0"/>
              <a:t>AMBITION</a:t>
            </a:r>
            <a:r>
              <a:rPr lang="en-US" sz="2200" i="1" dirty="0"/>
              <a:t> Fast response time to generate accounting reports on the base user platform. </a:t>
            </a:r>
          </a:p>
          <a:p>
            <a:pPr algn="just"/>
            <a:r>
              <a:rPr lang="en-US" sz="2200" b="1" i="1" dirty="0"/>
              <a:t>SCALE</a:t>
            </a:r>
            <a:r>
              <a:rPr lang="en-US" sz="2200" i="1" dirty="0"/>
              <a:t> Seconds of elapsed time between pressing the Enter key or clicking OK to request a report and the beginning of the display of the report.</a:t>
            </a:r>
          </a:p>
          <a:p>
            <a:pPr algn="just"/>
            <a:r>
              <a:rPr lang="en-US" sz="2200" b="1" i="1" dirty="0"/>
              <a:t>METER</a:t>
            </a:r>
            <a:r>
              <a:rPr lang="en-US" sz="2200" i="1" dirty="0"/>
              <a:t> Stopwatch testing performed on 30 test reports that represent a defined usage  operational profile for a field office accountant. </a:t>
            </a:r>
          </a:p>
          <a:p>
            <a:pPr algn="just"/>
            <a:r>
              <a:rPr lang="en-US" sz="2200" b="1" i="1" dirty="0"/>
              <a:t>GOAL</a:t>
            </a:r>
            <a:r>
              <a:rPr lang="en-US" sz="2200" i="1" dirty="0"/>
              <a:t> No more than 8 seconds for 95 percent of reports. -&lt;-Field Office Manager </a:t>
            </a:r>
          </a:p>
          <a:p>
            <a:pPr algn="just"/>
            <a:r>
              <a:rPr lang="en-US" sz="2200" b="1" i="1" dirty="0"/>
              <a:t>STRETCH</a:t>
            </a:r>
            <a:r>
              <a:rPr lang="en-US" sz="2200" i="1" dirty="0"/>
              <a:t> No more than 2 seconds for predefined reports, 5 seconds for all reports.</a:t>
            </a:r>
          </a:p>
          <a:p>
            <a:pPr algn="just"/>
            <a:r>
              <a:rPr lang="en-US" sz="2200" b="1" i="1" dirty="0"/>
              <a:t>WISH</a:t>
            </a:r>
            <a:r>
              <a:rPr lang="en-US" sz="2200" i="1" dirty="0"/>
              <a:t> No more than 1.5 seconds for all reports.</a:t>
            </a:r>
          </a:p>
          <a:p>
            <a:pPr algn="just"/>
            <a:r>
              <a:rPr lang="en-US" sz="2200" b="1" i="1" dirty="0"/>
              <a:t>Base user platform DEFINED </a:t>
            </a:r>
            <a:r>
              <a:rPr lang="en-US" sz="2200" i="1" dirty="0"/>
              <a:t>Quad-core processor, 8GB RAM, Windows 8, </a:t>
            </a:r>
            <a:r>
              <a:rPr lang="en-US" sz="2200" i="1" dirty="0" err="1"/>
              <a:t>QueryGen</a:t>
            </a:r>
            <a:r>
              <a:rPr lang="en-US" sz="2200" i="1" dirty="0"/>
              <a:t> 3.3 running, single user, at least 50 percent of system RAM and 70 percent of system CPU capacity free, network connection speed of at least 30 Mbps.</a:t>
            </a:r>
          </a:p>
        </p:txBody>
      </p:sp>
    </p:spTree>
    <p:extLst>
      <p:ext uri="{BB962C8B-B14F-4D97-AF65-F5344CB8AC3E}">
        <p14:creationId xmlns:p14="http://schemas.microsoft.com/office/powerpoint/2010/main" val="9424979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9. Handling quality attributes on agile projects</a:t>
            </a:r>
          </a:p>
        </p:txBody>
      </p:sp>
      <p:sp>
        <p:nvSpPr>
          <p:cNvPr id="3" name="Content Placeholder 2"/>
          <p:cNvSpPr>
            <a:spLocks noGrp="1"/>
          </p:cNvSpPr>
          <p:nvPr>
            <p:ph idx="1"/>
          </p:nvPr>
        </p:nvSpPr>
        <p:spPr/>
        <p:txBody>
          <a:bodyPr>
            <a:normAutofit/>
          </a:bodyPr>
          <a:lstStyle/>
          <a:p>
            <a:pPr algn="just"/>
            <a:r>
              <a:rPr lang="en-US" dirty="0"/>
              <a:t>It can be </a:t>
            </a:r>
            <a:r>
              <a:rPr lang="en-US" b="1" dirty="0"/>
              <a:t>difficult</a:t>
            </a:r>
            <a:r>
              <a:rPr lang="en-US" dirty="0"/>
              <a:t> and expensive to </a:t>
            </a:r>
            <a:r>
              <a:rPr lang="en-US" b="1" dirty="0"/>
              <a:t>retrofit</a:t>
            </a:r>
            <a:r>
              <a:rPr lang="en-US" dirty="0"/>
              <a:t> desired quality characteristics into a product </a:t>
            </a:r>
            <a:r>
              <a:rPr lang="en-US" b="1" dirty="0"/>
              <a:t>late</a:t>
            </a:r>
            <a:r>
              <a:rPr lang="en-US" dirty="0"/>
              <a:t> in  development or after delivery. </a:t>
            </a:r>
          </a:p>
          <a:p>
            <a:pPr algn="just"/>
            <a:r>
              <a:rPr lang="en-US" dirty="0"/>
              <a:t>That’s why even agile projects that develop requirements and deliver functionality in small increments </a:t>
            </a:r>
            <a:r>
              <a:rPr lang="en-US" b="1" dirty="0"/>
              <a:t>need</a:t>
            </a:r>
            <a:r>
              <a:rPr lang="en-US" dirty="0"/>
              <a:t> to </a:t>
            </a:r>
            <a:r>
              <a:rPr lang="en-US" b="1" dirty="0"/>
              <a:t>specify</a:t>
            </a:r>
            <a:r>
              <a:rPr lang="en-US" dirty="0"/>
              <a:t> significant quality attributes and constraints </a:t>
            </a:r>
            <a:r>
              <a:rPr lang="en-US" b="1" dirty="0"/>
              <a:t>early</a:t>
            </a:r>
            <a:r>
              <a:rPr lang="en-US" dirty="0"/>
              <a:t> in the project. </a:t>
            </a:r>
          </a:p>
          <a:p>
            <a:pPr algn="just"/>
            <a:r>
              <a:rPr lang="en-US" dirty="0"/>
              <a:t>This allows developers to make </a:t>
            </a:r>
            <a:r>
              <a:rPr lang="en-US" b="1" dirty="0"/>
              <a:t>appropriate architectural</a:t>
            </a:r>
            <a:r>
              <a:rPr lang="en-US" dirty="0"/>
              <a:t> and design decisions as a foundation for the </a:t>
            </a:r>
            <a:r>
              <a:rPr lang="en-US" b="1" dirty="0"/>
              <a:t>desired</a:t>
            </a:r>
            <a:r>
              <a:rPr lang="en-US" dirty="0"/>
              <a:t> </a:t>
            </a:r>
            <a:r>
              <a:rPr lang="en-US" b="1" dirty="0"/>
              <a:t>quality</a:t>
            </a:r>
            <a:r>
              <a:rPr lang="en-US" dirty="0"/>
              <a:t> characteristics. </a:t>
            </a:r>
          </a:p>
          <a:p>
            <a:pPr algn="just"/>
            <a:r>
              <a:rPr lang="en-US" dirty="0"/>
              <a:t>Nonfunctional requirements need to have </a:t>
            </a:r>
            <a:r>
              <a:rPr lang="en-US" b="1" dirty="0"/>
              <a:t>priority</a:t>
            </a:r>
            <a:r>
              <a:rPr lang="en-US" dirty="0"/>
              <a:t> alongside user stories; you </a:t>
            </a:r>
            <a:r>
              <a:rPr lang="en-US" b="1" dirty="0"/>
              <a:t>can’t defer </a:t>
            </a:r>
            <a:r>
              <a:rPr lang="en-US" dirty="0"/>
              <a:t>their implementation until a </a:t>
            </a:r>
            <a:r>
              <a:rPr lang="en-US" b="1" dirty="0"/>
              <a:t>later</a:t>
            </a:r>
            <a:r>
              <a:rPr lang="en-US" dirty="0"/>
              <a:t> iteration.</a:t>
            </a:r>
          </a:p>
        </p:txBody>
      </p:sp>
    </p:spTree>
    <p:extLst>
      <p:ext uri="{BB962C8B-B14F-4D97-AF65-F5344CB8AC3E}">
        <p14:creationId xmlns:p14="http://schemas.microsoft.com/office/powerpoint/2010/main" val="40399539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5" name="Content Placeholder 4">
            <a:extLst>
              <a:ext uri="{FF2B5EF4-FFF2-40B4-BE49-F238E27FC236}">
                <a16:creationId xmlns:a16="http://schemas.microsoft.com/office/drawing/2014/main" id="{EC6EF619-2D8B-FF96-50B3-89C849FE4EBE}"/>
              </a:ext>
            </a:extLst>
          </p:cNvPr>
          <p:cNvSpPr>
            <a:spLocks noGrp="1"/>
          </p:cNvSpPr>
          <p:nvPr>
            <p:ph idx="1"/>
          </p:nvPr>
        </p:nvSpPr>
        <p:spPr/>
        <p:txBody>
          <a:bodyPr/>
          <a:lstStyle/>
          <a:p>
            <a:r>
              <a:rPr lang="en-US" dirty="0"/>
              <a:t>What do we learn from today lesson?</a:t>
            </a:r>
          </a:p>
        </p:txBody>
      </p:sp>
    </p:spTree>
    <p:extLst>
      <p:ext uri="{BB962C8B-B14F-4D97-AF65-F5344CB8AC3E}">
        <p14:creationId xmlns:p14="http://schemas.microsoft.com/office/powerpoint/2010/main" val="1947547209"/>
      </p:ext>
    </p:extLst>
  </p:cSld>
  <p:clrMapOvr>
    <a:masterClrMapping/>
  </p:clrMapOvr>
</p:sld>
</file>

<file path=ppt/theme/theme1.xml><?xml version="1.0" encoding="utf-8"?>
<a:theme xmlns:a="http://schemas.openxmlformats.org/drawingml/2006/main" name="Theme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ptos Display"/>
        <a:ea typeface=""/>
        <a:cs typeface=""/>
      </a:majorFont>
      <a:minorFont>
        <a:latin typeface="Apto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2" id="{EB6DEE63-BE41-41AB-9512-0AD4948D9815}" vid="{C06A2116-4534-44AC-A79C-40D866AE0D36}"/>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11088</TotalTime>
  <Words>4631</Words>
  <Application>Microsoft Office PowerPoint</Application>
  <PresentationFormat>On-screen Show (4:3)</PresentationFormat>
  <Paragraphs>323</Paragraphs>
  <Slides>36</Slides>
  <Notes>25</Notes>
  <HiddenSlides>1</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36</vt:i4>
      </vt:variant>
    </vt:vector>
  </HeadingPairs>
  <TitlesOfParts>
    <vt:vector size="44" baseType="lpstr">
      <vt:lpstr>Aptos</vt:lpstr>
      <vt:lpstr>Aptos Display</vt:lpstr>
      <vt:lpstr>Arial</vt:lpstr>
      <vt:lpstr>Calibri</vt:lpstr>
      <vt:lpstr>Myriad Pro</vt:lpstr>
      <vt:lpstr>Segoe</vt:lpstr>
      <vt:lpstr>Theme2</vt:lpstr>
      <vt:lpstr>Custom Design</vt:lpstr>
      <vt:lpstr>Review the last lesson</vt:lpstr>
      <vt:lpstr>CHAPTER 14 Beyond functionality </vt:lpstr>
      <vt:lpstr>Objectives</vt:lpstr>
      <vt:lpstr>Contents</vt:lpstr>
      <vt:lpstr>1. Nonfunctional requirements</vt:lpstr>
      <vt:lpstr>2. Software quality attributes</vt:lpstr>
      <vt:lpstr>3. Defining quality requirements External quality attributes</vt:lpstr>
      <vt:lpstr>External quality attributes Availability</vt:lpstr>
      <vt:lpstr>External quality attributes Installability</vt:lpstr>
      <vt:lpstr>External quality attributes Integrity</vt:lpstr>
      <vt:lpstr>External quality attributes Interoperability</vt:lpstr>
      <vt:lpstr>External quality attributes Performance</vt:lpstr>
      <vt:lpstr>External quality attributes Reliability</vt:lpstr>
      <vt:lpstr>External quality attributes Robustness</vt:lpstr>
      <vt:lpstr>External quality attributes Safety</vt:lpstr>
      <vt:lpstr>External quality attributes Security</vt:lpstr>
      <vt:lpstr>Security (cont.)</vt:lpstr>
      <vt:lpstr>External quality attributes Usability</vt:lpstr>
      <vt:lpstr>Internal quality attributes Efficiency</vt:lpstr>
      <vt:lpstr>Internal quality attributes Modifiability</vt:lpstr>
      <vt:lpstr>Internal quality attributes  Portability</vt:lpstr>
      <vt:lpstr>Internal quality attributes Reusability</vt:lpstr>
      <vt:lpstr>Internal quality attributes Scalability</vt:lpstr>
      <vt:lpstr>Internal quality attributes Verifiability</vt:lpstr>
      <vt:lpstr>4. Exploring quality attributes</vt:lpstr>
      <vt:lpstr>Step 1&amp;2: Taxonomy and Reduce the List </vt:lpstr>
      <vt:lpstr>Step 3: Prioritize the attributes</vt:lpstr>
      <vt:lpstr> Step 4: Elicit specific expectations for each attribute</vt:lpstr>
      <vt:lpstr> Step 5: Specify well-structured quality requirements</vt:lpstr>
      <vt:lpstr>5. Quality attribute trade-offs</vt:lpstr>
      <vt:lpstr>6. Implementing quality attribute requirements</vt:lpstr>
      <vt:lpstr>7. Constraints</vt:lpstr>
      <vt:lpstr>8. Specifying quality requirements with Planguage</vt:lpstr>
      <vt:lpstr>Specifying quality requirements with Planguage</vt:lpstr>
      <vt:lpstr>9. Handling quality attributes on agile projects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14 Beyond functionality</dc:title>
  <dc:creator>Huong</dc:creator>
  <cp:lastModifiedBy>Hung Nguyen Manh</cp:lastModifiedBy>
  <cp:revision>82</cp:revision>
  <dcterms:created xsi:type="dcterms:W3CDTF">2018-04-24T06:53:51Z</dcterms:created>
  <dcterms:modified xsi:type="dcterms:W3CDTF">2024-06-10T09:26:46Z</dcterms:modified>
</cp:coreProperties>
</file>